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423" r:id="rId4"/>
    <p:sldId id="424" r:id="rId5"/>
    <p:sldId id="425" r:id="rId6"/>
    <p:sldId id="415" r:id="rId7"/>
    <p:sldId id="421" r:id="rId8"/>
    <p:sldId id="416" r:id="rId9"/>
    <p:sldId id="414" r:id="rId10"/>
    <p:sldId id="418" r:id="rId11"/>
    <p:sldId id="420" r:id="rId12"/>
    <p:sldId id="419" r:id="rId13"/>
    <p:sldId id="422" r:id="rId14"/>
    <p:sldId id="258" r:id="rId1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74D078-6048-4B6B-ACA5-52F38B7A75A1}">
  <a:tblStyle styleId="{5174D078-6048-4B6B-ACA5-52F38B7A75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77"/>
    <p:restoredTop sz="96956"/>
  </p:normalViewPr>
  <p:slideViewPr>
    <p:cSldViewPr snapToGrid="0">
      <p:cViewPr varScale="1">
        <p:scale>
          <a:sx n="160" d="100"/>
          <a:sy n="160" d="100"/>
        </p:scale>
        <p:origin x="76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, Junjie" userId="47921d4c-6e59-4d31-a2ef-894d00cbbe0e" providerId="ADAL" clId="{69C7B2AE-1C33-5C4B-AFB2-C176DD209AED}"/>
    <pc:docChg chg="custSel modSld">
      <pc:chgData name="Yin, Junjie" userId="47921d4c-6e59-4d31-a2ef-894d00cbbe0e" providerId="ADAL" clId="{69C7B2AE-1C33-5C4B-AFB2-C176DD209AED}" dt="2026-10-26T13:55:51.806" v="224" actId="108"/>
      <pc:docMkLst>
        <pc:docMk/>
      </pc:docMkLst>
      <pc:sldChg chg="modSp mod">
        <pc:chgData name="Yin, Junjie" userId="47921d4c-6e59-4d31-a2ef-894d00cbbe0e" providerId="ADAL" clId="{69C7B2AE-1C33-5C4B-AFB2-C176DD209AED}" dt="2026-10-26T03:42:54.036" v="5" actId="20577"/>
        <pc:sldMkLst>
          <pc:docMk/>
          <pc:sldMk cId="0" sldId="256"/>
        </pc:sldMkLst>
        <pc:spChg chg="mod">
          <ac:chgData name="Yin, Junjie" userId="47921d4c-6e59-4d31-a2ef-894d00cbbe0e" providerId="ADAL" clId="{69C7B2AE-1C33-5C4B-AFB2-C176DD209AED}" dt="2026-10-26T03:42:54.036" v="5" actId="20577"/>
          <ac:spMkLst>
            <pc:docMk/>
            <pc:sldMk cId="0" sldId="256"/>
            <ac:spMk id="142" creationId="{00000000-0000-0000-0000-000000000000}"/>
          </ac:spMkLst>
        </pc:spChg>
      </pc:sldChg>
      <pc:sldChg chg="modSp mod">
        <pc:chgData name="Yin, Junjie" userId="47921d4c-6e59-4d31-a2ef-894d00cbbe0e" providerId="ADAL" clId="{69C7B2AE-1C33-5C4B-AFB2-C176DD209AED}" dt="2026-10-26T03:47:20.199" v="223" actId="20577"/>
        <pc:sldMkLst>
          <pc:docMk/>
          <pc:sldMk cId="0" sldId="257"/>
        </pc:sldMkLst>
        <pc:spChg chg="mod">
          <ac:chgData name="Yin, Junjie" userId="47921d4c-6e59-4d31-a2ef-894d00cbbe0e" providerId="ADAL" clId="{69C7B2AE-1C33-5C4B-AFB2-C176DD209AED}" dt="2026-10-26T03:47:20.199" v="223" actId="20577"/>
          <ac:spMkLst>
            <pc:docMk/>
            <pc:sldMk cId="0" sldId="257"/>
            <ac:spMk id="148" creationId="{00000000-0000-0000-0000-000000000000}"/>
          </ac:spMkLst>
        </pc:spChg>
      </pc:sldChg>
      <pc:sldChg chg="modSp mod">
        <pc:chgData name="Yin, Junjie" userId="47921d4c-6e59-4d31-a2ef-894d00cbbe0e" providerId="ADAL" clId="{69C7B2AE-1C33-5C4B-AFB2-C176DD209AED}" dt="2026-10-26T13:55:51.806" v="224" actId="108"/>
        <pc:sldMkLst>
          <pc:docMk/>
          <pc:sldMk cId="1039253825" sldId="423"/>
        </pc:sldMkLst>
        <pc:spChg chg="mod">
          <ac:chgData name="Yin, Junjie" userId="47921d4c-6e59-4d31-a2ef-894d00cbbe0e" providerId="ADAL" clId="{69C7B2AE-1C33-5C4B-AFB2-C176DD209AED}" dt="2026-10-26T13:55:51.806" v="224" actId="108"/>
          <ac:spMkLst>
            <pc:docMk/>
            <pc:sldMk cId="1039253825" sldId="423"/>
            <ac:spMk id="8" creationId="{631CBCEE-F159-46FA-B439-C19D64C4F9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720a3317f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g11720a3317f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0fb18411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10fb18411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05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ISO, market clear, re-check (like PJM validate)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94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b33501d3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b33501d3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layers: Contributors and users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MSU as a user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685800" y="1150798"/>
            <a:ext cx="7772400" cy="170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371600" y="2971800"/>
            <a:ext cx="64008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>
                <a:solidFill>
                  <a:srgbClr val="262626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949494"/>
              </a:buClr>
              <a:buSzPts val="1600"/>
              <a:buNone/>
              <a:defRPr>
                <a:solidFill>
                  <a:srgbClr val="9494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49494"/>
              </a:buClr>
              <a:buSzPts val="1800"/>
              <a:buNone/>
              <a:defRPr>
                <a:solidFill>
                  <a:srgbClr val="949494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>
                <a:solidFill>
                  <a:srgbClr val="949494"/>
                </a:solidFill>
              </a:defRPr>
            </a:lvl9pPr>
          </a:lstStyle>
          <a:p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457200" y="10287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143" y="4689129"/>
            <a:ext cx="1550194" cy="39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C6949DB-F371-98DD-2F6D-82C9E810EC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758" y="170897"/>
            <a:ext cx="3249205" cy="80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67;p28">
            <a:extLst>
              <a:ext uri="{FF2B5EF4-FFF2-40B4-BE49-F238E27FC236}">
                <a16:creationId xmlns:a16="http://schemas.microsoft.com/office/drawing/2014/main" id="{8B885567-34EC-0BB7-6B43-8D50A26C04B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rcRect t="8383" r="54041"/>
          <a:stretch>
            <a:fillRect/>
          </a:stretch>
        </p:blipFill>
        <p:spPr>
          <a:xfrm>
            <a:off x="4754935" y="4669345"/>
            <a:ext cx="1378225" cy="43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0;p28">
            <a:extLst>
              <a:ext uri="{FF2B5EF4-FFF2-40B4-BE49-F238E27FC236}">
                <a16:creationId xmlns:a16="http://schemas.microsoft.com/office/drawing/2014/main" id="{FAE1B5B9-FE5E-219A-41AF-5F14E365A500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1539" y="4680674"/>
            <a:ext cx="1550194" cy="39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742A6082-1A01-7B6B-4A1F-AFC6AF63C0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536362" y="4708590"/>
            <a:ext cx="1695583" cy="33707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57200" y="800100"/>
            <a:ext cx="8229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15"/>
          <p:cNvCxnSpPr/>
          <p:nvPr/>
        </p:nvCxnSpPr>
        <p:spPr>
          <a:xfrm>
            <a:off x="457200" y="6286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85800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3000"/>
              <a:buFont typeface="Arial"/>
              <a:buNone/>
              <a:defRPr sz="3000" b="1" cap="none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685800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500"/>
              <a:buNone/>
              <a:defRPr sz="1500">
                <a:solidFill>
                  <a:srgbClr val="949494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949494"/>
              </a:buClr>
              <a:buSzPts val="1000"/>
              <a:buNone/>
              <a:defRPr sz="1400">
                <a:solidFill>
                  <a:srgbClr val="949494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200"/>
              <a:buNone/>
              <a:defRPr sz="1200">
                <a:solidFill>
                  <a:srgbClr val="949494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949494"/>
              </a:buClr>
              <a:buSzPts val="1100"/>
              <a:buNone/>
              <a:defRPr sz="1100">
                <a:solidFill>
                  <a:srgbClr val="949494"/>
                </a:solidFill>
              </a:defRPr>
            </a:lvl9pPr>
          </a:lstStyle>
          <a:p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457200" y="3305175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457200" y="800100"/>
            <a:ext cx="4038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sz="2100">
                <a:solidFill>
                  <a:srgbClr val="262626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◖"/>
              <a:defRPr sz="1800">
                <a:solidFill>
                  <a:srgbClr val="262626"/>
                </a:solidFill>
              </a:defRPr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▪"/>
              <a:defRPr sz="1500">
                <a:solidFill>
                  <a:srgbClr val="262626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»"/>
              <a:defRPr sz="14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648200" y="800100"/>
            <a:ext cx="40386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•"/>
              <a:defRPr sz="2100">
                <a:solidFill>
                  <a:srgbClr val="262626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Char char="◖"/>
              <a:defRPr sz="1800">
                <a:solidFill>
                  <a:srgbClr val="262626"/>
                </a:solidFill>
              </a:defRPr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▪"/>
              <a:defRPr sz="1500">
                <a:solidFill>
                  <a:srgbClr val="262626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•"/>
              <a:defRPr sz="1400">
                <a:solidFill>
                  <a:srgbClr val="262626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»"/>
              <a:defRPr sz="14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457200" y="6858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457200" y="17145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 b="1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457200" y="1485901"/>
            <a:ext cx="4040188" cy="325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>
                <a:solidFill>
                  <a:srgbClr val="262626"/>
                </a:solidFill>
              </a:defRPr>
            </a:lvl1pPr>
            <a:lvl2pPr marL="914400" lvl="1" indent="-2984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Char char="◖"/>
              <a:defRPr sz="1500">
                <a:solidFill>
                  <a:srgbClr val="262626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▪"/>
              <a:defRPr sz="1400">
                <a:solidFill>
                  <a:srgbClr val="262626"/>
                </a:solidFill>
              </a:defRPr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»"/>
              <a:defRPr sz="1200">
                <a:solidFill>
                  <a:srgbClr val="262626"/>
                </a:solidFill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3"/>
          </p:nvPr>
        </p:nvSpPr>
        <p:spPr>
          <a:xfrm>
            <a:off x="4645026" y="971550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 b="1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4"/>
          </p:nvPr>
        </p:nvSpPr>
        <p:spPr>
          <a:xfrm>
            <a:off x="4645026" y="1485901"/>
            <a:ext cx="4041775" cy="3259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>
                <a:solidFill>
                  <a:srgbClr val="262626"/>
                </a:solidFill>
              </a:defRPr>
            </a:lvl1pPr>
            <a:lvl2pPr marL="914400" lvl="1" indent="-2984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100"/>
              <a:buChar char="◖"/>
              <a:defRPr sz="1500">
                <a:solidFill>
                  <a:srgbClr val="262626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Char char="▪"/>
              <a:defRPr sz="1400">
                <a:solidFill>
                  <a:srgbClr val="262626"/>
                </a:solidFill>
              </a:defRPr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•"/>
              <a:defRPr sz="1200">
                <a:solidFill>
                  <a:srgbClr val="262626"/>
                </a:solidFill>
              </a:defRPr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Char char="»"/>
              <a:defRPr sz="1200">
                <a:solidFill>
                  <a:srgbClr val="262626"/>
                </a:solidFill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cxnSp>
        <p:nvCxnSpPr>
          <p:cNvPr id="91" name="Google Shape;91;p18"/>
          <p:cNvCxnSpPr/>
          <p:nvPr/>
        </p:nvCxnSpPr>
        <p:spPr>
          <a:xfrm>
            <a:off x="457200" y="1485900"/>
            <a:ext cx="4040188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18"/>
          <p:cNvCxnSpPr/>
          <p:nvPr/>
        </p:nvCxnSpPr>
        <p:spPr>
          <a:xfrm>
            <a:off x="4648200" y="1485900"/>
            <a:ext cx="4040188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18"/>
          <p:cNvCxnSpPr/>
          <p:nvPr/>
        </p:nvCxnSpPr>
        <p:spPr>
          <a:xfrm>
            <a:off x="457200" y="7429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4" name="Google Shape;9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5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19"/>
          <p:cNvCxnSpPr/>
          <p:nvPr/>
        </p:nvCxnSpPr>
        <p:spPr>
          <a:xfrm>
            <a:off x="457200" y="74295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9" name="Google Shape;9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2" y="4722805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477044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500"/>
              <a:buFont typeface="Arial"/>
              <a:buNone/>
              <a:defRPr sz="15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3581400" y="228600"/>
            <a:ext cx="5111750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sz="2400"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◖"/>
              <a:defRPr sz="2100">
                <a:solidFill>
                  <a:srgbClr val="000000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>
                <a:solidFill>
                  <a:srgbClr val="000000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  <a:defRPr sz="1500">
                <a:solidFill>
                  <a:srgbClr val="000000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Char char="»"/>
              <a:defRPr sz="1500">
                <a:solidFill>
                  <a:srgbClr val="000000"/>
                </a:solidFill>
              </a:defRPr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2"/>
          </p:nvPr>
        </p:nvSpPr>
        <p:spPr>
          <a:xfrm>
            <a:off x="477044" y="1076325"/>
            <a:ext cx="3008313" cy="366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cxnSp>
        <p:nvCxnSpPr>
          <p:cNvPr id="108" name="Google Shape;108;p21"/>
          <p:cNvCxnSpPr/>
          <p:nvPr/>
        </p:nvCxnSpPr>
        <p:spPr>
          <a:xfrm>
            <a:off x="457200" y="1085850"/>
            <a:ext cx="30480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9" name="Google Shape;10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3450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500"/>
              <a:buFont typeface="Arial"/>
              <a:buNone/>
              <a:defRPr sz="15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9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cxnSp>
        <p:nvCxnSpPr>
          <p:cNvPr id="115" name="Google Shape;115;p22"/>
          <p:cNvCxnSpPr/>
          <p:nvPr/>
        </p:nvCxnSpPr>
        <p:spPr>
          <a:xfrm>
            <a:off x="1792288" y="4025504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22809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  <a:defRPr sz="2700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 rot="5400000">
            <a:off x="2810671" y="-1153321"/>
            <a:ext cx="3522659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21" name="Google Shape;121;p23"/>
          <p:cNvCxnSpPr/>
          <p:nvPr/>
        </p:nvCxnSpPr>
        <p:spPr>
          <a:xfrm>
            <a:off x="457200" y="80010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2" name="Google Shape;12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 rot="5400000">
            <a:off x="5275064" y="1560314"/>
            <a:ext cx="476607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 rot="5400000">
            <a:off x="1084064" y="-420886"/>
            <a:ext cx="476607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402288" y="573752"/>
            <a:ext cx="1374534" cy="34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4"/>
          <p:cNvCxnSpPr/>
          <p:nvPr/>
        </p:nvCxnSpPr>
        <p:spPr>
          <a:xfrm rot="10800000" flipH="1">
            <a:off x="6629401" y="228600"/>
            <a:ext cx="1" cy="474345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24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5353496" y="827532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1400"/>
              <a:buFont typeface="Arial"/>
              <a:buNone/>
              <a:defRPr sz="1400" b="1">
                <a:solidFill>
                  <a:srgbClr val="0079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5353496" y="1508045"/>
            <a:ext cx="3383280" cy="323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sz="1100">
                <a:solidFill>
                  <a:srgbClr val="262626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262626"/>
              </a:buClr>
              <a:buSzPts val="700"/>
              <a:buNone/>
              <a:defRPr sz="7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2"/>
          </p:nvPr>
        </p:nvSpPr>
        <p:spPr>
          <a:xfrm>
            <a:off x="152400" y="582215"/>
            <a:ext cx="5102352" cy="416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 sz="2400">
                <a:solidFill>
                  <a:srgbClr val="262626"/>
                </a:solidFill>
              </a:defRPr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Char char="◖"/>
              <a:defRPr sz="2100">
                <a:solidFill>
                  <a:srgbClr val="262626"/>
                </a:solidFill>
              </a:defRPr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Char char="▪"/>
              <a:defRPr sz="1800">
                <a:solidFill>
                  <a:srgbClr val="262626"/>
                </a:solidFill>
              </a:defRPr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•"/>
              <a:defRPr sz="1500">
                <a:solidFill>
                  <a:srgbClr val="262626"/>
                </a:solidFill>
              </a:defRPr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Char char="»"/>
              <a:defRPr sz="1500">
                <a:solidFill>
                  <a:srgbClr val="262626"/>
                </a:solidFill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34" name="Google Shape;134;p25"/>
          <p:cNvCxnSpPr/>
          <p:nvPr/>
        </p:nvCxnSpPr>
        <p:spPr>
          <a:xfrm>
            <a:off x="5334000" y="1485900"/>
            <a:ext cx="3429000" cy="0"/>
          </a:xfrm>
          <a:prstGeom prst="straightConnector1">
            <a:avLst/>
          </a:prstGeom>
          <a:noFill/>
          <a:ln w="9525" cap="flat" cmpd="sng">
            <a:solidFill>
              <a:srgbClr val="0078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5" name="Google Shape;13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96" y="4744993"/>
            <a:ext cx="1374534" cy="34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53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7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91440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◖"/>
              <a:defRPr sz="21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58200" y="485775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0079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06-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tb.curent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URENT" TargetMode="External"/><Relationship Id="rId5" Type="http://schemas.openxmlformats.org/officeDocument/2006/relationships/hyperlink" Target="https://www.youtube.com/@curentltb" TargetMode="External"/><Relationship Id="rId4" Type="http://schemas.openxmlformats.org/officeDocument/2006/relationships/hyperlink" Target="https://www.linkedin.com/company/76122605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jp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ctrTitle"/>
          </p:nvPr>
        </p:nvSpPr>
        <p:spPr>
          <a:xfrm>
            <a:off x="685800" y="1285625"/>
            <a:ext cx="7772400" cy="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</a:pPr>
            <a:r>
              <a:rPr lang="en" sz="2400" b="1" dirty="0">
                <a:solidFill>
                  <a:schemeClr val="accent1"/>
                </a:solidFill>
              </a:rPr>
              <a:t>CURENT Large-scale Testbed (LTB) </a:t>
            </a:r>
            <a:endParaRPr sz="2400" b="1"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700"/>
              <a:buFont typeface="Arial"/>
              <a:buNone/>
            </a:pPr>
            <a:r>
              <a:rPr lang="en-US" sz="2400" b="1" dirty="0"/>
              <a:t>Month</a:t>
            </a:r>
            <a:r>
              <a:rPr lang="en" sz="2400" b="1" dirty="0" err="1"/>
              <a:t>ly</a:t>
            </a:r>
            <a:r>
              <a:rPr lang="en" sz="2400" b="1" dirty="0"/>
              <a:t> Meeting</a:t>
            </a:r>
            <a:endParaRPr sz="2400" dirty="0"/>
          </a:p>
        </p:txBody>
      </p:sp>
      <p:sp>
        <p:nvSpPr>
          <p:cNvPr id="142" name="Google Shape;142;p26"/>
          <p:cNvSpPr txBox="1">
            <a:spLocks noGrp="1"/>
          </p:cNvSpPr>
          <p:nvPr>
            <p:ph type="subTitle" idx="1"/>
          </p:nvPr>
        </p:nvSpPr>
        <p:spPr>
          <a:xfrm>
            <a:off x="2171700" y="2302050"/>
            <a:ext cx="4800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lang="en" dirty="0"/>
              <a:t>10/</a:t>
            </a:r>
            <a:r>
              <a:rPr lang="en-US" dirty="0"/>
              <a:t>26</a:t>
            </a:r>
            <a:r>
              <a:rPr lang="en" dirty="0"/>
              <a:t>/2026</a:t>
            </a:r>
            <a:endParaRPr dirty="0"/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lang="en" dirty="0">
                <a:solidFill>
                  <a:srgbClr val="262626"/>
                </a:solidFill>
              </a:rPr>
              <a:t>CURENT, University of Tennessee, Knoxville</a:t>
            </a:r>
            <a:endParaRPr dirty="0"/>
          </a:p>
        </p:txBody>
      </p:sp>
      <p:graphicFrame>
        <p:nvGraphicFramePr>
          <p:cNvPr id="2" name="Google Shape;143;p26">
            <a:extLst>
              <a:ext uri="{FF2B5EF4-FFF2-40B4-BE49-F238E27FC236}">
                <a16:creationId xmlns:a16="http://schemas.microsoft.com/office/drawing/2014/main" id="{304445EE-EF1A-2ECC-D06D-AFD1DD4EDD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690032"/>
              </p:ext>
            </p:extLst>
          </p:nvPr>
        </p:nvGraphicFramePr>
        <p:xfrm>
          <a:off x="826029" y="2896676"/>
          <a:ext cx="7491942" cy="1733444"/>
        </p:xfrm>
        <a:graphic>
          <a:graphicData uri="http://schemas.openxmlformats.org/drawingml/2006/table">
            <a:tbl>
              <a:tblPr>
                <a:noFill/>
                <a:tableStyleId>{5174D078-6048-4B6B-ACA5-52F38B7A75A1}</a:tableStyleId>
              </a:tblPr>
              <a:tblGrid>
                <a:gridCol w="2428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3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Leadership Team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Fran Li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Senior Advisor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Kevin Tomsovic, 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Hantao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Cui, Dr. Xin Fang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Core Development 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Hantao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Cui, Dr. Xin Fang, Dr. Jinning Wang,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Nicholas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Parsly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, Nick West, Zack Malkmus, Junjie Yin, Matthew 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Cannavaro, Hank Lin, Jian Han, Dr. Chenchen Li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98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</a:rPr>
                        <a:t>Other Contributors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Dr. </a:t>
                      </a:r>
                      <a:r>
                        <a:rPr lang="en" dirty="0" err="1">
                          <a:solidFill>
                            <a:srgbClr val="0000FF"/>
                          </a:solidFill>
                        </a:rPr>
                        <a:t>Qiwei</a:t>
                      </a:r>
                      <a:r>
                        <a:rPr lang="en" dirty="0">
                          <a:solidFill>
                            <a:srgbClr val="0000FF"/>
                          </a:solidFill>
                        </a:rPr>
                        <a:t> Zhang, Dr. Buxin She, Dr. Hang Shuai</a:t>
                      </a:r>
                      <a:endParaRPr dirty="0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457200" y="509190"/>
            <a:ext cx="8229600" cy="443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dirty="0">
                <a:solidFill>
                  <a:srgbClr val="262626"/>
                </a:solidFill>
              </a:rPr>
              <a:t>Community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Homepage: </a:t>
            </a:r>
            <a:r>
              <a:rPr lang="en" sz="1600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https://ltb.curent.org/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LinkedIn: </a:t>
            </a:r>
            <a:r>
              <a:rPr lang="en" sz="160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https://www.linkedin.com/company/76122605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YouTube: </a:t>
            </a:r>
            <a:r>
              <a:rPr lang="en" sz="1600" u="sng" dirty="0">
                <a:solidFill>
                  <a:schemeClr val="accent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https://www.youtube.com/@curentltb</a:t>
            </a:r>
            <a:endParaRPr sz="1600" dirty="0">
              <a:solidFill>
                <a:srgbClr val="26262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●"/>
            </a:pPr>
            <a:r>
              <a:rPr lang="en" sz="1600" dirty="0">
                <a:solidFill>
                  <a:srgbClr val="262626"/>
                </a:solidFill>
              </a:rPr>
              <a:t>GitHub: </a:t>
            </a:r>
            <a:r>
              <a:rPr lang="en" sz="1600" u="sng" dirty="0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https://github.com/CURENT</a:t>
            </a:r>
            <a:endParaRPr sz="2000" b="1" dirty="0">
              <a:solidFill>
                <a:srgbClr val="2626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262626"/>
              </a:solidFill>
            </a:endParaRPr>
          </a:p>
          <a:p>
            <a:r>
              <a:rPr lang="en-US" sz="2000" b="1" dirty="0">
                <a:solidFill>
                  <a:srgbClr val="262626"/>
                </a:solidFill>
              </a:rPr>
              <a:t>Administration:</a:t>
            </a: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10/11-13 NAPS 2026 meeting</a:t>
            </a: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10/21 NASA visit CURENT</a:t>
            </a:r>
            <a:endParaRPr sz="20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endParaRPr lang="en" sz="1600" dirty="0">
              <a:solidFill>
                <a:srgbClr val="2626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dirty="0">
                <a:solidFill>
                  <a:srgbClr val="262626"/>
                </a:solidFill>
              </a:rPr>
              <a:t>Development</a:t>
            </a:r>
            <a:endParaRPr sz="16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LLM with LTB AMS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Configuration file update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Revise parameter classification</a:t>
            </a:r>
          </a:p>
          <a:p>
            <a:pPr marL="914400" lvl="2" indent="-330200">
              <a:buClr>
                <a:srgbClr val="262626"/>
              </a:buClr>
              <a:buSzPts val="16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62626"/>
                </a:solidFill>
              </a:rPr>
              <a:t>How to ensure the LLM executes </a:t>
            </a:r>
            <a:r>
              <a:rPr lang="en-US" sz="1600">
                <a:solidFill>
                  <a:srgbClr val="262626"/>
                </a:solidFill>
              </a:rPr>
              <a:t>prompt correctly?</a:t>
            </a:r>
            <a:endParaRPr lang="en-US" sz="1600" dirty="0">
              <a:solidFill>
                <a:srgbClr val="262626"/>
              </a:solidFill>
            </a:endParaRPr>
          </a:p>
          <a:p>
            <a:pPr marL="457200" indent="-330200"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 dirty="0">
                <a:solidFill>
                  <a:srgbClr val="262626"/>
                </a:solidFill>
              </a:rPr>
              <a:t>LLM with LTB Andes</a:t>
            </a:r>
          </a:p>
        </p:txBody>
      </p:sp>
      <p:sp>
        <p:nvSpPr>
          <p:cNvPr id="149" name="Google Shape;149;p27"/>
          <p:cNvSpPr txBox="1">
            <a:spLocks noGrp="1"/>
          </p:cNvSpPr>
          <p:nvPr>
            <p:ph type="sldNum" idx="12"/>
          </p:nvPr>
        </p:nvSpPr>
        <p:spPr>
          <a:xfrm>
            <a:off x="7486650" y="485775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1.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title">
            <a:extLst>
              <a:ext uri="{FF2B5EF4-FFF2-40B4-BE49-F238E27FC236}">
                <a16:creationId xmlns:a16="http://schemas.microsoft.com/office/drawing/2014/main" id="{D798C38A-E554-433B-BE05-51F325B5FBEC}"/>
              </a:ext>
            </a:extLst>
          </p:cNvPr>
          <p:cNvSpPr>
            <a:spLocks noGrp="1"/>
          </p:cNvSpPr>
          <p:nvPr/>
        </p:nvSpPr>
        <p:spPr>
          <a:xfrm>
            <a:off x="514350" y="161925"/>
            <a:ext cx="8096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Configuration file update</a:t>
            </a:r>
          </a:p>
        </p:txBody>
      </p:sp>
      <p:sp>
        <p:nvSpPr>
          <p:cNvPr id="2" name="Title rule">
            <a:extLst>
              <a:ext uri="{FF2B5EF4-FFF2-40B4-BE49-F238E27FC236}">
                <a16:creationId xmlns:a16="http://schemas.microsoft.com/office/drawing/2014/main" id="{799A8316-6EF2-4F9F-AFAC-0DC032C92137}"/>
              </a:ext>
            </a:extLst>
          </p:cNvPr>
          <p:cNvSpPr>
            <a:spLocks noGrp="1"/>
          </p:cNvSpPr>
          <p:nvPr/>
        </p:nvSpPr>
        <p:spPr>
          <a:xfrm>
            <a:off x="457200" y="628650"/>
            <a:ext cx="8229600" cy="19050"/>
          </a:xfrm>
          <a:prstGeom prst="rect">
            <a:avLst/>
          </a:prstGeom>
          <a:solidFill>
            <a:srgbClr val="008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rule">
            <a:extLst>
              <a:ext uri="{FF2B5EF4-FFF2-40B4-BE49-F238E27FC236}">
                <a16:creationId xmlns:a16="http://schemas.microsoft.com/office/drawing/2014/main" id="{31E527C2-B6C0-492B-A499-8AC9F5B6E85E}"/>
              </a:ext>
            </a:extLst>
          </p:cNvPr>
          <p:cNvSpPr>
            <a:spLocks noGrp="1"/>
          </p:cNvSpPr>
          <p:nvPr/>
        </p:nvSpPr>
        <p:spPr>
          <a:xfrm>
            <a:off x="457200" y="4781550"/>
            <a:ext cx="8229600" cy="9525"/>
          </a:xfrm>
          <a:prstGeom prst="rect">
            <a:avLst/>
          </a:prstGeom>
          <a:solidFill>
            <a:srgbClr val="D5DD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485BA0-3E51-4BD0-A78B-0923D203B209}"/>
              </a:ext>
            </a:extLst>
          </p:cNvPr>
          <p:cNvSpPr>
            <a:spLocks noGrp="1"/>
          </p:cNvSpPr>
          <p:nvPr/>
        </p:nvSpPr>
        <p:spPr>
          <a:xfrm>
            <a:off x="5715000" y="48291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B16EC-D552-4886-AF04-03BF73D9F8D2}"/>
              </a:ext>
            </a:extLst>
          </p:cNvPr>
          <p:cNvSpPr>
            <a:spLocks noGrp="1"/>
          </p:cNvSpPr>
          <p:nvPr/>
        </p:nvSpPr>
        <p:spPr>
          <a:xfrm>
            <a:off x="8439150" y="482917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109BE6-2040-4DDF-877E-A54F7D021741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8048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A reviewed catalog can describe model edits; the compiler applies only declared templates.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975517-76E4-4191-8ADC-CDB655997D6D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3619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FORMULATION CONTROL SPEC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1CBCEE-F159-46FA-B439-C19D64C4F9D3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59B44-A873-43B2-B1CC-0323AAE99355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control_id · operation_kind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6CFC7-708B-44B6-9CA3-C423EF373FF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scenario  |  formulation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5CB1E7-19B3-4EF1-B3C4-CF49BDC4E9B6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27204D-82D2-4626-985D-8210E2F8C0F8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routines · target_scope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0BC505-BE5A-44C6-A818-1DCEB6186C45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DCOPF / ED / UC / ACOPF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7F9D9B-4CFB-431A-852A-6830CDFA4BB0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568674-6A30-4F1B-8D1D-E60D5B0E42B4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variables · objective_terms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2CA5EA-472A-4699-9592-DE20E74D3873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what the template adds or changes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98BD23B-5591-49AB-BB0F-9ABA840BE791}"/>
              </a:ext>
            </a:extLst>
          </p:cNvPr>
          <p:cNvSpPr>
            <a:spLocks noGrp="1"/>
          </p:cNvSpPr>
          <p:nvPr/>
        </p:nvSpPr>
        <p:spPr>
          <a:xfrm>
            <a:off x="552450" y="2809875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2B2DA1-2018-4619-8769-A87046174B14}"/>
              </a:ext>
            </a:extLst>
          </p:cNvPr>
          <p:cNvSpPr>
            <a:spLocks noGrp="1"/>
          </p:cNvSpPr>
          <p:nvPr/>
        </p:nvSpPr>
        <p:spPr>
          <a:xfrm>
            <a:off x="685800" y="2847975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constraint_templates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592FAB-7C10-48D7-AE93-5F6512697D01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named, versioned, reviewed blocks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B701178-AA9E-430F-A09E-39513B6A0236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455320-127C-4B2E-B079-3048A33269D2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parameters · bounds · units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C5FE66-6893-4937-BAA8-883B99D310C6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typed values with validation rules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4E87F5-614D-4BDF-A6A7-6BD00FFCC2CB}"/>
              </a:ext>
            </a:extLst>
          </p:cNvPr>
          <p:cNvSpPr>
            <a:spLocks noGrp="1"/>
          </p:cNvSpPr>
          <p:nvPr/>
        </p:nvSpPr>
        <p:spPr>
          <a:xfrm>
            <a:off x="552450" y="3743325"/>
            <a:ext cx="3676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996672-AC13-478C-84DA-7F1CDD328E17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3381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2A2D"/>
                </a:solidFill>
              </a:defRPr>
            </a:defPPr>
            <a:lvl1pPr algn="l">
              <a:defRPr sz="1050" b="1">
                <a:solidFill>
                  <a:srgbClr val="252A2D"/>
                </a:solidFill>
              </a:defRPr>
            </a:lvl1pPr>
            <a:lvl2pPr algn="l">
              <a:defRPr sz="1050" b="1">
                <a:solidFill>
                  <a:srgbClr val="252A2D"/>
                </a:solidFill>
              </a:defRPr>
            </a:lvl2pPr>
            <a:lvl3pPr algn="l">
              <a:defRPr sz="1050" b="1">
                <a:solidFill>
                  <a:srgbClr val="252A2D"/>
                </a:solidFill>
              </a:defRPr>
            </a:lvl3pPr>
            <a:lvl4pPr algn="l">
              <a:defRPr sz="1050" b="1">
                <a:solidFill>
                  <a:srgbClr val="252A2D"/>
                </a:solidFill>
              </a:defRPr>
            </a:lvl4pPr>
            <a:lvl5pPr algn="l">
              <a:defRPr sz="1050" b="1">
                <a:solidFill>
                  <a:srgbClr val="252A2D"/>
                </a:solidFill>
              </a:defRPr>
            </a:lvl5pPr>
            <a:lvl6pPr algn="l">
              <a:defRPr sz="1050" b="1">
                <a:solidFill>
                  <a:srgbClr val="252A2D"/>
                </a:solidFill>
              </a:defRPr>
            </a:lvl6pPr>
            <a:lvl7pPr algn="l">
              <a:defRPr sz="1050" b="1">
                <a:solidFill>
                  <a:srgbClr val="252A2D"/>
                </a:solidFill>
              </a:defRPr>
            </a:lvl7pPr>
            <a:lvl8pPr algn="l">
              <a:defRPr sz="1050" b="1">
                <a:solidFill>
                  <a:srgbClr val="252A2D"/>
                </a:solidFill>
              </a:defRPr>
            </a:lvl8pPr>
            <a:lvl9pPr algn="l">
              <a:defRPr sz="1050" b="1">
                <a:solidFill>
                  <a:srgbClr val="252A2D"/>
                </a:solidFill>
              </a:defRPr>
            </a:lvl9pPr>
          </a:lstStyle>
          <a:p>
            <a:pPr algn="l">
              <a:defRPr sz="1050" b="1">
                <a:solidFill>
                  <a:srgbClr val="252A2D"/>
                </a:solidFill>
              </a:defRPr>
            </a:pPr>
            <a:r>
              <a:rPr sz="1050" b="1">
                <a:solidFill>
                  <a:srgbClr val="252A2D"/>
                </a:solidFill>
              </a:rPr>
              <a:t>preconditions · conflicts · reset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66A0B1-FAF3-4A78-AFCB-4C2E0EBE4C69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3371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safe composition and recovery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47726F-F17B-47A2-8F02-0BA6FA67CAF9}"/>
              </a:ext>
            </a:extLst>
          </p:cNvPr>
          <p:cNvSpPr>
            <a:spLocks noGrp="1"/>
          </p:cNvSpPr>
          <p:nvPr/>
        </p:nvSpPr>
        <p:spPr>
          <a:xfrm>
            <a:off x="4800600" y="1143000"/>
            <a:ext cx="3714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DECLARATION → MODEL CHANGE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002FECC-1840-471B-96AF-CD923D8D6F4D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1066800" cy="952500"/>
          </a:xfrm>
          <a:prstGeom prst="roundRect">
            <a:avLst>
              <a:gd name="adj" fmla="val 8000"/>
            </a:avLst>
          </a:prstGeom>
          <a:solidFill>
            <a:srgbClr val="F1F7F1"/>
          </a:solidFill>
          <a:ln w="14288">
            <a:solidFill>
              <a:srgbClr val="85B7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3B1B74-C2B7-43CD-B0AA-3173BEDAE79B}"/>
              </a:ext>
            </a:extLst>
          </p:cNvPr>
          <p:cNvSpPr>
            <a:spLocks noGrp="1"/>
          </p:cNvSpPr>
          <p:nvPr/>
        </p:nvSpPr>
        <p:spPr>
          <a:xfrm>
            <a:off x="4838700" y="19335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Config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3FDCFE-9D38-4E83-B789-660BD74CA7E3}"/>
              </a:ext>
            </a:extLst>
          </p:cNvPr>
          <p:cNvSpPr>
            <a:spLocks noGrp="1"/>
          </p:cNvSpPr>
          <p:nvPr/>
        </p:nvSpPr>
        <p:spPr>
          <a:xfrm>
            <a:off x="4848225" y="2257425"/>
            <a:ext cx="895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reviewed</a:t>
            </a:r>
          </a:p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template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8688495-8A14-48B6-AF55-EEFFBB0B7D5B}"/>
              </a:ext>
            </a:extLst>
          </p:cNvPr>
          <p:cNvSpPr>
            <a:spLocks noGrp="1"/>
          </p:cNvSpPr>
          <p:nvPr/>
        </p:nvSpPr>
        <p:spPr>
          <a:xfrm>
            <a:off x="6019800" y="1809750"/>
            <a:ext cx="1104900" cy="9525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 w="14288">
            <a:solidFill>
              <a:srgbClr val="7B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16A02C-6812-477C-B366-F3D7B72ED9D8}"/>
              </a:ext>
            </a:extLst>
          </p:cNvPr>
          <p:cNvSpPr>
            <a:spLocks noGrp="1"/>
          </p:cNvSpPr>
          <p:nvPr/>
        </p:nvSpPr>
        <p:spPr>
          <a:xfrm>
            <a:off x="6096000" y="193357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Validate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4CCB01-3134-4D5B-B7BE-2ACAD1D2A537}"/>
              </a:ext>
            </a:extLst>
          </p:cNvPr>
          <p:cNvSpPr>
            <a:spLocks noGrp="1"/>
          </p:cNvSpPr>
          <p:nvPr/>
        </p:nvSpPr>
        <p:spPr>
          <a:xfrm>
            <a:off x="6105525" y="2257425"/>
            <a:ext cx="933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routine · types</a:t>
            </a:r>
          </a:p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bounds · conflicts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DBC51D4-A984-4200-8C34-D891CFA351D6}"/>
              </a:ext>
            </a:extLst>
          </p:cNvPr>
          <p:cNvSpPr>
            <a:spLocks noGrp="1"/>
          </p:cNvSpPr>
          <p:nvPr/>
        </p:nvSpPr>
        <p:spPr>
          <a:xfrm>
            <a:off x="7315200" y="1809750"/>
            <a:ext cx="1333500" cy="95250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 w="14288">
            <a:solidFill>
              <a:srgbClr val="E7A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F9A047-C671-4187-865A-03F99690026D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118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7343A"/>
                </a:solidFill>
              </a:defRPr>
            </a:defPPr>
            <a:lvl1pPr algn="ctr">
              <a:defRPr sz="1350" b="1">
                <a:solidFill>
                  <a:srgbClr val="27343A"/>
                </a:solidFill>
              </a:defRPr>
            </a:lvl1pPr>
            <a:lvl2pPr algn="ctr">
              <a:defRPr sz="1350" b="1">
                <a:solidFill>
                  <a:srgbClr val="27343A"/>
                </a:solidFill>
              </a:defRPr>
            </a:lvl2pPr>
            <a:lvl3pPr algn="ctr">
              <a:defRPr sz="1350" b="1">
                <a:solidFill>
                  <a:srgbClr val="27343A"/>
                </a:solidFill>
              </a:defRPr>
            </a:lvl3pPr>
            <a:lvl4pPr algn="ctr">
              <a:defRPr sz="1350" b="1">
                <a:solidFill>
                  <a:srgbClr val="27343A"/>
                </a:solidFill>
              </a:defRPr>
            </a:lvl4pPr>
            <a:lvl5pPr algn="ctr">
              <a:defRPr sz="1350" b="1">
                <a:solidFill>
                  <a:srgbClr val="27343A"/>
                </a:solidFill>
              </a:defRPr>
            </a:lvl5pPr>
            <a:lvl6pPr algn="ctr">
              <a:defRPr sz="1350" b="1">
                <a:solidFill>
                  <a:srgbClr val="27343A"/>
                </a:solidFill>
              </a:defRPr>
            </a:lvl6pPr>
            <a:lvl7pPr algn="ctr">
              <a:defRPr sz="1350" b="1">
                <a:solidFill>
                  <a:srgbClr val="27343A"/>
                </a:solidFill>
              </a:defRPr>
            </a:lvl7pPr>
            <a:lvl8pPr algn="ctr">
              <a:defRPr sz="1350" b="1">
                <a:solidFill>
                  <a:srgbClr val="27343A"/>
                </a:solidFill>
              </a:defRPr>
            </a:lvl8pPr>
            <a:lvl9pPr algn="ctr">
              <a:defRPr sz="1350" b="1">
                <a:solidFill>
                  <a:srgbClr val="27343A"/>
                </a:solidFill>
              </a:defRPr>
            </a:lvl9pPr>
          </a:lstStyle>
          <a:p>
            <a:pPr algn="ctr">
              <a:defRPr sz="1350" b="1">
                <a:solidFill>
                  <a:srgbClr val="27343A"/>
                </a:solidFill>
              </a:defRPr>
            </a:pPr>
            <a:r>
              <a:rPr sz="1350" b="1">
                <a:solidFill>
                  <a:srgbClr val="27343A"/>
                </a:solidFill>
              </a:rPr>
              <a:t>Compile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765FB5-74BD-460A-BDDE-549F8500539E}"/>
              </a:ext>
            </a:extLst>
          </p:cNvPr>
          <p:cNvSpPr>
            <a:spLocks noGrp="1"/>
          </p:cNvSpPr>
          <p:nvPr/>
        </p:nvSpPr>
        <p:spPr>
          <a:xfrm>
            <a:off x="7400925" y="2257425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0">
                <a:solidFill>
                  <a:srgbClr val="5B6266"/>
                </a:solidFill>
              </a:defRPr>
            </a:defPPr>
            <a:lvl1pPr algn="ctr">
              <a:defRPr sz="975" b="0">
                <a:solidFill>
                  <a:srgbClr val="5B6266"/>
                </a:solidFill>
              </a:defRPr>
            </a:lvl1pPr>
            <a:lvl2pPr algn="ctr">
              <a:defRPr sz="975" b="0">
                <a:solidFill>
                  <a:srgbClr val="5B6266"/>
                </a:solidFill>
              </a:defRPr>
            </a:lvl2pPr>
            <a:lvl3pPr algn="ctr">
              <a:defRPr sz="975" b="0">
                <a:solidFill>
                  <a:srgbClr val="5B6266"/>
                </a:solidFill>
              </a:defRPr>
            </a:lvl3pPr>
            <a:lvl4pPr algn="ctr">
              <a:defRPr sz="975" b="0">
                <a:solidFill>
                  <a:srgbClr val="5B6266"/>
                </a:solidFill>
              </a:defRPr>
            </a:lvl4pPr>
            <a:lvl5pPr algn="ctr">
              <a:defRPr sz="975" b="0">
                <a:solidFill>
                  <a:srgbClr val="5B6266"/>
                </a:solidFill>
              </a:defRPr>
            </a:lvl5pPr>
            <a:lvl6pPr algn="ctr">
              <a:defRPr sz="975" b="0">
                <a:solidFill>
                  <a:srgbClr val="5B6266"/>
                </a:solidFill>
              </a:defRPr>
            </a:lvl6pPr>
            <a:lvl7pPr algn="ctr">
              <a:defRPr sz="975" b="0">
                <a:solidFill>
                  <a:srgbClr val="5B6266"/>
                </a:solidFill>
              </a:defRPr>
            </a:lvl7pPr>
            <a:lvl8pPr algn="ctr">
              <a:defRPr sz="975" b="0">
                <a:solidFill>
                  <a:srgbClr val="5B6266"/>
                </a:solidFill>
              </a:defRPr>
            </a:lvl8pPr>
            <a:lvl9pPr algn="ctr">
              <a:defRPr sz="975" b="0">
                <a:solidFill>
                  <a:srgbClr val="5B6266"/>
                </a:solidFill>
              </a:defRPr>
            </a:lvl9pPr>
          </a:lstStyle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AMS model</a:t>
            </a:r>
          </a:p>
          <a:p>
            <a:pPr algn="ctr">
              <a:defRPr sz="975" b="0">
                <a:solidFill>
                  <a:srgbClr val="5B6266"/>
                </a:solidFill>
              </a:defRPr>
            </a:pPr>
            <a:r>
              <a:rPr sz="975" b="0">
                <a:solidFill>
                  <a:srgbClr val="5B6266"/>
                </a:solidFill>
              </a:rPr>
              <a:t>operations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38D612-0A45-44E1-9C52-1216E77A28B7}"/>
              </a:ext>
            </a:extLst>
          </p:cNvPr>
          <p:cNvSpPr>
            <a:spLocks noGrp="1"/>
          </p:cNvSpPr>
          <p:nvPr/>
        </p:nvSpPr>
        <p:spPr>
          <a:xfrm>
            <a:off x="5829300" y="2124075"/>
            <a:ext cx="19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008000"/>
                </a:solidFill>
              </a:defRPr>
            </a:defPPr>
            <a:lvl1pPr algn="ctr">
              <a:defRPr sz="1950" b="1">
                <a:solidFill>
                  <a:srgbClr val="008000"/>
                </a:solidFill>
              </a:defRPr>
            </a:lvl1pPr>
            <a:lvl2pPr algn="ctr">
              <a:defRPr sz="1950" b="1">
                <a:solidFill>
                  <a:srgbClr val="008000"/>
                </a:solidFill>
              </a:defRPr>
            </a:lvl2pPr>
            <a:lvl3pPr algn="ctr">
              <a:defRPr sz="1950" b="1">
                <a:solidFill>
                  <a:srgbClr val="008000"/>
                </a:solidFill>
              </a:defRPr>
            </a:lvl3pPr>
            <a:lvl4pPr algn="ctr">
              <a:defRPr sz="1950" b="1">
                <a:solidFill>
                  <a:srgbClr val="008000"/>
                </a:solidFill>
              </a:defRPr>
            </a:lvl4pPr>
            <a:lvl5pPr algn="ctr">
              <a:defRPr sz="1950" b="1">
                <a:solidFill>
                  <a:srgbClr val="008000"/>
                </a:solidFill>
              </a:defRPr>
            </a:lvl5pPr>
            <a:lvl6pPr algn="ctr">
              <a:defRPr sz="1950" b="1">
                <a:solidFill>
                  <a:srgbClr val="008000"/>
                </a:solidFill>
              </a:defRPr>
            </a:lvl6pPr>
            <a:lvl7pPr algn="ctr">
              <a:defRPr sz="1950" b="1">
                <a:solidFill>
                  <a:srgbClr val="008000"/>
                </a:solidFill>
              </a:defRPr>
            </a:lvl7pPr>
            <a:lvl8pPr algn="ctr">
              <a:defRPr sz="1950" b="1">
                <a:solidFill>
                  <a:srgbClr val="008000"/>
                </a:solidFill>
              </a:defRPr>
            </a:lvl8pPr>
            <a:lvl9pPr algn="ctr">
              <a:defRPr sz="1950" b="1">
                <a:solidFill>
                  <a:srgbClr val="008000"/>
                </a:solidFill>
              </a:defRPr>
            </a:lvl9pPr>
          </a:lstStyle>
          <a:p>
            <a:pPr algn="ctr">
              <a:defRPr sz="1950" b="1">
                <a:solidFill>
                  <a:srgbClr val="008000"/>
                </a:solidFill>
              </a:defRPr>
            </a:pPr>
            <a:r>
              <a:rPr sz="1950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1DB561-A835-4EE9-B819-3DD90FB29AF0}"/>
              </a:ext>
            </a:extLst>
          </p:cNvPr>
          <p:cNvSpPr>
            <a:spLocks noGrp="1"/>
          </p:cNvSpPr>
          <p:nvPr/>
        </p:nvSpPr>
        <p:spPr>
          <a:xfrm>
            <a:off x="7124700" y="2124075"/>
            <a:ext cx="19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008000"/>
                </a:solidFill>
              </a:defRPr>
            </a:defPPr>
            <a:lvl1pPr algn="ctr">
              <a:defRPr sz="1950" b="1">
                <a:solidFill>
                  <a:srgbClr val="008000"/>
                </a:solidFill>
              </a:defRPr>
            </a:lvl1pPr>
            <a:lvl2pPr algn="ctr">
              <a:defRPr sz="1950" b="1">
                <a:solidFill>
                  <a:srgbClr val="008000"/>
                </a:solidFill>
              </a:defRPr>
            </a:lvl2pPr>
            <a:lvl3pPr algn="ctr">
              <a:defRPr sz="1950" b="1">
                <a:solidFill>
                  <a:srgbClr val="008000"/>
                </a:solidFill>
              </a:defRPr>
            </a:lvl3pPr>
            <a:lvl4pPr algn="ctr">
              <a:defRPr sz="1950" b="1">
                <a:solidFill>
                  <a:srgbClr val="008000"/>
                </a:solidFill>
              </a:defRPr>
            </a:lvl4pPr>
            <a:lvl5pPr algn="ctr">
              <a:defRPr sz="1950" b="1">
                <a:solidFill>
                  <a:srgbClr val="008000"/>
                </a:solidFill>
              </a:defRPr>
            </a:lvl5pPr>
            <a:lvl6pPr algn="ctr">
              <a:defRPr sz="1950" b="1">
                <a:solidFill>
                  <a:srgbClr val="008000"/>
                </a:solidFill>
              </a:defRPr>
            </a:lvl6pPr>
            <a:lvl7pPr algn="ctr">
              <a:defRPr sz="1950" b="1">
                <a:solidFill>
                  <a:srgbClr val="008000"/>
                </a:solidFill>
              </a:defRPr>
            </a:lvl7pPr>
            <a:lvl8pPr algn="ctr">
              <a:defRPr sz="1950" b="1">
                <a:solidFill>
                  <a:srgbClr val="008000"/>
                </a:solidFill>
              </a:defRPr>
            </a:lvl8pPr>
            <a:lvl9pPr algn="ctr">
              <a:defRPr sz="1950" b="1">
                <a:solidFill>
                  <a:srgbClr val="008000"/>
                </a:solidFill>
              </a:defRPr>
            </a:lvl9pPr>
          </a:lstStyle>
          <a:p>
            <a:pPr algn="ctr">
              <a:defRPr sz="1950" b="1">
                <a:solidFill>
                  <a:srgbClr val="008000"/>
                </a:solidFill>
              </a:defRPr>
            </a:pPr>
            <a:r>
              <a:rPr sz="1950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8320140-FD07-4DE0-AE06-AA3B3859751B}"/>
              </a:ext>
            </a:extLst>
          </p:cNvPr>
          <p:cNvSpPr>
            <a:spLocks noGrp="1"/>
          </p:cNvSpPr>
          <p:nvPr/>
        </p:nvSpPr>
        <p:spPr>
          <a:xfrm>
            <a:off x="5067300" y="3095625"/>
            <a:ext cx="3276600" cy="781050"/>
          </a:xfrm>
          <a:prstGeom prst="roundRect">
            <a:avLst>
              <a:gd name="adj" fmla="val 9756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B7FA96-EC41-4956-B88B-14034DC09BCA}"/>
              </a:ext>
            </a:extLst>
          </p:cNvPr>
          <p:cNvSpPr>
            <a:spLocks noGrp="1"/>
          </p:cNvSpPr>
          <p:nvPr/>
        </p:nvSpPr>
        <p:spPr>
          <a:xfrm>
            <a:off x="5257800" y="31908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27343A"/>
                </a:solidFill>
              </a:defRPr>
            </a:defPPr>
            <a:lvl1pPr algn="l">
              <a:defRPr sz="1200" b="1">
                <a:solidFill>
                  <a:srgbClr val="27343A"/>
                </a:solidFill>
              </a:defRPr>
            </a:lvl1pPr>
            <a:lvl2pPr algn="l">
              <a:defRPr sz="1200" b="1">
                <a:solidFill>
                  <a:srgbClr val="27343A"/>
                </a:solidFill>
              </a:defRPr>
            </a:lvl2pPr>
            <a:lvl3pPr algn="l">
              <a:defRPr sz="1200" b="1">
                <a:solidFill>
                  <a:srgbClr val="27343A"/>
                </a:solidFill>
              </a:defRPr>
            </a:lvl3pPr>
            <a:lvl4pPr algn="l">
              <a:defRPr sz="1200" b="1">
                <a:solidFill>
                  <a:srgbClr val="27343A"/>
                </a:solidFill>
              </a:defRPr>
            </a:lvl4pPr>
            <a:lvl5pPr algn="l">
              <a:defRPr sz="1200" b="1">
                <a:solidFill>
                  <a:srgbClr val="27343A"/>
                </a:solidFill>
              </a:defRPr>
            </a:lvl5pPr>
            <a:lvl6pPr algn="l">
              <a:defRPr sz="1200" b="1">
                <a:solidFill>
                  <a:srgbClr val="27343A"/>
                </a:solidFill>
              </a:defRPr>
            </a:lvl6pPr>
            <a:lvl7pPr algn="l">
              <a:defRPr sz="1200" b="1">
                <a:solidFill>
                  <a:srgbClr val="27343A"/>
                </a:solidFill>
              </a:defRPr>
            </a:lvl7pPr>
            <a:lvl8pPr algn="l">
              <a:defRPr sz="1200" b="1">
                <a:solidFill>
                  <a:srgbClr val="27343A"/>
                </a:solidFill>
              </a:defRPr>
            </a:lvl8pPr>
            <a:lvl9pPr algn="l">
              <a:defRPr sz="1200" b="1">
                <a:solidFill>
                  <a:srgbClr val="27343A"/>
                </a:solidFill>
              </a:defRPr>
            </a:lvl9pPr>
          </a:lstStyle>
          <a:p>
            <a:pPr algn="l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Live AMS model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CFC7CF-0324-40B5-B9B3-EDEFB654FF53}"/>
              </a:ext>
            </a:extLst>
          </p:cNvPr>
          <p:cNvSpPr>
            <a:spLocks noGrp="1"/>
          </p:cNvSpPr>
          <p:nvPr/>
        </p:nvSpPr>
        <p:spPr>
          <a:xfrm>
            <a:off x="5257800" y="34766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0">
                <a:solidFill>
                  <a:srgbClr val="5B6266"/>
                </a:solidFill>
              </a:defRPr>
            </a:defPPr>
            <a:lvl1pPr algn="l">
              <a:defRPr sz="1050" b="0">
                <a:solidFill>
                  <a:srgbClr val="5B6266"/>
                </a:solidFill>
              </a:defRPr>
            </a:lvl1pPr>
            <a:lvl2pPr algn="l">
              <a:defRPr sz="1050" b="0">
                <a:solidFill>
                  <a:srgbClr val="5B6266"/>
                </a:solidFill>
              </a:defRPr>
            </a:lvl2pPr>
            <a:lvl3pPr algn="l">
              <a:defRPr sz="1050" b="0">
                <a:solidFill>
                  <a:srgbClr val="5B6266"/>
                </a:solidFill>
              </a:defRPr>
            </a:lvl3pPr>
            <a:lvl4pPr algn="l">
              <a:defRPr sz="1050" b="0">
                <a:solidFill>
                  <a:srgbClr val="5B6266"/>
                </a:solidFill>
              </a:defRPr>
            </a:lvl4pPr>
            <a:lvl5pPr algn="l">
              <a:defRPr sz="1050" b="0">
                <a:solidFill>
                  <a:srgbClr val="5B6266"/>
                </a:solidFill>
              </a:defRPr>
            </a:lvl5pPr>
            <a:lvl6pPr algn="l">
              <a:defRPr sz="1050" b="0">
                <a:solidFill>
                  <a:srgbClr val="5B6266"/>
                </a:solidFill>
              </a:defRPr>
            </a:lvl6pPr>
            <a:lvl7pPr algn="l">
              <a:defRPr sz="1050" b="0">
                <a:solidFill>
                  <a:srgbClr val="5B6266"/>
                </a:solidFill>
              </a:defRPr>
            </a:lvl7pPr>
            <a:lvl8pPr algn="l">
              <a:defRPr sz="1050" b="0">
                <a:solidFill>
                  <a:srgbClr val="5B6266"/>
                </a:solidFill>
              </a:defRPr>
            </a:lvl8pPr>
            <a:lvl9pPr algn="l">
              <a:defRPr sz="1050" b="0">
                <a:solidFill>
                  <a:srgbClr val="5B6266"/>
                </a:solidFill>
              </a:defRPr>
            </a:lvl9pPr>
          </a:lstStyle>
          <a:p>
            <a:pPr algn="l">
              <a:defRPr sz="1050" b="0">
                <a:solidFill>
                  <a:srgbClr val="5B6266"/>
                </a:solidFill>
              </a:defRPr>
            </a:pPr>
            <a:r>
              <a:rPr sz="1050" b="0">
                <a:solidFill>
                  <a:srgbClr val="5B6266"/>
                </a:solidFill>
              </a:rPr>
              <a:t>Only validated, routine-compatible edits are applied.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D6B06-8560-4172-9AE3-EA8141D51194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238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E86B16"/>
                </a:solidFill>
              </a:defRPr>
            </a:defPPr>
            <a:lvl1pPr algn="l">
              <a:defRPr sz="900" b="1">
                <a:solidFill>
                  <a:srgbClr val="E86B16"/>
                </a:solidFill>
              </a:defRPr>
            </a:lvl1pPr>
            <a:lvl2pPr algn="l">
              <a:defRPr sz="900" b="1">
                <a:solidFill>
                  <a:srgbClr val="E86B16"/>
                </a:solidFill>
              </a:defRPr>
            </a:lvl2pPr>
            <a:lvl3pPr algn="l">
              <a:defRPr sz="900" b="1">
                <a:solidFill>
                  <a:srgbClr val="E86B16"/>
                </a:solidFill>
              </a:defRPr>
            </a:lvl3pPr>
            <a:lvl4pPr algn="l">
              <a:defRPr sz="900" b="1">
                <a:solidFill>
                  <a:srgbClr val="E86B16"/>
                </a:solidFill>
              </a:defRPr>
            </a:lvl4pPr>
            <a:lvl5pPr algn="l">
              <a:defRPr sz="900" b="1">
                <a:solidFill>
                  <a:srgbClr val="E86B16"/>
                </a:solidFill>
              </a:defRPr>
            </a:lvl5pPr>
            <a:lvl6pPr algn="l">
              <a:defRPr sz="900" b="1">
                <a:solidFill>
                  <a:srgbClr val="E86B16"/>
                </a:solidFill>
              </a:defRPr>
            </a:lvl6pPr>
            <a:lvl7pPr algn="l">
              <a:defRPr sz="900" b="1">
                <a:solidFill>
                  <a:srgbClr val="E86B16"/>
                </a:solidFill>
              </a:defRPr>
            </a:lvl7pPr>
            <a:lvl8pPr algn="l">
              <a:defRPr sz="900" b="1">
                <a:solidFill>
                  <a:srgbClr val="E86B16"/>
                </a:solidFill>
              </a:defRPr>
            </a:lvl8pPr>
            <a:lvl9pPr algn="l">
              <a:defRPr sz="900" b="1">
                <a:solidFill>
                  <a:srgbClr val="E86B16"/>
                </a:solidFill>
              </a:defRPr>
            </a:lvl9pPr>
          </a:lstStyle>
          <a:p>
            <a:pPr algn="l">
              <a:defRPr sz="900" b="1">
                <a:solidFill>
                  <a:srgbClr val="E86B16"/>
                </a:solidFill>
              </a:defRPr>
            </a:pPr>
            <a:r>
              <a:rPr sz="900" b="1">
                <a:solidFill>
                  <a:srgbClr val="E86B16"/>
                </a:solidFill>
              </a:rPr>
              <a:t>Design direction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07A49C3-15C3-42EF-87BE-4CBB3EA01C39}"/>
              </a:ext>
            </a:extLst>
          </p:cNvPr>
          <p:cNvSpPr>
            <a:spLocks noGrp="1"/>
          </p:cNvSpPr>
          <p:nvPr/>
        </p:nvSpPr>
        <p:spPr>
          <a:xfrm>
            <a:off x="1809750" y="4371975"/>
            <a:ext cx="666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27343A"/>
                </a:solidFill>
              </a:defRPr>
            </a:defPPr>
            <a:lvl1pPr algn="l">
              <a:defRPr sz="1125" b="0">
                <a:solidFill>
                  <a:srgbClr val="27343A"/>
                </a:solidFill>
              </a:defRPr>
            </a:lvl1pPr>
            <a:lvl2pPr algn="l">
              <a:defRPr sz="1125" b="0">
                <a:solidFill>
                  <a:srgbClr val="27343A"/>
                </a:solidFill>
              </a:defRPr>
            </a:lvl2pPr>
            <a:lvl3pPr algn="l">
              <a:defRPr sz="1125" b="0">
                <a:solidFill>
                  <a:srgbClr val="27343A"/>
                </a:solidFill>
              </a:defRPr>
            </a:lvl3pPr>
            <a:lvl4pPr algn="l">
              <a:defRPr sz="1125" b="0">
                <a:solidFill>
                  <a:srgbClr val="27343A"/>
                </a:solidFill>
              </a:defRPr>
            </a:lvl4pPr>
            <a:lvl5pPr algn="l">
              <a:defRPr sz="1125" b="0">
                <a:solidFill>
                  <a:srgbClr val="27343A"/>
                </a:solidFill>
              </a:defRPr>
            </a:lvl5pPr>
            <a:lvl6pPr algn="l">
              <a:defRPr sz="1125" b="0">
                <a:solidFill>
                  <a:srgbClr val="27343A"/>
                </a:solidFill>
              </a:defRPr>
            </a:lvl6pPr>
            <a:lvl7pPr algn="l">
              <a:defRPr sz="1125" b="0">
                <a:solidFill>
                  <a:srgbClr val="27343A"/>
                </a:solidFill>
              </a:defRPr>
            </a:lvl7pPr>
            <a:lvl8pPr algn="l">
              <a:defRPr sz="1125" b="0">
                <a:solidFill>
                  <a:srgbClr val="27343A"/>
                </a:solidFill>
              </a:defRPr>
            </a:lvl8pPr>
            <a:lvl9pPr algn="l">
              <a:defRPr sz="1125" b="0">
                <a:solidFill>
                  <a:srgbClr val="27343A"/>
                </a:solidFill>
              </a:defRPr>
            </a:lvl9pPr>
          </a:lstStyle>
          <a:p>
            <a:pPr algn="l">
              <a:defRPr sz="1125" b="0">
                <a:solidFill>
                  <a:srgbClr val="27343A"/>
                </a:solidFill>
              </a:defRPr>
            </a:pPr>
            <a:r>
              <a:rPr sz="1125" b="0">
                <a:solidFill>
                  <a:srgbClr val="27343A"/>
                </a:solidFill>
              </a:rPr>
              <a:t>Replace one-off executor branches with configuration-driven, validated operations.</a:t>
            </a:r>
          </a:p>
        </p:txBody>
      </p:sp>
    </p:spTree>
    <p:extLst>
      <p:ext uri="{BB962C8B-B14F-4D97-AF65-F5344CB8AC3E}">
        <p14:creationId xmlns:p14="http://schemas.microsoft.com/office/powerpoint/2010/main" val="1039253825"/>
      </p:ext>
    </p:extLst>
  </p:cSld>
  <p:clrMapOvr>
    <a:masterClrMapping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49307D-1CA4-4AFA-A101-A8C7F634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08000"/>
                </a:solidFill>
              </a:defRPr>
            </a:defPPr>
            <a:lvl1pPr algn="l">
              <a:defRPr sz="2550" b="1">
                <a:solidFill>
                  <a:srgbClr val="008000"/>
                </a:solidFill>
              </a:defRPr>
            </a:lvl1pPr>
            <a:lvl2pPr algn="l">
              <a:defRPr sz="2550" b="1">
                <a:solidFill>
                  <a:srgbClr val="008000"/>
                </a:solidFill>
              </a:defRPr>
            </a:lvl2pPr>
            <a:lvl3pPr algn="l">
              <a:defRPr sz="2550" b="1">
                <a:solidFill>
                  <a:srgbClr val="008000"/>
                </a:solidFill>
              </a:defRPr>
            </a:lvl3pPr>
            <a:lvl4pPr algn="l">
              <a:defRPr sz="2550" b="1">
                <a:solidFill>
                  <a:srgbClr val="008000"/>
                </a:solidFill>
              </a:defRPr>
            </a:lvl4pPr>
            <a:lvl5pPr algn="l">
              <a:defRPr sz="2550" b="1">
                <a:solidFill>
                  <a:srgbClr val="008000"/>
                </a:solidFill>
              </a:defRPr>
            </a:lvl5pPr>
            <a:lvl6pPr algn="l">
              <a:defRPr sz="2550" b="1">
                <a:solidFill>
                  <a:srgbClr val="008000"/>
                </a:solidFill>
              </a:defRPr>
            </a:lvl6pPr>
            <a:lvl7pPr algn="l">
              <a:defRPr sz="2550" b="1">
                <a:solidFill>
                  <a:srgbClr val="008000"/>
                </a:solidFill>
              </a:defRPr>
            </a:lvl7pPr>
            <a:lvl8pPr algn="l">
              <a:defRPr sz="2550" b="1">
                <a:solidFill>
                  <a:srgbClr val="008000"/>
                </a:solidFill>
              </a:defRPr>
            </a:lvl8pPr>
            <a:lvl9pPr algn="l">
              <a:defRPr sz="255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08000"/>
                </a:solidFill>
              </a:defRPr>
            </a:pPr>
            <a:r>
              <a:rPr sz="2550" b="1">
                <a:solidFill>
                  <a:srgbClr val="008000"/>
                </a:solidFill>
              </a:rPr>
              <a:t>Revise parameter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5E206-70F0-45C8-B7F7-8761A20B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465CC-45B2-41AE-9B98-A8481A2C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76168"/>
                </a:solidFill>
              </a:defRPr>
            </a:defPPr>
            <a:lvl1pPr algn="l">
              <a:defRPr sz="1200" b="0">
                <a:solidFill>
                  <a:srgbClr val="576168"/>
                </a:solidFill>
              </a:defRPr>
            </a:lvl1pPr>
            <a:lvl2pPr algn="l">
              <a:defRPr sz="1200" b="0">
                <a:solidFill>
                  <a:srgbClr val="576168"/>
                </a:solidFill>
              </a:defRPr>
            </a:lvl2pPr>
            <a:lvl3pPr algn="l">
              <a:defRPr sz="1200" b="0">
                <a:solidFill>
                  <a:srgbClr val="576168"/>
                </a:solidFill>
              </a:defRPr>
            </a:lvl3pPr>
            <a:lvl4pPr algn="l">
              <a:defRPr sz="1200" b="0">
                <a:solidFill>
                  <a:srgbClr val="576168"/>
                </a:solidFill>
              </a:defRPr>
            </a:lvl4pPr>
            <a:lvl5pPr algn="l">
              <a:defRPr sz="1200" b="0">
                <a:solidFill>
                  <a:srgbClr val="576168"/>
                </a:solidFill>
              </a:defRPr>
            </a:lvl5pPr>
            <a:lvl6pPr algn="l">
              <a:defRPr sz="1200" b="0">
                <a:solidFill>
                  <a:srgbClr val="576168"/>
                </a:solidFill>
              </a:defRPr>
            </a:lvl6pPr>
            <a:lvl7pPr algn="l">
              <a:defRPr sz="1200" b="0">
                <a:solidFill>
                  <a:srgbClr val="576168"/>
                </a:solidFill>
              </a:defRPr>
            </a:lvl7pPr>
            <a:lvl8pPr algn="l">
              <a:defRPr sz="1200" b="0">
                <a:solidFill>
                  <a:srgbClr val="576168"/>
                </a:solidFill>
              </a:defRPr>
            </a:lvl8pPr>
            <a:lvl9pPr algn="l">
              <a:defRPr sz="1200" b="0">
                <a:solidFill>
                  <a:srgbClr val="576168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76168"/>
                </a:solidFill>
              </a:defRPr>
            </a:pPr>
            <a:r>
              <a:rPr sz="1200" b="0">
                <a:solidFill>
                  <a:srgbClr val="576168"/>
                </a:solidFill>
              </a:rPr>
              <a:t>Classify controls by their effect on data, constraints, and decision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C808-0DB3-4FEA-982B-BF16D639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8305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1"/>
          </a:solidFill>
          <a:ln xmlns:a="http://schemas.openxmlformats.org/drawingml/2006/main" w="9525">
            <a:solidFill>
              <a:srgbClr val="D2DB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8941D-BB52-4034-A800-8E7E15CD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57275"/>
            <a:ext cx="140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C5E05-3E7E-41E9-964F-5168EA3C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057275"/>
            <a:ext cx="2447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CURRENT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A6AA6-C224-4515-B750-50B957E5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57275"/>
            <a:ext cx="3933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08000"/>
                </a:solidFill>
              </a:defRPr>
            </a:defPPr>
            <a:lvl1pPr algn="l">
              <a:defRPr sz="900" b="1">
                <a:solidFill>
                  <a:srgbClr val="008000"/>
                </a:solidFill>
              </a:defRPr>
            </a:lvl1pPr>
            <a:lvl2pPr algn="l">
              <a:defRPr sz="900" b="1">
                <a:solidFill>
                  <a:srgbClr val="008000"/>
                </a:solidFill>
              </a:defRPr>
            </a:lvl2pPr>
            <a:lvl3pPr algn="l">
              <a:defRPr sz="900" b="1">
                <a:solidFill>
                  <a:srgbClr val="008000"/>
                </a:solidFill>
              </a:defRPr>
            </a:lvl3pPr>
            <a:lvl4pPr algn="l">
              <a:defRPr sz="900" b="1">
                <a:solidFill>
                  <a:srgbClr val="008000"/>
                </a:solidFill>
              </a:defRPr>
            </a:lvl4pPr>
            <a:lvl5pPr algn="l">
              <a:defRPr sz="900" b="1">
                <a:solidFill>
                  <a:srgbClr val="008000"/>
                </a:solidFill>
              </a:defRPr>
            </a:lvl5pPr>
            <a:lvl6pPr algn="l">
              <a:defRPr sz="900" b="1">
                <a:solidFill>
                  <a:srgbClr val="008000"/>
                </a:solidFill>
              </a:defRPr>
            </a:lvl6pPr>
            <a:lvl7pPr algn="l">
              <a:defRPr sz="900" b="1">
                <a:solidFill>
                  <a:srgbClr val="008000"/>
                </a:solidFill>
              </a:defRPr>
            </a:lvl7pPr>
            <a:lvl8pPr algn="l">
              <a:defRPr sz="900" b="1">
                <a:solidFill>
                  <a:srgbClr val="008000"/>
                </a:solidFill>
              </a:defRPr>
            </a:lvl8pPr>
            <a:lvl9pPr algn="l">
              <a:defRPr sz="900" b="1">
                <a:solidFill>
                  <a:srgbClr val="00800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08000"/>
                </a:solidFill>
              </a:defRPr>
            </a:pPr>
            <a:r>
              <a:rPr sz="900" b="1">
                <a:solidFill>
                  <a:srgbClr val="008000"/>
                </a:solidFill>
              </a:rPr>
              <a:t>EFFECT ON THE OPTIMIZATION MODEL</a:t>
            </a:r>
          </a:p>
        </p:txBody>
      </p:sp>
      <p:sp>
        <p:nvSpPr>
          <p:cNvPr id="8" name="Row 1">
            <a:extLst xmlns:a="http://schemas.openxmlformats.org/drawingml/2006/main">
              <a:ext uri="{FF2B5EF4-FFF2-40B4-BE49-F238E27FC236}">
                <a16:creationId xmlns:a16="http://schemas.microsoft.com/office/drawing/2014/main" id="{FD5059EF-36A1-467B-929F-613D149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04925"/>
            <a:ext cx="8305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2E01B-5BF9-482E-9037-B6235077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04925"/>
            <a:ext cx="1581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C4730-9290-4ACE-AEC3-765BE03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049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2CE65-94D7-4686-B99B-907EEF4C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049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3D995-5986-4B13-A214-177A17D5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43025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Input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DE99E-404E-470C-9FEF-B67AFA66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567986"/>
                </a:solidFill>
              </a:defRPr>
            </a:defPPr>
            <a:lvl1pPr algn="l">
              <a:defRPr sz="788" b="1">
                <a:solidFill>
                  <a:srgbClr val="567986"/>
                </a:solidFill>
              </a:defRPr>
            </a:lvl1pPr>
            <a:lvl2pPr algn="l">
              <a:defRPr sz="788" b="1">
                <a:solidFill>
                  <a:srgbClr val="567986"/>
                </a:solidFill>
              </a:defRPr>
            </a:lvl2pPr>
            <a:lvl3pPr algn="l">
              <a:defRPr sz="788" b="1">
                <a:solidFill>
                  <a:srgbClr val="567986"/>
                </a:solidFill>
              </a:defRPr>
            </a:lvl3pPr>
            <a:lvl4pPr algn="l">
              <a:defRPr sz="788" b="1">
                <a:solidFill>
                  <a:srgbClr val="567986"/>
                </a:solidFill>
              </a:defRPr>
            </a:lvl4pPr>
            <a:lvl5pPr algn="l">
              <a:defRPr sz="788" b="1">
                <a:solidFill>
                  <a:srgbClr val="567986"/>
                </a:solidFill>
              </a:defRPr>
            </a:lvl5pPr>
            <a:lvl6pPr algn="l">
              <a:defRPr sz="788" b="1">
                <a:solidFill>
                  <a:srgbClr val="567986"/>
                </a:solidFill>
              </a:defRPr>
            </a:lvl6pPr>
            <a:lvl7pPr algn="l">
              <a:defRPr sz="788" b="1">
                <a:solidFill>
                  <a:srgbClr val="567986"/>
                </a:solidFill>
              </a:defRPr>
            </a:lvl7pPr>
            <a:lvl8pPr algn="l">
              <a:defRPr sz="788" b="1">
                <a:solidFill>
                  <a:srgbClr val="567986"/>
                </a:solidFill>
              </a:defRPr>
            </a:lvl8pPr>
            <a:lvl9pPr algn="l">
              <a:defRPr sz="788" b="1">
                <a:solidFill>
                  <a:srgbClr val="567986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567986"/>
                </a:solidFill>
              </a:defRPr>
            </a:pPr>
            <a:r>
              <a:rPr sz="788" b="1">
                <a:solidFill>
                  <a:srgbClr val="567986"/>
                </a:solidFill>
              </a:rPr>
              <a:t>scenario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CEF6C-E829-4780-9035-1510133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333500"/>
            <a:ext cx="2447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scale_pq_load — PQ_1 +10%</a:t>
            </a:r>
          </a:p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set_line_rate — Line_1 rate_a = 0.9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EE719-0BBB-4DC4-8A4E-DF3F5503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333500"/>
            <a:ext cx="3933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Updates demand or line limits. Existing variables, objective terms, and constraint definitions remain; changed limits may still alter the feasible region.</a:t>
            </a:r>
          </a:p>
        </p:txBody>
      </p:sp>
      <p:sp>
        <p:nvSpPr>
          <p:cNvPr id="16" name="Row 2">
            <a:extLst xmlns:a="http://schemas.openxmlformats.org/drawingml/2006/main">
              <a:ext uri="{FF2B5EF4-FFF2-40B4-BE49-F238E27FC236}">
                <a16:creationId xmlns:a16="http://schemas.microsoft.com/office/drawing/2014/main" id="{E7E7636C-D1C1-4AA6-A4CF-6F7B09C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8305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A3467-4219-4BE8-9385-3AE1B9B0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1581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9A8FF-C92E-4D77-9BE1-8F645475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FD090-4F7B-4DA7-BC97-4B1F5B9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478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24DAD-5094-4183-B913-363300F5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85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Device / topology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A045B-A8AA-40FB-A2E2-422DEEC8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717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567986"/>
                </a:solidFill>
              </a:defRPr>
            </a:defPPr>
            <a:lvl1pPr algn="l">
              <a:defRPr sz="788" b="1">
                <a:solidFill>
                  <a:srgbClr val="567986"/>
                </a:solidFill>
              </a:defRPr>
            </a:lvl1pPr>
            <a:lvl2pPr algn="l">
              <a:defRPr sz="788" b="1">
                <a:solidFill>
                  <a:srgbClr val="567986"/>
                </a:solidFill>
              </a:defRPr>
            </a:lvl2pPr>
            <a:lvl3pPr algn="l">
              <a:defRPr sz="788" b="1">
                <a:solidFill>
                  <a:srgbClr val="567986"/>
                </a:solidFill>
              </a:defRPr>
            </a:lvl3pPr>
            <a:lvl4pPr algn="l">
              <a:defRPr sz="788" b="1">
                <a:solidFill>
                  <a:srgbClr val="567986"/>
                </a:solidFill>
              </a:defRPr>
            </a:lvl4pPr>
            <a:lvl5pPr algn="l">
              <a:defRPr sz="788" b="1">
                <a:solidFill>
                  <a:srgbClr val="567986"/>
                </a:solidFill>
              </a:defRPr>
            </a:lvl5pPr>
            <a:lvl6pPr algn="l">
              <a:defRPr sz="788" b="1">
                <a:solidFill>
                  <a:srgbClr val="567986"/>
                </a:solidFill>
              </a:defRPr>
            </a:lvl6pPr>
            <a:lvl7pPr algn="l">
              <a:defRPr sz="788" b="1">
                <a:solidFill>
                  <a:srgbClr val="567986"/>
                </a:solidFill>
              </a:defRPr>
            </a:lvl7pPr>
            <a:lvl8pPr algn="l">
              <a:defRPr sz="788" b="1">
                <a:solidFill>
                  <a:srgbClr val="567986"/>
                </a:solidFill>
              </a:defRPr>
            </a:lvl8pPr>
            <a:lvl9pPr algn="l">
              <a:defRPr sz="788" b="1">
                <a:solidFill>
                  <a:srgbClr val="567986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567986"/>
                </a:solidFill>
              </a:defRPr>
            </a:pPr>
            <a:r>
              <a:rPr sz="788" b="1">
                <a:solidFill>
                  <a:srgbClr val="567986"/>
                </a:solidFill>
              </a:rPr>
              <a:t>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A2893-1778-4451-AB65-F61CB581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876425"/>
            <a:ext cx="2447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set_line_status — open Line_1</a:t>
            </a:r>
          </a:p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set_generator_status — disable unit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1A63B-624E-4AEF-A5B6-22E33009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76425"/>
            <a:ext cx="3933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Changes device availability, network state, and solve inputs. Results can shift without adding a decision-variable class.</a:t>
            </a:r>
          </a:p>
        </p:txBody>
      </p:sp>
      <p:sp>
        <p:nvSpPr>
          <p:cNvPr id="24" name="Row 3">
            <a:extLst xmlns:a="http://schemas.openxmlformats.org/drawingml/2006/main">
              <a:ext uri="{FF2B5EF4-FFF2-40B4-BE49-F238E27FC236}">
                <a16:creationId xmlns:a16="http://schemas.microsoft.com/office/drawing/2014/main" id="{3FD03965-E47C-4339-BCAB-5BABA010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52675"/>
            <a:ext cx="830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85819-23C1-4D9D-8262-F8D9D6DF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52675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41484-1050-4ED9-9F46-56C7886C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9183AC-B005-4161-961A-2518B7A6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526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F80C1B-B494-4636-9C30-AD33229C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90775"/>
            <a:ext cx="1409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Routine settings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A43F4-FF2D-496D-842C-0E72A25F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4795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567986"/>
                </a:solidFill>
              </a:defRPr>
            </a:defPPr>
            <a:lvl1pPr algn="l">
              <a:defRPr sz="788" b="1">
                <a:solidFill>
                  <a:srgbClr val="567986"/>
                </a:solidFill>
              </a:defRPr>
            </a:lvl1pPr>
            <a:lvl2pPr algn="l">
              <a:defRPr sz="788" b="1">
                <a:solidFill>
                  <a:srgbClr val="567986"/>
                </a:solidFill>
              </a:defRPr>
            </a:lvl2pPr>
            <a:lvl3pPr algn="l">
              <a:defRPr sz="788" b="1">
                <a:solidFill>
                  <a:srgbClr val="567986"/>
                </a:solidFill>
              </a:defRPr>
            </a:lvl3pPr>
            <a:lvl4pPr algn="l">
              <a:defRPr sz="788" b="1">
                <a:solidFill>
                  <a:srgbClr val="567986"/>
                </a:solidFill>
              </a:defRPr>
            </a:lvl4pPr>
            <a:lvl5pPr algn="l">
              <a:defRPr sz="788" b="1">
                <a:solidFill>
                  <a:srgbClr val="567986"/>
                </a:solidFill>
              </a:defRPr>
            </a:lvl5pPr>
            <a:lvl6pPr algn="l">
              <a:defRPr sz="788" b="1">
                <a:solidFill>
                  <a:srgbClr val="567986"/>
                </a:solidFill>
              </a:defRPr>
            </a:lvl6pPr>
            <a:lvl7pPr algn="l">
              <a:defRPr sz="788" b="1">
                <a:solidFill>
                  <a:srgbClr val="567986"/>
                </a:solidFill>
              </a:defRPr>
            </a:lvl7pPr>
            <a:lvl8pPr algn="l">
              <a:defRPr sz="788" b="1">
                <a:solidFill>
                  <a:srgbClr val="567986"/>
                </a:solidFill>
              </a:defRPr>
            </a:lvl8pPr>
            <a:lvl9pPr algn="l">
              <a:defRPr sz="788" b="1">
                <a:solidFill>
                  <a:srgbClr val="567986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567986"/>
                </a:solidFill>
              </a:defRPr>
            </a:pPr>
            <a:r>
              <a:rPr sz="788" b="1">
                <a:solidFill>
                  <a:srgbClr val="567986"/>
                </a:solidFill>
              </a:rPr>
              <a:t>scenario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E73AF1-D5FA-44A8-8526-3AC5488E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812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set_config_t — ED interval = 0.5 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41576-19B7-4EFD-9606-82B35997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3933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Changes the active routine’s time setting and rebuilds its model; adds no custom objective term or constraint.</a:t>
            </a:r>
          </a:p>
        </p:txBody>
      </p:sp>
      <p:sp>
        <p:nvSpPr>
          <p:cNvPr id="32" name="Row 4">
            <a:extLst xmlns:a="http://schemas.openxmlformats.org/drawingml/2006/main">
              <a:ext uri="{FF2B5EF4-FFF2-40B4-BE49-F238E27FC236}">
                <a16:creationId xmlns:a16="http://schemas.microsoft.com/office/drawing/2014/main" id="{4AD5E4C1-59BF-4DF3-841A-111075D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28925"/>
            <a:ext cx="8305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6E8CC-DCF4-42AE-9B6D-05AA3BF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28925"/>
            <a:ext cx="158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CEAF14-5E6F-4CE0-B7F4-283EDE9F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B3E55E-09E8-4CA2-84DD-A98612BF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289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F440F8-F0BF-4FA0-B15F-D3546D0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8670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Existing constraint toggles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C78760-E928-4A69-9D52-306AF733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7182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B85B1C"/>
                </a:solidFill>
              </a:defRPr>
            </a:defPPr>
            <a:lvl1pPr algn="l">
              <a:defRPr sz="788" b="1">
                <a:solidFill>
                  <a:srgbClr val="B85B1C"/>
                </a:solidFill>
              </a:defRPr>
            </a:lvl1pPr>
            <a:lvl2pPr algn="l">
              <a:defRPr sz="788" b="1">
                <a:solidFill>
                  <a:srgbClr val="B85B1C"/>
                </a:solidFill>
              </a:defRPr>
            </a:lvl2pPr>
            <a:lvl3pPr algn="l">
              <a:defRPr sz="788" b="1">
                <a:solidFill>
                  <a:srgbClr val="B85B1C"/>
                </a:solidFill>
              </a:defRPr>
            </a:lvl3pPr>
            <a:lvl4pPr algn="l">
              <a:defRPr sz="788" b="1">
                <a:solidFill>
                  <a:srgbClr val="B85B1C"/>
                </a:solidFill>
              </a:defRPr>
            </a:lvl4pPr>
            <a:lvl5pPr algn="l">
              <a:defRPr sz="788" b="1">
                <a:solidFill>
                  <a:srgbClr val="B85B1C"/>
                </a:solidFill>
              </a:defRPr>
            </a:lvl5pPr>
            <a:lvl6pPr algn="l">
              <a:defRPr sz="788" b="1">
                <a:solidFill>
                  <a:srgbClr val="B85B1C"/>
                </a:solidFill>
              </a:defRPr>
            </a:lvl6pPr>
            <a:lvl7pPr algn="l">
              <a:defRPr sz="788" b="1">
                <a:solidFill>
                  <a:srgbClr val="B85B1C"/>
                </a:solidFill>
              </a:defRPr>
            </a:lvl7pPr>
            <a:lvl8pPr algn="l">
              <a:defRPr sz="788" b="1">
                <a:solidFill>
                  <a:srgbClr val="B85B1C"/>
                </a:solidFill>
              </a:defRPr>
            </a:lvl8pPr>
            <a:lvl9pPr algn="l">
              <a:defRPr sz="788" b="1">
                <a:solidFill>
                  <a:srgbClr val="B85B1C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B85B1C"/>
                </a:solidFill>
              </a:defRPr>
            </a:pPr>
            <a:r>
              <a:rPr sz="788" b="1">
                <a:solidFill>
                  <a:srgbClr val="B85B1C"/>
                </a:solidFill>
              </a:rPr>
              <a:t>formulation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7E25DC-33B7-4F1C-ADCE-82E210B7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57500"/>
            <a:ext cx="2447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set_constraint_status — disable plfub</a:t>
            </a:r>
          </a:p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set_ramping_status — disable ED ramping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EB77E4-9E57-4A80-BFF5-597E2634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3933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Changes which existing constraints participate in the solve. This is a formulation change; no new constraint is defined.</a:t>
            </a:r>
          </a:p>
        </p:txBody>
      </p:sp>
      <p:sp>
        <p:nvSpPr>
          <p:cNvPr id="40" name="Row 5">
            <a:extLst xmlns:a="http://schemas.openxmlformats.org/drawingml/2006/main">
              <a:ext uri="{FF2B5EF4-FFF2-40B4-BE49-F238E27FC236}">
                <a16:creationId xmlns:a16="http://schemas.microsoft.com/office/drawing/2014/main" id="{AF8E80B5-C280-41E9-A44C-F77BCFB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830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A45AB2-0BD0-4CE1-BE1A-4626591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F24E29-757F-4990-993E-EF761C00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F1D7CD-A7A7-4391-B2EC-55CFDBD4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9D1C04-FB15-4F03-A108-E2E3EFA5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9090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Add objective / constraint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151CC3-538E-401C-8441-FAB27D19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86175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B85B1C"/>
                </a:solidFill>
              </a:defRPr>
            </a:defPPr>
            <a:lvl1pPr algn="l">
              <a:defRPr sz="788" b="1">
                <a:solidFill>
                  <a:srgbClr val="B85B1C"/>
                </a:solidFill>
              </a:defRPr>
            </a:lvl1pPr>
            <a:lvl2pPr algn="l">
              <a:defRPr sz="788" b="1">
                <a:solidFill>
                  <a:srgbClr val="B85B1C"/>
                </a:solidFill>
              </a:defRPr>
            </a:lvl2pPr>
            <a:lvl3pPr algn="l">
              <a:defRPr sz="788" b="1">
                <a:solidFill>
                  <a:srgbClr val="B85B1C"/>
                </a:solidFill>
              </a:defRPr>
            </a:lvl3pPr>
            <a:lvl4pPr algn="l">
              <a:defRPr sz="788" b="1">
                <a:solidFill>
                  <a:srgbClr val="B85B1C"/>
                </a:solidFill>
              </a:defRPr>
            </a:lvl4pPr>
            <a:lvl5pPr algn="l">
              <a:defRPr sz="788" b="1">
                <a:solidFill>
                  <a:srgbClr val="B85B1C"/>
                </a:solidFill>
              </a:defRPr>
            </a:lvl5pPr>
            <a:lvl6pPr algn="l">
              <a:defRPr sz="788" b="1">
                <a:solidFill>
                  <a:srgbClr val="B85B1C"/>
                </a:solidFill>
              </a:defRPr>
            </a:lvl6pPr>
            <a:lvl7pPr algn="l">
              <a:defRPr sz="788" b="1">
                <a:solidFill>
                  <a:srgbClr val="B85B1C"/>
                </a:solidFill>
              </a:defRPr>
            </a:lvl7pPr>
            <a:lvl8pPr algn="l">
              <a:defRPr sz="788" b="1">
                <a:solidFill>
                  <a:srgbClr val="B85B1C"/>
                </a:solidFill>
              </a:defRPr>
            </a:lvl8pPr>
            <a:lvl9pPr algn="l">
              <a:defRPr sz="788" b="1">
                <a:solidFill>
                  <a:srgbClr val="B85B1C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B85B1C"/>
                </a:solidFill>
              </a:defRPr>
            </a:pPr>
            <a:r>
              <a:rPr sz="788" b="1">
                <a:solidFill>
                  <a:srgbClr val="B85B1C"/>
                </a:solidFill>
              </a:rPr>
              <a:t>formulation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833304-7A9C-4DBF-B60F-B4214876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381375"/>
            <a:ext cx="2447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add_dispatch_cost</a:t>
            </a:r>
          </a:p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set_total_generation_cap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44DBD7-5D59-4C37-A51D-EDA1E1CD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81375"/>
            <a:ext cx="3933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First use adds an objective term or generation-cap constraint. Repeated use updates its coefficient or upper limit.</a:t>
            </a:r>
          </a:p>
        </p:txBody>
      </p:sp>
      <p:sp>
        <p:nvSpPr>
          <p:cNvPr id="48" name="Row 6">
            <a:extLst xmlns:a="http://schemas.openxmlformats.org/drawingml/2006/main">
              <a:ext uri="{FF2B5EF4-FFF2-40B4-BE49-F238E27FC236}">
                <a16:creationId xmlns:a16="http://schemas.microsoft.com/office/drawing/2014/main" id="{BBB1AAC5-1D2B-4987-AC93-C3CC5EDC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67150"/>
            <a:ext cx="8305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2DB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0DCEEC-2AB9-46CC-8681-69E25A70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67150"/>
            <a:ext cx="15811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9664E9-557F-4D97-B13A-DEBEEA22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95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88568A-1574-4205-9CE5-C29DB3C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67150"/>
            <a:ext cx="95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38EFF3-8225-46CC-8CEA-99F14C0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052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252A2D"/>
                </a:solidFill>
              </a:defRPr>
            </a:defPPr>
            <a:lvl1pPr algn="l">
              <a:defRPr sz="900" b="1">
                <a:solidFill>
                  <a:srgbClr val="252A2D"/>
                </a:solidFill>
              </a:defRPr>
            </a:lvl1pPr>
            <a:lvl2pPr algn="l">
              <a:defRPr sz="900" b="1">
                <a:solidFill>
                  <a:srgbClr val="252A2D"/>
                </a:solidFill>
              </a:defRPr>
            </a:lvl2pPr>
            <a:lvl3pPr algn="l">
              <a:defRPr sz="900" b="1">
                <a:solidFill>
                  <a:srgbClr val="252A2D"/>
                </a:solidFill>
              </a:defRPr>
            </a:lvl3pPr>
            <a:lvl4pPr algn="l">
              <a:defRPr sz="900" b="1">
                <a:solidFill>
                  <a:srgbClr val="252A2D"/>
                </a:solidFill>
              </a:defRPr>
            </a:lvl4pPr>
            <a:lvl5pPr algn="l">
              <a:defRPr sz="900" b="1">
                <a:solidFill>
                  <a:srgbClr val="252A2D"/>
                </a:solidFill>
              </a:defRPr>
            </a:lvl5pPr>
            <a:lvl6pPr algn="l">
              <a:defRPr sz="900" b="1">
                <a:solidFill>
                  <a:srgbClr val="252A2D"/>
                </a:solidFill>
              </a:defRPr>
            </a:lvl6pPr>
            <a:lvl7pPr algn="l">
              <a:defRPr sz="900" b="1">
                <a:solidFill>
                  <a:srgbClr val="252A2D"/>
                </a:solidFill>
              </a:defRPr>
            </a:lvl7pPr>
            <a:lvl8pPr algn="l">
              <a:defRPr sz="900" b="1">
                <a:solidFill>
                  <a:srgbClr val="252A2D"/>
                </a:solidFill>
              </a:defRPr>
            </a:lvl8pPr>
            <a:lvl9pPr algn="l">
              <a:defRPr sz="900" b="1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52A2D"/>
                </a:solidFill>
              </a:defRPr>
            </a:pPr>
            <a:r>
              <a:rPr sz="900" b="1">
                <a:solidFill>
                  <a:srgbClr val="252A2D"/>
                </a:solidFill>
              </a:rPr>
              <a:t>New variables + model rewrite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DD8020-150D-4D20-BC40-40F27614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88" b="1">
                <a:solidFill>
                  <a:srgbClr val="B85B1C"/>
                </a:solidFill>
              </a:defRPr>
            </a:defPPr>
            <a:lvl1pPr algn="l">
              <a:defRPr sz="788" b="1">
                <a:solidFill>
                  <a:srgbClr val="B85B1C"/>
                </a:solidFill>
              </a:defRPr>
            </a:lvl1pPr>
            <a:lvl2pPr algn="l">
              <a:defRPr sz="788" b="1">
                <a:solidFill>
                  <a:srgbClr val="B85B1C"/>
                </a:solidFill>
              </a:defRPr>
            </a:lvl2pPr>
            <a:lvl3pPr algn="l">
              <a:defRPr sz="788" b="1">
                <a:solidFill>
                  <a:srgbClr val="B85B1C"/>
                </a:solidFill>
              </a:defRPr>
            </a:lvl3pPr>
            <a:lvl4pPr algn="l">
              <a:defRPr sz="788" b="1">
                <a:solidFill>
                  <a:srgbClr val="B85B1C"/>
                </a:solidFill>
              </a:defRPr>
            </a:lvl4pPr>
            <a:lvl5pPr algn="l">
              <a:defRPr sz="788" b="1">
                <a:solidFill>
                  <a:srgbClr val="B85B1C"/>
                </a:solidFill>
              </a:defRPr>
            </a:lvl5pPr>
            <a:lvl6pPr algn="l">
              <a:defRPr sz="788" b="1">
                <a:solidFill>
                  <a:srgbClr val="B85B1C"/>
                </a:solidFill>
              </a:defRPr>
            </a:lvl6pPr>
            <a:lvl7pPr algn="l">
              <a:defRPr sz="788" b="1">
                <a:solidFill>
                  <a:srgbClr val="B85B1C"/>
                </a:solidFill>
              </a:defRPr>
            </a:lvl7pPr>
            <a:lvl8pPr algn="l">
              <a:defRPr sz="788" b="1">
                <a:solidFill>
                  <a:srgbClr val="B85B1C"/>
                </a:solidFill>
              </a:defRPr>
            </a:lvl8pPr>
            <a:lvl9pPr algn="l">
              <a:defRPr sz="788" b="1">
                <a:solidFill>
                  <a:srgbClr val="B85B1C"/>
                </a:solidFill>
              </a:defRPr>
            </a:lvl9pPr>
          </a:lstStyle>
          <a:p xmlns:a="http://schemas.openxmlformats.org/drawingml/2006/main">
            <a:pPr algn="l">
              <a:defRPr sz="788" b="1">
                <a:solidFill>
                  <a:srgbClr val="B85B1C"/>
                </a:solidFill>
              </a:defRPr>
            </a:pPr>
            <a:r>
              <a:rPr sz="788" b="1">
                <a:solidFill>
                  <a:srgbClr val="B85B1C"/>
                </a:solidFill>
              </a:rPr>
              <a:t>formulation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199E08-79BF-49B4-9216-A0338217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895725"/>
            <a:ext cx="2447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252A2D"/>
                </a:solidFill>
              </a:defRPr>
            </a:defPPr>
            <a:lvl1pPr algn="l">
              <a:defRPr sz="863" b="0">
                <a:solidFill>
                  <a:srgbClr val="252A2D"/>
                </a:solidFill>
              </a:defRPr>
            </a:lvl1pPr>
            <a:lvl2pPr algn="l">
              <a:defRPr sz="863" b="0">
                <a:solidFill>
                  <a:srgbClr val="252A2D"/>
                </a:solidFill>
              </a:defRPr>
            </a:lvl2pPr>
            <a:lvl3pPr algn="l">
              <a:defRPr sz="863" b="0">
                <a:solidFill>
                  <a:srgbClr val="252A2D"/>
                </a:solidFill>
              </a:defRPr>
            </a:lvl3pPr>
            <a:lvl4pPr algn="l">
              <a:defRPr sz="863" b="0">
                <a:solidFill>
                  <a:srgbClr val="252A2D"/>
                </a:solidFill>
              </a:defRPr>
            </a:lvl4pPr>
            <a:lvl5pPr algn="l">
              <a:defRPr sz="863" b="0">
                <a:solidFill>
                  <a:srgbClr val="252A2D"/>
                </a:solidFill>
              </a:defRPr>
            </a:lvl5pPr>
            <a:lvl6pPr algn="l">
              <a:defRPr sz="863" b="0">
                <a:solidFill>
                  <a:srgbClr val="252A2D"/>
                </a:solidFill>
              </a:defRPr>
            </a:lvl6pPr>
            <a:lvl7pPr algn="l">
              <a:defRPr sz="863" b="0">
                <a:solidFill>
                  <a:srgbClr val="252A2D"/>
                </a:solidFill>
              </a:defRPr>
            </a:lvl7pPr>
            <a:lvl8pPr algn="l">
              <a:defRPr sz="863" b="0">
                <a:solidFill>
                  <a:srgbClr val="252A2D"/>
                </a:solidFill>
              </a:defRPr>
            </a:lvl8pPr>
            <a:lvl9pPr algn="l">
              <a:defRPr sz="863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252A2D"/>
                </a:solidFill>
              </a:defRPr>
            </a:pPr>
            <a:r>
              <a:rPr sz="863" b="0">
                <a:solidFill>
                  <a:srgbClr val="252A2D"/>
                </a:solidFill>
              </a:rPr>
              <a:t>replace_generator_with_ibr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83C5D2-AA83-4CD0-8C25-D2FB51C1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95725"/>
            <a:ext cx="39338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85" b="0">
                <a:solidFill>
                  <a:srgbClr val="252A2D"/>
                </a:solidFill>
              </a:defRPr>
            </a:defPPr>
            <a:lvl1pPr algn="l">
              <a:defRPr sz="885" b="0">
                <a:solidFill>
                  <a:srgbClr val="252A2D"/>
                </a:solidFill>
              </a:defRPr>
            </a:lvl1pPr>
            <a:lvl2pPr algn="l">
              <a:defRPr sz="885" b="0">
                <a:solidFill>
                  <a:srgbClr val="252A2D"/>
                </a:solidFill>
              </a:defRPr>
            </a:lvl2pPr>
            <a:lvl3pPr algn="l">
              <a:defRPr sz="885" b="0">
                <a:solidFill>
                  <a:srgbClr val="252A2D"/>
                </a:solidFill>
              </a:defRPr>
            </a:lvl3pPr>
            <a:lvl4pPr algn="l">
              <a:defRPr sz="885" b="0">
                <a:solidFill>
                  <a:srgbClr val="252A2D"/>
                </a:solidFill>
              </a:defRPr>
            </a:lvl4pPr>
            <a:lvl5pPr algn="l">
              <a:defRPr sz="885" b="0">
                <a:solidFill>
                  <a:srgbClr val="252A2D"/>
                </a:solidFill>
              </a:defRPr>
            </a:lvl5pPr>
            <a:lvl6pPr algn="l">
              <a:defRPr sz="885" b="0">
                <a:solidFill>
                  <a:srgbClr val="252A2D"/>
                </a:solidFill>
              </a:defRPr>
            </a:lvl6pPr>
            <a:lvl7pPr algn="l">
              <a:defRPr sz="885" b="0">
                <a:solidFill>
                  <a:srgbClr val="252A2D"/>
                </a:solidFill>
              </a:defRPr>
            </a:lvl7pPr>
            <a:lvl8pPr algn="l">
              <a:defRPr sz="885" b="0">
                <a:solidFill>
                  <a:srgbClr val="252A2D"/>
                </a:solidFill>
              </a:defRPr>
            </a:lvl8pPr>
            <a:lvl9pPr algn="l">
              <a:defRPr sz="885" b="0">
                <a:solidFill>
                  <a:srgbClr val="252A2D"/>
                </a:solidFill>
              </a:defRPr>
            </a:lvl9pPr>
          </a:lstStyle>
          <a:p xmlns:a="http://schemas.openxmlformats.org/drawingml/2006/main">
            <a:pPr algn="l">
              <a:defRPr sz="885" b="0">
                <a:solidFill>
                  <a:srgbClr val="252A2D"/>
                </a:solidFill>
              </a:defRPr>
            </a:pPr>
            <a:r>
              <a:rPr sz="885" b="0">
                <a:solidFill>
                  <a:srgbClr val="252A2D"/>
                </a:solidFill>
              </a:rPr>
              <a:t>DCOPF adds pibr / pcurt, availability limits, and cost terms, then rewrites nodal power balance (active-power scope).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2FF1FD-13BB-4598-9E9B-9695955B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5148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13" b="0">
                <a:solidFill>
                  <a:srgbClr val="576168"/>
                </a:solidFill>
              </a:defRPr>
            </a:defPPr>
            <a:lvl1pPr algn="l">
              <a:defRPr sz="713" b="0">
                <a:solidFill>
                  <a:srgbClr val="576168"/>
                </a:solidFill>
              </a:defRPr>
            </a:lvl1pPr>
            <a:lvl2pPr algn="l">
              <a:defRPr sz="713" b="0">
                <a:solidFill>
                  <a:srgbClr val="576168"/>
                </a:solidFill>
              </a:defRPr>
            </a:lvl2pPr>
            <a:lvl3pPr algn="l">
              <a:defRPr sz="713" b="0">
                <a:solidFill>
                  <a:srgbClr val="576168"/>
                </a:solidFill>
              </a:defRPr>
            </a:lvl3pPr>
            <a:lvl4pPr algn="l">
              <a:defRPr sz="713" b="0">
                <a:solidFill>
                  <a:srgbClr val="576168"/>
                </a:solidFill>
              </a:defRPr>
            </a:lvl4pPr>
            <a:lvl5pPr algn="l">
              <a:defRPr sz="713" b="0">
                <a:solidFill>
                  <a:srgbClr val="576168"/>
                </a:solidFill>
              </a:defRPr>
            </a:lvl5pPr>
            <a:lvl6pPr algn="l">
              <a:defRPr sz="713" b="0">
                <a:solidFill>
                  <a:srgbClr val="576168"/>
                </a:solidFill>
              </a:defRPr>
            </a:lvl6pPr>
            <a:lvl7pPr algn="l">
              <a:defRPr sz="713" b="0">
                <a:solidFill>
                  <a:srgbClr val="576168"/>
                </a:solidFill>
              </a:defRPr>
            </a:lvl7pPr>
            <a:lvl8pPr algn="l">
              <a:defRPr sz="713" b="0">
                <a:solidFill>
                  <a:srgbClr val="576168"/>
                </a:solidFill>
              </a:defRPr>
            </a:lvl8pPr>
            <a:lvl9pPr algn="l">
              <a:defRPr sz="713" b="0">
                <a:solidFill>
                  <a:srgbClr val="576168"/>
                </a:solidFill>
              </a:defRPr>
            </a:lvl9pPr>
          </a:lstStyle>
          <a:p xmlns:a="http://schemas.openxmlformats.org/drawingml/2006/main">
            <a:pPr algn="l">
              <a:defRPr sz="713" b="0">
                <a:solidFill>
                  <a:srgbClr val="576168"/>
                </a:solidFill>
              </a:defRPr>
            </a:pPr>
            <a:r>
              <a:rPr sz="713" b="0">
                <a:solidFill>
                  <a:srgbClr val="576168"/>
                </a:solidFill>
              </a:rPr>
              <a:t>Sources: formulation_controls.json:43–179 · parameter_controls.py:230–302 · formulation_edit.py:105–129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DA0B0C-79FE-48D1-B54E-0FB4B1ED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10E3E8-C48B-4F8C-A798-229B0BF6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CF791A-06D7-4F04-9460-146B3B6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291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961277"/>
      </p:ext>
    </p:extLst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title">
            <a:extLst>
              <a:ext uri="{FF2B5EF4-FFF2-40B4-BE49-F238E27FC236}">
                <a16:creationId xmlns:a16="http://schemas.microsoft.com/office/drawing/2014/main" id="{E50652AC-E1F4-4DC2-A50E-FB8170BA846E}"/>
              </a:ext>
            </a:extLst>
          </p:cNvPr>
          <p:cNvSpPr>
            <a:spLocks noGrp="1"/>
          </p:cNvSpPr>
          <p:nvPr/>
        </p:nvSpPr>
        <p:spPr>
          <a:xfrm>
            <a:off x="514350" y="161925"/>
            <a:ext cx="8096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025" b="1">
                <a:solidFill>
                  <a:srgbClr val="008000"/>
                </a:solidFill>
              </a:defRPr>
            </a:defPPr>
            <a:lvl1pPr algn="l">
              <a:defRPr sz="2025" b="1">
                <a:solidFill>
                  <a:srgbClr val="008000"/>
                </a:solidFill>
              </a:defRPr>
            </a:lvl1pPr>
            <a:lvl2pPr algn="l">
              <a:defRPr sz="2025" b="1">
                <a:solidFill>
                  <a:srgbClr val="008000"/>
                </a:solidFill>
              </a:defRPr>
            </a:lvl2pPr>
            <a:lvl3pPr algn="l">
              <a:defRPr sz="2025" b="1">
                <a:solidFill>
                  <a:srgbClr val="008000"/>
                </a:solidFill>
              </a:defRPr>
            </a:lvl3pPr>
            <a:lvl4pPr algn="l">
              <a:defRPr sz="2025" b="1">
                <a:solidFill>
                  <a:srgbClr val="008000"/>
                </a:solidFill>
              </a:defRPr>
            </a:lvl4pPr>
            <a:lvl5pPr algn="l">
              <a:defRPr sz="2025" b="1">
                <a:solidFill>
                  <a:srgbClr val="008000"/>
                </a:solidFill>
              </a:defRPr>
            </a:lvl5pPr>
            <a:lvl6pPr algn="l">
              <a:defRPr sz="2025" b="1">
                <a:solidFill>
                  <a:srgbClr val="008000"/>
                </a:solidFill>
              </a:defRPr>
            </a:lvl6pPr>
            <a:lvl7pPr algn="l">
              <a:defRPr sz="2025" b="1">
                <a:solidFill>
                  <a:srgbClr val="008000"/>
                </a:solidFill>
              </a:defRPr>
            </a:lvl7pPr>
            <a:lvl8pPr algn="l">
              <a:defRPr sz="2025" b="1">
                <a:solidFill>
                  <a:srgbClr val="008000"/>
                </a:solidFill>
              </a:defRPr>
            </a:lvl8pPr>
            <a:lvl9pPr algn="l">
              <a:defRPr sz="2025" b="1">
                <a:solidFill>
                  <a:srgbClr val="008000"/>
                </a:solidFill>
              </a:defRPr>
            </a:lvl9pPr>
          </a:lstStyle>
          <a:p>
            <a:pPr algn="l">
              <a:defRPr sz="2025" b="1">
                <a:solidFill>
                  <a:srgbClr val="008000"/>
                </a:solidFill>
              </a:defRPr>
            </a:pPr>
            <a:r>
              <a:rPr sz="2025" b="1">
                <a:solidFill>
                  <a:srgbClr val="008000"/>
                </a:solidFill>
              </a:rPr>
              <a:t>How to ensure the LLM executes a prompt correctly?</a:t>
            </a:r>
          </a:p>
        </p:txBody>
      </p:sp>
      <p:sp>
        <p:nvSpPr>
          <p:cNvPr id="2" name="Title rule">
            <a:extLst>
              <a:ext uri="{FF2B5EF4-FFF2-40B4-BE49-F238E27FC236}">
                <a16:creationId xmlns:a16="http://schemas.microsoft.com/office/drawing/2014/main" id="{75531BA6-9862-4344-A5D7-2B79F2807FD4}"/>
              </a:ext>
            </a:extLst>
          </p:cNvPr>
          <p:cNvSpPr>
            <a:spLocks noGrp="1"/>
          </p:cNvSpPr>
          <p:nvPr/>
        </p:nvSpPr>
        <p:spPr>
          <a:xfrm>
            <a:off x="457200" y="628650"/>
            <a:ext cx="8229600" cy="19050"/>
          </a:xfrm>
          <a:prstGeom prst="rect">
            <a:avLst/>
          </a:prstGeom>
          <a:solidFill>
            <a:srgbClr val="008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rule">
            <a:extLst>
              <a:ext uri="{FF2B5EF4-FFF2-40B4-BE49-F238E27FC236}">
                <a16:creationId xmlns:a16="http://schemas.microsoft.com/office/drawing/2014/main" id="{F47AB9B0-6B45-45B6-BF8A-4CCAF4391F5E}"/>
              </a:ext>
            </a:extLst>
          </p:cNvPr>
          <p:cNvSpPr>
            <a:spLocks noGrp="1"/>
          </p:cNvSpPr>
          <p:nvPr/>
        </p:nvSpPr>
        <p:spPr>
          <a:xfrm>
            <a:off x="457200" y="4781550"/>
            <a:ext cx="8229600" cy="9525"/>
          </a:xfrm>
          <a:prstGeom prst="rect">
            <a:avLst/>
          </a:prstGeom>
          <a:solidFill>
            <a:srgbClr val="D5DDD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2BE1B6-F479-408B-AC39-FF4D845C5667}"/>
              </a:ext>
            </a:extLst>
          </p:cNvPr>
          <p:cNvSpPr>
            <a:spLocks noGrp="1"/>
          </p:cNvSpPr>
          <p:nvPr/>
        </p:nvSpPr>
        <p:spPr>
          <a:xfrm>
            <a:off x="5715000" y="48291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Monthly Meeting  ·  10/26/2026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8F3CE5-0701-4F1E-A31E-E860A40A26E7}"/>
              </a:ext>
            </a:extLst>
          </p:cNvPr>
          <p:cNvSpPr>
            <a:spLocks noGrp="1"/>
          </p:cNvSpPr>
          <p:nvPr/>
        </p:nvSpPr>
        <p:spPr>
          <a:xfrm>
            <a:off x="8439150" y="4829175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00" b="0">
                <a:solidFill>
                  <a:srgbClr val="647078"/>
                </a:solidFill>
              </a:defRPr>
            </a:defPPr>
            <a:lvl1pPr algn="r">
              <a:defRPr sz="900" b="0">
                <a:solidFill>
                  <a:srgbClr val="647078"/>
                </a:solidFill>
              </a:defRPr>
            </a:lvl1pPr>
            <a:lvl2pPr algn="r">
              <a:defRPr sz="900" b="0">
                <a:solidFill>
                  <a:srgbClr val="647078"/>
                </a:solidFill>
              </a:defRPr>
            </a:lvl2pPr>
            <a:lvl3pPr algn="r">
              <a:defRPr sz="900" b="0">
                <a:solidFill>
                  <a:srgbClr val="647078"/>
                </a:solidFill>
              </a:defRPr>
            </a:lvl3pPr>
            <a:lvl4pPr algn="r">
              <a:defRPr sz="900" b="0">
                <a:solidFill>
                  <a:srgbClr val="647078"/>
                </a:solidFill>
              </a:defRPr>
            </a:lvl4pPr>
            <a:lvl5pPr algn="r">
              <a:defRPr sz="900" b="0">
                <a:solidFill>
                  <a:srgbClr val="647078"/>
                </a:solidFill>
              </a:defRPr>
            </a:lvl5pPr>
            <a:lvl6pPr algn="r">
              <a:defRPr sz="900" b="0">
                <a:solidFill>
                  <a:srgbClr val="647078"/>
                </a:solidFill>
              </a:defRPr>
            </a:lvl6pPr>
            <a:lvl7pPr algn="r">
              <a:defRPr sz="900" b="0">
                <a:solidFill>
                  <a:srgbClr val="647078"/>
                </a:solidFill>
              </a:defRPr>
            </a:lvl7pPr>
            <a:lvl8pPr algn="r">
              <a:defRPr sz="900" b="0">
                <a:solidFill>
                  <a:srgbClr val="647078"/>
                </a:solidFill>
              </a:defRPr>
            </a:lvl8pPr>
            <a:lvl9pPr algn="r">
              <a:defRPr sz="900" b="0">
                <a:solidFill>
                  <a:srgbClr val="647078"/>
                </a:solidFill>
              </a:defRPr>
            </a:lvl9pPr>
          </a:lstStyle>
          <a:p>
            <a:pPr algn="r">
              <a:defRPr sz="900" b="0">
                <a:solidFill>
                  <a:srgbClr val="647078"/>
                </a:solidFill>
              </a:defRPr>
            </a:pPr>
            <a:r>
              <a:rPr sz="900" b="0">
                <a:solidFill>
                  <a:srgbClr val="647078"/>
                </a:solidFill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3D9A8B-07A4-4C3F-9782-0E30405C5A18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804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266"/>
                </a:solidFill>
              </a:defRPr>
            </a:defPPr>
            <a:lvl1pPr algn="l">
              <a:defRPr sz="1275" b="0">
                <a:solidFill>
                  <a:srgbClr val="5B6266"/>
                </a:solidFill>
              </a:defRPr>
            </a:lvl1pPr>
            <a:lvl2pPr algn="l">
              <a:defRPr sz="1275" b="0">
                <a:solidFill>
                  <a:srgbClr val="5B6266"/>
                </a:solidFill>
              </a:defRPr>
            </a:lvl2pPr>
            <a:lvl3pPr algn="l">
              <a:defRPr sz="1275" b="0">
                <a:solidFill>
                  <a:srgbClr val="5B6266"/>
                </a:solidFill>
              </a:defRPr>
            </a:lvl3pPr>
            <a:lvl4pPr algn="l">
              <a:defRPr sz="1275" b="0">
                <a:solidFill>
                  <a:srgbClr val="5B6266"/>
                </a:solidFill>
              </a:defRPr>
            </a:lvl4pPr>
            <a:lvl5pPr algn="l">
              <a:defRPr sz="1275" b="0">
                <a:solidFill>
                  <a:srgbClr val="5B6266"/>
                </a:solidFill>
              </a:defRPr>
            </a:lvl5pPr>
            <a:lvl6pPr algn="l">
              <a:defRPr sz="1275" b="0">
                <a:solidFill>
                  <a:srgbClr val="5B6266"/>
                </a:solidFill>
              </a:defRPr>
            </a:lvl6pPr>
            <a:lvl7pPr algn="l">
              <a:defRPr sz="1275" b="0">
                <a:solidFill>
                  <a:srgbClr val="5B6266"/>
                </a:solidFill>
              </a:defRPr>
            </a:lvl7pPr>
            <a:lvl8pPr algn="l">
              <a:defRPr sz="1275" b="0">
                <a:solidFill>
                  <a:srgbClr val="5B6266"/>
                </a:solidFill>
              </a:defRPr>
            </a:lvl8pPr>
            <a:lvl9pPr algn="l">
              <a:defRPr sz="1275" b="0">
                <a:solidFill>
                  <a:srgbClr val="5B6266"/>
                </a:solidFill>
              </a:defRPr>
            </a:lvl9pPr>
          </a:lstStyle>
          <a:p>
            <a:pPr algn="l">
              <a:defRPr sz="1275" b="0">
                <a:solidFill>
                  <a:srgbClr val="5B6266"/>
                </a:solidFill>
              </a:defRPr>
            </a:pPr>
            <a:r>
              <a:rPr sz="1275" b="0">
                <a:solidFill>
                  <a:srgbClr val="5B6266"/>
                </a:solidFill>
              </a:rPr>
              <a:t>Treat execution as a verifiable transaction, not a reasoning claim.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AF687D-A73F-4FDC-9BB0-C502116B1DC8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20015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3D2D11-59B1-4F63-B49F-27A8F5082EA7}"/>
              </a:ext>
            </a:extLst>
          </p:cNvPr>
          <p:cNvSpPr>
            <a:spLocks noGrp="1"/>
          </p:cNvSpPr>
          <p:nvPr/>
        </p:nvSpPr>
        <p:spPr>
          <a:xfrm>
            <a:off x="628650" y="1504950"/>
            <a:ext cx="1009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1  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57B192-0BF2-4B0D-BA39-D17508F399B3}"/>
              </a:ext>
            </a:extLst>
          </p:cNvPr>
          <p:cNvSpPr>
            <a:spLocks noGrp="1"/>
          </p:cNvSpPr>
          <p:nvPr/>
        </p:nvSpPr>
        <p:spPr>
          <a:xfrm>
            <a:off x="628650" y="1733550"/>
            <a:ext cx="1009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125" b="1">
                <a:solidFill>
                  <a:srgbClr val="27343A"/>
                </a:solidFill>
              </a:defRPr>
            </a:defPPr>
            <a:lvl1pPr algn="ctr">
              <a:defRPr sz="1125" b="1">
                <a:solidFill>
                  <a:srgbClr val="27343A"/>
                </a:solidFill>
              </a:defRPr>
            </a:lvl1pPr>
            <a:lvl2pPr algn="ctr">
              <a:defRPr sz="1125" b="1">
                <a:solidFill>
                  <a:srgbClr val="27343A"/>
                </a:solidFill>
              </a:defRPr>
            </a:lvl2pPr>
            <a:lvl3pPr algn="ctr">
              <a:defRPr sz="1125" b="1">
                <a:solidFill>
                  <a:srgbClr val="27343A"/>
                </a:solidFill>
              </a:defRPr>
            </a:lvl3pPr>
            <a:lvl4pPr algn="ctr">
              <a:defRPr sz="1125" b="1">
                <a:solidFill>
                  <a:srgbClr val="27343A"/>
                </a:solidFill>
              </a:defRPr>
            </a:lvl4pPr>
            <a:lvl5pPr algn="ctr">
              <a:defRPr sz="1125" b="1">
                <a:solidFill>
                  <a:srgbClr val="27343A"/>
                </a:solidFill>
              </a:defRPr>
            </a:lvl5pPr>
            <a:lvl6pPr algn="ctr">
              <a:defRPr sz="1125" b="1">
                <a:solidFill>
                  <a:srgbClr val="27343A"/>
                </a:solidFill>
              </a:defRPr>
            </a:lvl6pPr>
            <a:lvl7pPr algn="ctr">
              <a:defRPr sz="1125" b="1">
                <a:solidFill>
                  <a:srgbClr val="27343A"/>
                </a:solidFill>
              </a:defRPr>
            </a:lvl7pPr>
            <a:lvl8pPr algn="ctr">
              <a:defRPr sz="1125" b="1">
                <a:solidFill>
                  <a:srgbClr val="27343A"/>
                </a:solidFill>
              </a:defRPr>
            </a:lvl8pPr>
            <a:lvl9pPr algn="ctr">
              <a:defRPr sz="1125" b="1">
                <a:solidFill>
                  <a:srgbClr val="27343A"/>
                </a:solidFill>
              </a:defRPr>
            </a:lvl9pPr>
          </a:lstStyle>
          <a:p>
            <a:pPr algn="ctr">
              <a:defRPr sz="1125" b="1">
                <a:solidFill>
                  <a:srgbClr val="27343A"/>
                </a:solidFill>
              </a:defRPr>
            </a:pPr>
            <a:r>
              <a:rPr sz="1125" b="1">
                <a:solidFill>
                  <a:srgbClr val="27343A"/>
                </a:solidFill>
              </a:rPr>
              <a:t>“Set a = 0.9”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73AA8B-6ABC-4509-A840-C1A7460A02EB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1028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Target + value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1F8F92-BEA7-4CA9-9BD6-61198555BC26}"/>
              </a:ext>
            </a:extLst>
          </p:cNvPr>
          <p:cNvSpPr>
            <a:spLocks noGrp="1"/>
          </p:cNvSpPr>
          <p:nvPr/>
        </p:nvSpPr>
        <p:spPr>
          <a:xfrm>
            <a:off x="1924050" y="1400175"/>
            <a:ext cx="138112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1CDDD-BA33-45F8-8FDD-81AF66F0ED27}"/>
              </a:ext>
            </a:extLst>
          </p:cNvPr>
          <p:cNvSpPr>
            <a:spLocks noGrp="1"/>
          </p:cNvSpPr>
          <p:nvPr/>
        </p:nvSpPr>
        <p:spPr>
          <a:xfrm>
            <a:off x="2019300" y="15049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2  PLAN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FF2099-551A-4B88-9C44-3BA02B1E2ADA}"/>
              </a:ext>
            </a:extLst>
          </p:cNvPr>
          <p:cNvSpPr>
            <a:spLocks noGrp="1"/>
          </p:cNvSpPr>
          <p:nvPr/>
        </p:nvSpPr>
        <p:spPr>
          <a:xfrm>
            <a:off x="2019300" y="173355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 := 0.9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066A0C-73F3-4716-B13B-503E3BB30748}"/>
              </a:ext>
            </a:extLst>
          </p:cNvPr>
          <p:cNvSpPr>
            <a:spLocks noGrp="1"/>
          </p:cNvSpPr>
          <p:nvPr/>
        </p:nvSpPr>
        <p:spPr>
          <a:xfrm>
            <a:off x="2009775" y="2114550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Typed, scoped</a:t>
            </a:r>
          </a:p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operation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8135C3-B7FB-47AC-A5E7-46D7569C27CD}"/>
              </a:ext>
            </a:extLst>
          </p:cNvPr>
          <p:cNvSpPr>
            <a:spLocks noGrp="1"/>
          </p:cNvSpPr>
          <p:nvPr/>
        </p:nvSpPr>
        <p:spPr>
          <a:xfrm>
            <a:off x="3495675" y="1400175"/>
            <a:ext cx="138112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7742A-3CA6-4915-88D8-6B1057A2F90A}"/>
              </a:ext>
            </a:extLst>
          </p:cNvPr>
          <p:cNvSpPr>
            <a:spLocks noGrp="1"/>
          </p:cNvSpPr>
          <p:nvPr/>
        </p:nvSpPr>
        <p:spPr>
          <a:xfrm>
            <a:off x="3590925" y="15049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3  PRECHECK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ECF584-6F99-4930-8574-7297A58812D8}"/>
              </a:ext>
            </a:extLst>
          </p:cNvPr>
          <p:cNvSpPr>
            <a:spLocks noGrp="1"/>
          </p:cNvSpPr>
          <p:nvPr/>
        </p:nvSpPr>
        <p:spPr>
          <a:xfrm>
            <a:off x="3590925" y="173355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 exists · in range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7B559C-52D1-4C36-9DE6-3D79ED6509D1}"/>
              </a:ext>
            </a:extLst>
          </p:cNvPr>
          <p:cNvSpPr>
            <a:spLocks noGrp="1"/>
          </p:cNvSpPr>
          <p:nvPr/>
        </p:nvSpPr>
        <p:spPr>
          <a:xfrm>
            <a:off x="3581400" y="2114550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Routine · units ·</a:t>
            </a:r>
          </a:p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preconditions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ED7FB9B-846E-4080-8D37-EAE3A20940AF}"/>
              </a:ext>
            </a:extLst>
          </p:cNvPr>
          <p:cNvSpPr>
            <a:spLocks noGrp="1"/>
          </p:cNvSpPr>
          <p:nvPr/>
        </p:nvSpPr>
        <p:spPr>
          <a:xfrm>
            <a:off x="5067300" y="1400175"/>
            <a:ext cx="138112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542200-7985-4F97-A390-059232885243}"/>
              </a:ext>
            </a:extLst>
          </p:cNvPr>
          <p:cNvSpPr>
            <a:spLocks noGrp="1"/>
          </p:cNvSpPr>
          <p:nvPr/>
        </p:nvSpPr>
        <p:spPr>
          <a:xfrm>
            <a:off x="5162550" y="150495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647078"/>
                </a:solidFill>
              </a:defRPr>
            </a:defPPr>
            <a:lvl1pPr algn="ctr">
              <a:defRPr sz="825" b="1">
                <a:solidFill>
                  <a:srgbClr val="647078"/>
                </a:solidFill>
              </a:defRPr>
            </a:lvl1pPr>
            <a:lvl2pPr algn="ctr">
              <a:defRPr sz="825" b="1">
                <a:solidFill>
                  <a:srgbClr val="647078"/>
                </a:solidFill>
              </a:defRPr>
            </a:lvl2pPr>
            <a:lvl3pPr algn="ctr">
              <a:defRPr sz="825" b="1">
                <a:solidFill>
                  <a:srgbClr val="647078"/>
                </a:solidFill>
              </a:defRPr>
            </a:lvl3pPr>
            <a:lvl4pPr algn="ctr">
              <a:defRPr sz="825" b="1">
                <a:solidFill>
                  <a:srgbClr val="647078"/>
                </a:solidFill>
              </a:defRPr>
            </a:lvl4pPr>
            <a:lvl5pPr algn="ctr">
              <a:defRPr sz="825" b="1">
                <a:solidFill>
                  <a:srgbClr val="647078"/>
                </a:solidFill>
              </a:defRPr>
            </a:lvl5pPr>
            <a:lvl6pPr algn="ctr">
              <a:defRPr sz="825" b="1">
                <a:solidFill>
                  <a:srgbClr val="647078"/>
                </a:solidFill>
              </a:defRPr>
            </a:lvl6pPr>
            <a:lvl7pPr algn="ctr">
              <a:defRPr sz="825" b="1">
                <a:solidFill>
                  <a:srgbClr val="647078"/>
                </a:solidFill>
              </a:defRPr>
            </a:lvl7pPr>
            <a:lvl8pPr algn="ctr">
              <a:defRPr sz="825" b="1">
                <a:solidFill>
                  <a:srgbClr val="647078"/>
                </a:solidFill>
              </a:defRPr>
            </a:lvl8pPr>
            <a:lvl9pPr algn="ctr">
              <a:defRPr sz="825" b="1">
                <a:solidFill>
                  <a:srgbClr val="647078"/>
                </a:solidFill>
              </a:defRPr>
            </a:lvl9pPr>
          </a:lstStyle>
          <a:p>
            <a:pPr algn="ctr">
              <a:defRPr sz="825" b="1">
                <a:solidFill>
                  <a:srgbClr val="647078"/>
                </a:solidFill>
              </a:defRPr>
            </a:pPr>
            <a:r>
              <a:rPr sz="825" b="1">
                <a:solidFill>
                  <a:srgbClr val="647078"/>
                </a:solidFill>
              </a:rPr>
              <a:t>4  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D767D3-FEE9-4422-8E16-AB8BC7DD2119}"/>
              </a:ext>
            </a:extLst>
          </p:cNvPr>
          <p:cNvSpPr>
            <a:spLocks noGrp="1"/>
          </p:cNvSpPr>
          <p:nvPr/>
        </p:nvSpPr>
        <p:spPr>
          <a:xfrm>
            <a:off x="5162550" y="173355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Declared edit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1A8C65-594A-4627-8703-1977D4379C93}"/>
              </a:ext>
            </a:extLst>
          </p:cNvPr>
          <p:cNvSpPr>
            <a:spLocks noGrp="1"/>
          </p:cNvSpPr>
          <p:nvPr/>
        </p:nvSpPr>
        <p:spPr>
          <a:xfrm>
            <a:off x="5153025" y="2114550"/>
            <a:ext cx="1209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One controlled</a:t>
            </a:r>
          </a:p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model operation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A7199C8-7630-4A30-B524-D707BEC003A5}"/>
              </a:ext>
            </a:extLst>
          </p:cNvPr>
          <p:cNvSpPr>
            <a:spLocks noGrp="1"/>
          </p:cNvSpPr>
          <p:nvPr/>
        </p:nvSpPr>
        <p:spPr>
          <a:xfrm>
            <a:off x="6638925" y="1400175"/>
            <a:ext cx="1971675" cy="1181100"/>
          </a:xfrm>
          <a:prstGeom prst="roundRect">
            <a:avLst>
              <a:gd name="adj" fmla="val 6452"/>
            </a:avLst>
          </a:prstGeom>
          <a:solidFill>
            <a:srgbClr val="EAF5EA"/>
          </a:solidFill>
          <a:ln w="14288">
            <a:solidFill>
              <a:srgbClr val="80B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1301FF-70D4-4DBF-9830-8258BCA7E75F}"/>
              </a:ext>
            </a:extLst>
          </p:cNvPr>
          <p:cNvSpPr>
            <a:spLocks noGrp="1"/>
          </p:cNvSpPr>
          <p:nvPr/>
        </p:nvSpPr>
        <p:spPr>
          <a:xfrm>
            <a:off x="6734175" y="1504950"/>
            <a:ext cx="17811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825" b="1">
                <a:solidFill>
                  <a:srgbClr val="008000"/>
                </a:solidFill>
              </a:defRPr>
            </a:defPPr>
            <a:lvl1pPr algn="ctr">
              <a:defRPr sz="825" b="1">
                <a:solidFill>
                  <a:srgbClr val="008000"/>
                </a:solidFill>
              </a:defRPr>
            </a:lvl1pPr>
            <a:lvl2pPr algn="ctr">
              <a:defRPr sz="825" b="1">
                <a:solidFill>
                  <a:srgbClr val="008000"/>
                </a:solidFill>
              </a:defRPr>
            </a:lvl2pPr>
            <a:lvl3pPr algn="ctr">
              <a:defRPr sz="825" b="1">
                <a:solidFill>
                  <a:srgbClr val="008000"/>
                </a:solidFill>
              </a:defRPr>
            </a:lvl3pPr>
            <a:lvl4pPr algn="ctr">
              <a:defRPr sz="825" b="1">
                <a:solidFill>
                  <a:srgbClr val="008000"/>
                </a:solidFill>
              </a:defRPr>
            </a:lvl4pPr>
            <a:lvl5pPr algn="ctr">
              <a:defRPr sz="825" b="1">
                <a:solidFill>
                  <a:srgbClr val="008000"/>
                </a:solidFill>
              </a:defRPr>
            </a:lvl5pPr>
            <a:lvl6pPr algn="ctr">
              <a:defRPr sz="825" b="1">
                <a:solidFill>
                  <a:srgbClr val="008000"/>
                </a:solidFill>
              </a:defRPr>
            </a:lvl6pPr>
            <a:lvl7pPr algn="ctr">
              <a:defRPr sz="825" b="1">
                <a:solidFill>
                  <a:srgbClr val="008000"/>
                </a:solidFill>
              </a:defRPr>
            </a:lvl7pPr>
            <a:lvl8pPr algn="ctr">
              <a:defRPr sz="825" b="1">
                <a:solidFill>
                  <a:srgbClr val="008000"/>
                </a:solidFill>
              </a:defRPr>
            </a:lvl8pPr>
            <a:lvl9pPr algn="ctr">
              <a:defRPr sz="825" b="1">
                <a:solidFill>
                  <a:srgbClr val="008000"/>
                </a:solidFill>
              </a:defRPr>
            </a:lvl9pPr>
          </a:lstStyle>
          <a:p>
            <a:pPr algn="ctr">
              <a:defRPr sz="825" b="1">
                <a:solidFill>
                  <a:srgbClr val="008000"/>
                </a:solidFill>
              </a:defRPr>
            </a:pPr>
            <a:r>
              <a:rPr sz="825" b="1">
                <a:solidFill>
                  <a:srgbClr val="008000"/>
                </a:solidFill>
              </a:rPr>
              <a:t>5  READ BACK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ADFF5A-8EAF-407D-ACBA-C837BB01CDEB}"/>
              </a:ext>
            </a:extLst>
          </p:cNvPr>
          <p:cNvSpPr>
            <a:spLocks noGrp="1"/>
          </p:cNvSpPr>
          <p:nvPr/>
        </p:nvSpPr>
        <p:spPr>
          <a:xfrm>
            <a:off x="6734175" y="1733550"/>
            <a:ext cx="1781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27343A"/>
                </a:solidFill>
              </a:defRPr>
            </a:defPPr>
            <a:lvl1pPr algn="ctr">
              <a:defRPr sz="1200" b="1">
                <a:solidFill>
                  <a:srgbClr val="27343A"/>
                </a:solidFill>
              </a:defRPr>
            </a:lvl1pPr>
            <a:lvl2pPr algn="ctr">
              <a:defRPr sz="1200" b="1">
                <a:solidFill>
                  <a:srgbClr val="27343A"/>
                </a:solidFill>
              </a:defRPr>
            </a:lvl2pPr>
            <a:lvl3pPr algn="ctr">
              <a:defRPr sz="1200" b="1">
                <a:solidFill>
                  <a:srgbClr val="27343A"/>
                </a:solidFill>
              </a:defRPr>
            </a:lvl3pPr>
            <a:lvl4pPr algn="ctr">
              <a:defRPr sz="1200" b="1">
                <a:solidFill>
                  <a:srgbClr val="27343A"/>
                </a:solidFill>
              </a:defRPr>
            </a:lvl4pPr>
            <a:lvl5pPr algn="ctr">
              <a:defRPr sz="1200" b="1">
                <a:solidFill>
                  <a:srgbClr val="27343A"/>
                </a:solidFill>
              </a:defRPr>
            </a:lvl5pPr>
            <a:lvl6pPr algn="ctr">
              <a:defRPr sz="1200" b="1">
                <a:solidFill>
                  <a:srgbClr val="27343A"/>
                </a:solidFill>
              </a:defRPr>
            </a:lvl6pPr>
            <a:lvl7pPr algn="ctr">
              <a:defRPr sz="1200" b="1">
                <a:solidFill>
                  <a:srgbClr val="27343A"/>
                </a:solidFill>
              </a:defRPr>
            </a:lvl7pPr>
            <a:lvl8pPr algn="ctr">
              <a:defRPr sz="1200" b="1">
                <a:solidFill>
                  <a:srgbClr val="27343A"/>
                </a:solidFill>
              </a:defRPr>
            </a:lvl8pPr>
            <a:lvl9pPr algn="ctr">
              <a:defRPr sz="1200" b="1">
                <a:solidFill>
                  <a:srgbClr val="27343A"/>
                </a:solidFill>
              </a:defRPr>
            </a:lvl9pPr>
          </a:lstStyle>
          <a:p>
            <a:pPr algn="ctr">
              <a:defRPr sz="1200" b="1">
                <a:solidFill>
                  <a:srgbClr val="27343A"/>
                </a:solidFill>
              </a:defRPr>
            </a:pPr>
            <a:r>
              <a:rPr sz="1200" b="1">
                <a:solidFill>
                  <a:srgbClr val="27343A"/>
                </a:solidFill>
              </a:rPr>
              <a:t>Actual value = 0.9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B7D362-FF11-450A-9152-BA08190C586A}"/>
              </a:ext>
            </a:extLst>
          </p:cNvPr>
          <p:cNvSpPr>
            <a:spLocks noGrp="1"/>
          </p:cNvSpPr>
          <p:nvPr/>
        </p:nvSpPr>
        <p:spPr>
          <a:xfrm>
            <a:off x="6724650" y="2114550"/>
            <a:ext cx="1800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00" b="0">
                <a:solidFill>
                  <a:srgbClr val="5B6266"/>
                </a:solidFill>
              </a:defRPr>
            </a:defPPr>
            <a:lvl1pPr algn="ctr">
              <a:defRPr sz="900" b="0">
                <a:solidFill>
                  <a:srgbClr val="5B6266"/>
                </a:solidFill>
              </a:defRPr>
            </a:lvl1pPr>
            <a:lvl2pPr algn="ctr">
              <a:defRPr sz="900" b="0">
                <a:solidFill>
                  <a:srgbClr val="5B6266"/>
                </a:solidFill>
              </a:defRPr>
            </a:lvl2pPr>
            <a:lvl3pPr algn="ctr">
              <a:defRPr sz="900" b="0">
                <a:solidFill>
                  <a:srgbClr val="5B6266"/>
                </a:solidFill>
              </a:defRPr>
            </a:lvl3pPr>
            <a:lvl4pPr algn="ctr">
              <a:defRPr sz="900" b="0">
                <a:solidFill>
                  <a:srgbClr val="5B6266"/>
                </a:solidFill>
              </a:defRPr>
            </a:lvl4pPr>
            <a:lvl5pPr algn="ctr">
              <a:defRPr sz="900" b="0">
                <a:solidFill>
                  <a:srgbClr val="5B6266"/>
                </a:solidFill>
              </a:defRPr>
            </a:lvl5pPr>
            <a:lvl6pPr algn="ctr">
              <a:defRPr sz="900" b="0">
                <a:solidFill>
                  <a:srgbClr val="5B6266"/>
                </a:solidFill>
              </a:defRPr>
            </a:lvl6pPr>
            <a:lvl7pPr algn="ctr">
              <a:defRPr sz="900" b="0">
                <a:solidFill>
                  <a:srgbClr val="5B6266"/>
                </a:solidFill>
              </a:defRPr>
            </a:lvl7pPr>
            <a:lvl8pPr algn="ctr">
              <a:defRPr sz="900" b="0">
                <a:solidFill>
                  <a:srgbClr val="5B6266"/>
                </a:solidFill>
              </a:defRPr>
            </a:lvl8pPr>
            <a:lvl9pPr algn="ctr">
              <a:defRPr sz="900" b="0">
                <a:solidFill>
                  <a:srgbClr val="5B6266"/>
                </a:solidFill>
              </a:defRPr>
            </a:lvl9pPr>
          </a:lstStyle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Model diff + solve</a:t>
            </a:r>
          </a:p>
          <a:p>
            <a:pPr algn="ctr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feasibility check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75E9C6-EC1E-476E-9F93-BB2D95B175FE}"/>
              </a:ext>
            </a:extLst>
          </p:cNvPr>
          <p:cNvSpPr>
            <a:spLocks noGrp="1"/>
          </p:cNvSpPr>
          <p:nvPr/>
        </p:nvSpPr>
        <p:spPr>
          <a:xfrm>
            <a:off x="1743075" y="1790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786A14-825A-4451-8D35-04BFF9353F5D}"/>
              </a:ext>
            </a:extLst>
          </p:cNvPr>
          <p:cNvSpPr>
            <a:spLocks noGrp="1"/>
          </p:cNvSpPr>
          <p:nvPr/>
        </p:nvSpPr>
        <p:spPr>
          <a:xfrm>
            <a:off x="3314700" y="1790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7765EF-DBE4-47EB-A36A-E3010B4E22C8}"/>
              </a:ext>
            </a:extLst>
          </p:cNvPr>
          <p:cNvSpPr>
            <a:spLocks noGrp="1"/>
          </p:cNvSpPr>
          <p:nvPr/>
        </p:nvSpPr>
        <p:spPr>
          <a:xfrm>
            <a:off x="4886325" y="1790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A380AF-2692-4470-B48B-AF6959A9AACD}"/>
              </a:ext>
            </a:extLst>
          </p:cNvPr>
          <p:cNvSpPr>
            <a:spLocks noGrp="1"/>
          </p:cNvSpPr>
          <p:nvPr/>
        </p:nvSpPr>
        <p:spPr>
          <a:xfrm>
            <a:off x="6457950" y="1790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08000"/>
                </a:solidFill>
              </a:defRPr>
            </a:defPPr>
            <a:lvl1pPr algn="ctr">
              <a:defRPr sz="1725" b="1">
                <a:solidFill>
                  <a:srgbClr val="008000"/>
                </a:solidFill>
              </a:defRPr>
            </a:lvl1pPr>
            <a:lvl2pPr algn="ctr">
              <a:defRPr sz="1725" b="1">
                <a:solidFill>
                  <a:srgbClr val="008000"/>
                </a:solidFill>
              </a:defRPr>
            </a:lvl2pPr>
            <a:lvl3pPr algn="ctr">
              <a:defRPr sz="1725" b="1">
                <a:solidFill>
                  <a:srgbClr val="008000"/>
                </a:solidFill>
              </a:defRPr>
            </a:lvl3pPr>
            <a:lvl4pPr algn="ctr">
              <a:defRPr sz="1725" b="1">
                <a:solidFill>
                  <a:srgbClr val="008000"/>
                </a:solidFill>
              </a:defRPr>
            </a:lvl4pPr>
            <a:lvl5pPr algn="ctr">
              <a:defRPr sz="1725" b="1">
                <a:solidFill>
                  <a:srgbClr val="008000"/>
                </a:solidFill>
              </a:defRPr>
            </a:lvl5pPr>
            <a:lvl6pPr algn="ctr">
              <a:defRPr sz="1725" b="1">
                <a:solidFill>
                  <a:srgbClr val="008000"/>
                </a:solidFill>
              </a:defRPr>
            </a:lvl6pPr>
            <a:lvl7pPr algn="ctr">
              <a:defRPr sz="1725" b="1">
                <a:solidFill>
                  <a:srgbClr val="008000"/>
                </a:solidFill>
              </a:defRPr>
            </a:lvl7pPr>
            <a:lvl8pPr algn="ctr">
              <a:defRPr sz="1725" b="1">
                <a:solidFill>
                  <a:srgbClr val="008000"/>
                </a:solidFill>
              </a:defRPr>
            </a:lvl8pPr>
            <a:lvl9pPr algn="ctr">
              <a:defRPr sz="1725" b="1">
                <a:solidFill>
                  <a:srgbClr val="008000"/>
                </a:solidFill>
              </a:defRPr>
            </a:lvl9pPr>
          </a:lstStyle>
          <a:p>
            <a:pPr algn="ctr">
              <a:defRPr sz="1725" b="1">
                <a:solidFill>
                  <a:srgbClr val="008000"/>
                </a:solidFill>
              </a:defRPr>
            </a:pPr>
            <a:r>
              <a:rPr sz="1725" b="1">
                <a:solidFill>
                  <a:srgbClr val="008000"/>
                </a:solidFill>
              </a:rPr>
              <a:t>›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BC8AEC-FBC3-4A0D-9628-4451327DF390}"/>
              </a:ext>
            </a:extLst>
          </p:cNvPr>
          <p:cNvSpPr>
            <a:spLocks noGrp="1"/>
          </p:cNvSpPr>
          <p:nvPr/>
        </p:nvSpPr>
        <p:spPr>
          <a:xfrm>
            <a:off x="571500" y="2905125"/>
            <a:ext cx="2095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75" b="1">
                <a:solidFill>
                  <a:srgbClr val="008000"/>
                </a:solidFill>
              </a:defRPr>
            </a:defPPr>
            <a:lvl1pPr algn="l">
              <a:defRPr sz="975" b="1">
                <a:solidFill>
                  <a:srgbClr val="008000"/>
                </a:solidFill>
              </a:defRPr>
            </a:lvl1pPr>
            <a:lvl2pPr algn="l">
              <a:defRPr sz="975" b="1">
                <a:solidFill>
                  <a:srgbClr val="008000"/>
                </a:solidFill>
              </a:defRPr>
            </a:lvl2pPr>
            <a:lvl3pPr algn="l">
              <a:defRPr sz="975" b="1">
                <a:solidFill>
                  <a:srgbClr val="008000"/>
                </a:solidFill>
              </a:defRPr>
            </a:lvl3pPr>
            <a:lvl4pPr algn="l">
              <a:defRPr sz="975" b="1">
                <a:solidFill>
                  <a:srgbClr val="008000"/>
                </a:solidFill>
              </a:defRPr>
            </a:lvl4pPr>
            <a:lvl5pPr algn="l">
              <a:defRPr sz="975" b="1">
                <a:solidFill>
                  <a:srgbClr val="008000"/>
                </a:solidFill>
              </a:defRPr>
            </a:lvl5pPr>
            <a:lvl6pPr algn="l">
              <a:defRPr sz="975" b="1">
                <a:solidFill>
                  <a:srgbClr val="008000"/>
                </a:solidFill>
              </a:defRPr>
            </a:lvl6pPr>
            <a:lvl7pPr algn="l">
              <a:defRPr sz="975" b="1">
                <a:solidFill>
                  <a:srgbClr val="008000"/>
                </a:solidFill>
              </a:defRPr>
            </a:lvl7pPr>
            <a:lvl8pPr algn="l">
              <a:defRPr sz="975" b="1">
                <a:solidFill>
                  <a:srgbClr val="008000"/>
                </a:solidFill>
              </a:defRPr>
            </a:lvl8pPr>
            <a:lvl9pPr algn="l">
              <a:defRPr sz="975" b="1">
                <a:solidFill>
                  <a:srgbClr val="008000"/>
                </a:solidFill>
              </a:defRPr>
            </a:lvl9pPr>
          </a:lstStyle>
          <a:p>
            <a:pPr algn="l">
              <a:defRPr sz="975" b="1">
                <a:solidFill>
                  <a:srgbClr val="008000"/>
                </a:solidFill>
              </a:defRPr>
            </a:pPr>
            <a:r>
              <a:rPr sz="975" b="1">
                <a:solidFill>
                  <a:srgbClr val="008000"/>
                </a:solidFill>
              </a:rPr>
              <a:t>EXECUTION RECORD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6F96B82-A798-4FC5-A4F6-2DDB4A559927}"/>
              </a:ext>
            </a:extLst>
          </p:cNvPr>
          <p:cNvSpPr>
            <a:spLocks noGrp="1"/>
          </p:cNvSpPr>
          <p:nvPr/>
        </p:nvSpPr>
        <p:spPr>
          <a:xfrm>
            <a:off x="571500" y="3152775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5CAF3E-BEA0-4885-82DA-AB8042FF999B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Intent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D94625-7A3E-4E35-BA09-EEBF1ADA675E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target a · requested value 0.9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A8C2DFB-9415-4912-95F0-D5D0FA524937}"/>
              </a:ext>
            </a:extLst>
          </p:cNvPr>
          <p:cNvSpPr>
            <a:spLocks noGrp="1"/>
          </p:cNvSpPr>
          <p:nvPr/>
        </p:nvSpPr>
        <p:spPr>
          <a:xfrm>
            <a:off x="2609850" y="3152775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1F5F5E-F00C-43C2-817A-8670B88E0485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Applied state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70DFB5-2918-4837-857D-7ADDC1DFA95D}"/>
              </a:ext>
            </a:extLst>
          </p:cNvPr>
          <p:cNvSpPr>
            <a:spLocks noGrp="1"/>
          </p:cNvSpPr>
          <p:nvPr/>
        </p:nvSpPr>
        <p:spPr>
          <a:xfrm>
            <a:off x="2724150" y="347662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read back from the live AMS object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82BC9FE-65E5-42F9-B3EB-C58E866B16E1}"/>
              </a:ext>
            </a:extLst>
          </p:cNvPr>
          <p:cNvSpPr>
            <a:spLocks noGrp="1"/>
          </p:cNvSpPr>
          <p:nvPr/>
        </p:nvSpPr>
        <p:spPr>
          <a:xfrm>
            <a:off x="4648200" y="3152775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B9CC3AB-315D-42D2-AF42-7381D8D7A77F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Model effect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B523FF-F9E8-4D61-9BE1-5C7C429FF8E9}"/>
              </a:ext>
            </a:extLst>
          </p:cNvPr>
          <p:cNvSpPr>
            <a:spLocks noGrp="1"/>
          </p:cNvSpPr>
          <p:nvPr/>
        </p:nvSpPr>
        <p:spPr>
          <a:xfrm>
            <a:off x="4762500" y="347662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changed fields / objective / constraints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27BCC53-ADF0-49BF-A7B0-CF40F42E2CBB}"/>
              </a:ext>
            </a:extLst>
          </p:cNvPr>
          <p:cNvSpPr>
            <a:spLocks noGrp="1"/>
          </p:cNvSpPr>
          <p:nvPr/>
        </p:nvSpPr>
        <p:spPr>
          <a:xfrm>
            <a:off x="6686550" y="3152775"/>
            <a:ext cx="1924050" cy="790575"/>
          </a:xfrm>
          <a:prstGeom prst="roundRect">
            <a:avLst>
              <a:gd name="adj" fmla="val 9639"/>
            </a:avLst>
          </a:prstGeom>
          <a:solidFill>
            <a:srgbClr val="F7F8F7"/>
          </a:solidFill>
          <a:ln w="14288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907A45-0F0B-4553-AFE8-1C2B5BED66E4}"/>
              </a:ext>
            </a:extLst>
          </p:cNvPr>
          <p:cNvSpPr>
            <a:spLocks noGrp="1"/>
          </p:cNvSpPr>
          <p:nvPr/>
        </p:nvSpPr>
        <p:spPr>
          <a:xfrm>
            <a:off x="6800850" y="3238500"/>
            <a:ext cx="1695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7343A"/>
                </a:solidFill>
              </a:defRPr>
            </a:defPPr>
            <a:lvl1pPr algn="l">
              <a:defRPr sz="1050" b="1">
                <a:solidFill>
                  <a:srgbClr val="27343A"/>
                </a:solidFill>
              </a:defRPr>
            </a:lvl1pPr>
            <a:lvl2pPr algn="l">
              <a:defRPr sz="1050" b="1">
                <a:solidFill>
                  <a:srgbClr val="27343A"/>
                </a:solidFill>
              </a:defRPr>
            </a:lvl2pPr>
            <a:lvl3pPr algn="l">
              <a:defRPr sz="1050" b="1">
                <a:solidFill>
                  <a:srgbClr val="27343A"/>
                </a:solidFill>
              </a:defRPr>
            </a:lvl3pPr>
            <a:lvl4pPr algn="l">
              <a:defRPr sz="1050" b="1">
                <a:solidFill>
                  <a:srgbClr val="27343A"/>
                </a:solidFill>
              </a:defRPr>
            </a:lvl4pPr>
            <a:lvl5pPr algn="l">
              <a:defRPr sz="1050" b="1">
                <a:solidFill>
                  <a:srgbClr val="27343A"/>
                </a:solidFill>
              </a:defRPr>
            </a:lvl5pPr>
            <a:lvl6pPr algn="l">
              <a:defRPr sz="1050" b="1">
                <a:solidFill>
                  <a:srgbClr val="27343A"/>
                </a:solidFill>
              </a:defRPr>
            </a:lvl6pPr>
            <a:lvl7pPr algn="l">
              <a:defRPr sz="1050" b="1">
                <a:solidFill>
                  <a:srgbClr val="27343A"/>
                </a:solidFill>
              </a:defRPr>
            </a:lvl7pPr>
            <a:lvl8pPr algn="l">
              <a:defRPr sz="1050" b="1">
                <a:solidFill>
                  <a:srgbClr val="27343A"/>
                </a:solidFill>
              </a:defRPr>
            </a:lvl8pPr>
            <a:lvl9pPr algn="l">
              <a:defRPr sz="1050" b="1">
                <a:solidFill>
                  <a:srgbClr val="27343A"/>
                </a:solidFill>
              </a:defRPr>
            </a:lvl9pPr>
          </a:lstStyle>
          <a:p>
            <a:pPr algn="l">
              <a:defRPr sz="1050" b="1">
                <a:solidFill>
                  <a:srgbClr val="27343A"/>
                </a:solidFill>
              </a:defRPr>
            </a:pPr>
            <a:r>
              <a:rPr sz="1050" b="1">
                <a:solidFill>
                  <a:srgbClr val="27343A"/>
                </a:solidFill>
              </a:rPr>
              <a:t>Outcome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1D2605-3BE5-4CD5-BE49-252828DD9767}"/>
              </a:ext>
            </a:extLst>
          </p:cNvPr>
          <p:cNvSpPr>
            <a:spLocks noGrp="1"/>
          </p:cNvSpPr>
          <p:nvPr/>
        </p:nvSpPr>
        <p:spPr>
          <a:xfrm>
            <a:off x="6800850" y="3476625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266"/>
                </a:solidFill>
              </a:defRPr>
            </a:defPPr>
            <a:lvl1pPr algn="l">
              <a:defRPr sz="900" b="0">
                <a:solidFill>
                  <a:srgbClr val="5B6266"/>
                </a:solidFill>
              </a:defRPr>
            </a:lvl1pPr>
            <a:lvl2pPr algn="l">
              <a:defRPr sz="900" b="0">
                <a:solidFill>
                  <a:srgbClr val="5B6266"/>
                </a:solidFill>
              </a:defRPr>
            </a:lvl2pPr>
            <a:lvl3pPr algn="l">
              <a:defRPr sz="900" b="0">
                <a:solidFill>
                  <a:srgbClr val="5B6266"/>
                </a:solidFill>
              </a:defRPr>
            </a:lvl3pPr>
            <a:lvl4pPr algn="l">
              <a:defRPr sz="900" b="0">
                <a:solidFill>
                  <a:srgbClr val="5B6266"/>
                </a:solidFill>
              </a:defRPr>
            </a:lvl4pPr>
            <a:lvl5pPr algn="l">
              <a:defRPr sz="900" b="0">
                <a:solidFill>
                  <a:srgbClr val="5B6266"/>
                </a:solidFill>
              </a:defRPr>
            </a:lvl5pPr>
            <a:lvl6pPr algn="l">
              <a:defRPr sz="900" b="0">
                <a:solidFill>
                  <a:srgbClr val="5B6266"/>
                </a:solidFill>
              </a:defRPr>
            </a:lvl6pPr>
            <a:lvl7pPr algn="l">
              <a:defRPr sz="900" b="0">
                <a:solidFill>
                  <a:srgbClr val="5B6266"/>
                </a:solidFill>
              </a:defRPr>
            </a:lvl7pPr>
            <a:lvl8pPr algn="l">
              <a:defRPr sz="900" b="0">
                <a:solidFill>
                  <a:srgbClr val="5B6266"/>
                </a:solidFill>
              </a:defRPr>
            </a:lvl8pPr>
            <a:lvl9pPr algn="l">
              <a:defRPr sz="900" b="0">
                <a:solidFill>
                  <a:srgbClr val="5B6266"/>
                </a:solidFill>
              </a:defRPr>
            </a:lvl9pPr>
          </a:lstStyle>
          <a:p>
            <a:pPr algn="l">
              <a:defRPr sz="900" b="0">
                <a:solidFill>
                  <a:srgbClr val="5B6266"/>
                </a:solidFill>
              </a:defRPr>
            </a:pPr>
            <a:r>
              <a:rPr sz="900" b="0">
                <a:solidFill>
                  <a:srgbClr val="5B6266"/>
                </a:solidFill>
              </a:rPr>
              <a:t>solver status + feasibility checks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20A52E-8352-49C6-AB7D-7BBB54C0C9D4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781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E86B16"/>
                </a:solidFill>
              </a:defRPr>
            </a:defPPr>
            <a:lvl1pPr algn="l">
              <a:defRPr sz="1125" b="1">
                <a:solidFill>
                  <a:srgbClr val="E86B16"/>
                </a:solidFill>
              </a:defRPr>
            </a:lvl1pPr>
            <a:lvl2pPr algn="l">
              <a:defRPr sz="1125" b="1">
                <a:solidFill>
                  <a:srgbClr val="E86B16"/>
                </a:solidFill>
              </a:defRPr>
            </a:lvl2pPr>
            <a:lvl3pPr algn="l">
              <a:defRPr sz="1125" b="1">
                <a:solidFill>
                  <a:srgbClr val="E86B16"/>
                </a:solidFill>
              </a:defRPr>
            </a:lvl3pPr>
            <a:lvl4pPr algn="l">
              <a:defRPr sz="1125" b="1">
                <a:solidFill>
                  <a:srgbClr val="E86B16"/>
                </a:solidFill>
              </a:defRPr>
            </a:lvl4pPr>
            <a:lvl5pPr algn="l">
              <a:defRPr sz="1125" b="1">
                <a:solidFill>
                  <a:srgbClr val="E86B16"/>
                </a:solidFill>
              </a:defRPr>
            </a:lvl5pPr>
            <a:lvl6pPr algn="l">
              <a:defRPr sz="1125" b="1">
                <a:solidFill>
                  <a:srgbClr val="E86B16"/>
                </a:solidFill>
              </a:defRPr>
            </a:lvl6pPr>
            <a:lvl7pPr algn="l">
              <a:defRPr sz="1125" b="1">
                <a:solidFill>
                  <a:srgbClr val="E86B16"/>
                </a:solidFill>
              </a:defRPr>
            </a:lvl7pPr>
            <a:lvl8pPr algn="l">
              <a:defRPr sz="1125" b="1">
                <a:solidFill>
                  <a:srgbClr val="E86B16"/>
                </a:solidFill>
              </a:defRPr>
            </a:lvl8pPr>
            <a:lvl9pPr algn="l">
              <a:defRPr sz="1125" b="1">
                <a:solidFill>
                  <a:srgbClr val="E86B16"/>
                </a:solidFill>
              </a:defRPr>
            </a:lvl9pPr>
          </a:lstStyle>
          <a:p>
            <a:pPr algn="l">
              <a:defRPr sz="1125" b="1">
                <a:solidFill>
                  <a:srgbClr val="E86B16"/>
                </a:solidFill>
              </a:defRPr>
            </a:pPr>
            <a:r>
              <a:rPr sz="1125" b="1">
                <a:solidFill>
                  <a:srgbClr val="E86B16"/>
                </a:solidFill>
              </a:rPr>
              <a:t>Block and ask when target, units, bounds, or post-apply state do not match.</a:t>
            </a:r>
          </a:p>
        </p:txBody>
      </p:sp>
    </p:spTree>
    <p:extLst>
      <p:ext uri="{BB962C8B-B14F-4D97-AF65-F5344CB8AC3E}">
        <p14:creationId xmlns:p14="http://schemas.microsoft.com/office/powerpoint/2010/main" val="1414178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6E6A-85D4-D23B-453A-FB2F8B9A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04635-E747-4C66-45D3-B87F45D1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08660"/>
            <a:ext cx="8229600" cy="762693"/>
          </a:xfrm>
        </p:spPr>
        <p:txBody>
          <a:bodyPr>
            <a:normAutofit fontScale="40000" lnSpcReduction="20000"/>
          </a:bodyPr>
          <a:lstStyle/>
          <a:p>
            <a:pPr marL="76200" indent="0">
              <a:buNone/>
            </a:pPr>
            <a:r>
              <a:rPr dirty="0"/>
              <a:t>Terminal (CLI):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       Question 1: </a:t>
            </a:r>
            <a:r>
              <a:rPr dirty="0"/>
              <a:t>doubling a generator's cost weight</a:t>
            </a:r>
            <a:endParaRPr lang="en-US" dirty="0"/>
          </a:p>
          <a:p>
            <a:pPr marL="76200" indent="0">
              <a:buNone/>
            </a:pPr>
            <a:r>
              <a:rPr lang="en-US" dirty="0"/>
              <a:t> --&gt; Question 2 Replace PV_1 with an IBR with available power 1 </a:t>
            </a:r>
            <a:r>
              <a:rPr lang="en-US" dirty="0" err="1"/>
              <a:t>pu</a:t>
            </a:r>
            <a:r>
              <a:rPr lang="en-US" dirty="0"/>
              <a:t>, dispatch cost 1 dollar per </a:t>
            </a:r>
            <a:r>
              <a:rPr lang="en-US" dirty="0" err="1"/>
              <a:t>pu</a:t>
            </a:r>
            <a:r>
              <a:rPr lang="en-US" dirty="0"/>
              <a:t>, curtailment penalty 20 dollars per </a:t>
            </a:r>
            <a:r>
              <a:rPr lang="en-US" dirty="0" err="1"/>
              <a:t>pu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418CD-8832-CE85-02B7-CCCC46DA5C4D}"/>
              </a:ext>
            </a:extLst>
          </p:cNvPr>
          <p:cNvSpPr/>
          <p:nvPr/>
        </p:nvSpPr>
        <p:spPr>
          <a:xfrm>
            <a:off x="4227022" y="2152996"/>
            <a:ext cx="689956" cy="418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9FB88-3B38-A9FE-8A6C-2C614996D85D}"/>
              </a:ext>
            </a:extLst>
          </p:cNvPr>
          <p:cNvSpPr/>
          <p:nvPr/>
        </p:nvSpPr>
        <p:spPr>
          <a:xfrm>
            <a:off x="5642957" y="2152995"/>
            <a:ext cx="1564178" cy="4187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Revised Problem Formulation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37C5B-4D80-EE5E-2FB7-345E9724B589}"/>
              </a:ext>
            </a:extLst>
          </p:cNvPr>
          <p:cNvSpPr/>
          <p:nvPr/>
        </p:nvSpPr>
        <p:spPr>
          <a:xfrm>
            <a:off x="7605738" y="2167959"/>
            <a:ext cx="1064265" cy="4187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AMS </a:t>
            </a:r>
            <a:r>
              <a:rPr lang="en-US" dirty="0">
                <a:highlight>
                  <a:srgbClr val="FFFF00"/>
                </a:highlight>
              </a:rPr>
              <a:t>(revised)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16A520-5641-F555-D85F-EF9FA255694D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4916978" y="2362373"/>
            <a:ext cx="72597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249065-2E51-C902-C840-1A07B7D46E3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7236722" y="2377337"/>
            <a:ext cx="36901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68953D-9573-E578-BFCC-5A1B2D0281A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244353" y="2362373"/>
            <a:ext cx="0" cy="96583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712D224-818B-7E55-47D6-AFD2E5C435D1}"/>
              </a:ext>
            </a:extLst>
          </p:cNvPr>
          <p:cNvSpPr/>
          <p:nvPr/>
        </p:nvSpPr>
        <p:spPr>
          <a:xfrm>
            <a:off x="4788742" y="3328209"/>
            <a:ext cx="911221" cy="418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Config</a:t>
            </a:r>
          </a:p>
          <a:p>
            <a:pPr algn="ctr"/>
            <a:r>
              <a:rPr lang="en-US" dirty="0"/>
              <a:t>file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8996C6A5-004F-DCA8-629C-27657709300B}"/>
              </a:ext>
            </a:extLst>
          </p:cNvPr>
          <p:cNvSpPr/>
          <p:nvPr/>
        </p:nvSpPr>
        <p:spPr>
          <a:xfrm>
            <a:off x="5743115" y="3023356"/>
            <a:ext cx="290945" cy="1028460"/>
          </a:xfrm>
          <a:prstGeom prst="leftBrace">
            <a:avLst>
              <a:gd name="adj1" fmla="val 76762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B14169-0529-DE49-8DE5-2B558556AFF7}"/>
              </a:ext>
            </a:extLst>
          </p:cNvPr>
          <p:cNvSpPr txBox="1"/>
          <p:nvPr/>
        </p:nvSpPr>
        <p:spPr>
          <a:xfrm>
            <a:off x="6063208" y="3020432"/>
            <a:ext cx="23839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optimization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Revise certain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E20F4-285C-11B7-F8F8-6DC192E30479}"/>
              </a:ext>
            </a:extLst>
          </p:cNvPr>
          <p:cNvSpPr txBox="1"/>
          <p:nvPr/>
        </p:nvSpPr>
        <p:spPr>
          <a:xfrm>
            <a:off x="491677" y="1681604"/>
            <a:ext cx="32446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formulation_controls.json</a:t>
            </a:r>
            <a:endParaRPr lang="en-US" dirty="0"/>
          </a:p>
          <a:p>
            <a:r>
              <a:rPr lang="en-US" dirty="0"/>
              <a:t>├── version</a:t>
            </a:r>
          </a:p>
          <a:p>
            <a:r>
              <a:rPr lang="en-US" dirty="0"/>
              <a:t>├── </a:t>
            </a:r>
            <a:r>
              <a:rPr lang="en-US" dirty="0" err="1"/>
              <a:t>constraint_labels</a:t>
            </a:r>
            <a:endParaRPr lang="en-US" dirty="0"/>
          </a:p>
          <a:p>
            <a:r>
              <a:rPr lang="en-US" dirty="0"/>
              <a:t>├── </a:t>
            </a:r>
            <a:r>
              <a:rPr lang="en-US" dirty="0" err="1"/>
              <a:t>ramping_constraints</a:t>
            </a:r>
            <a:endParaRPr lang="en-US" dirty="0"/>
          </a:p>
          <a:p>
            <a:r>
              <a:rPr lang="en-US" dirty="0"/>
              <a:t>├── controls</a:t>
            </a:r>
          </a:p>
          <a:p>
            <a:r>
              <a:rPr lang="en-US" dirty="0"/>
              <a:t>│   ├── id / label / description</a:t>
            </a:r>
          </a:p>
          <a:p>
            <a:r>
              <a:rPr lang="en-US" dirty="0"/>
              <a:t>│   ├── enabled                    </a:t>
            </a:r>
          </a:p>
          <a:p>
            <a:r>
              <a:rPr lang="en-US" dirty="0"/>
              <a:t>│   ├── routines</a:t>
            </a:r>
          </a:p>
          <a:p>
            <a:r>
              <a:rPr lang="en-US" dirty="0"/>
              <a:t>│   ├── </a:t>
            </a:r>
            <a:r>
              <a:rPr lang="en-US" dirty="0" err="1"/>
              <a:t>requires_constraints</a:t>
            </a:r>
            <a:endParaRPr lang="en-US" dirty="0"/>
          </a:p>
          <a:p>
            <a:r>
              <a:rPr lang="en-US" dirty="0"/>
              <a:t>│   ├── parameters</a:t>
            </a:r>
          </a:p>
          <a:p>
            <a:r>
              <a:rPr lang="en-US" dirty="0"/>
              <a:t>│   └── </a:t>
            </a:r>
            <a:r>
              <a:rPr lang="en-US" dirty="0" err="1"/>
              <a:t>prompt_examples</a:t>
            </a:r>
            <a:endParaRPr lang="en-US" dirty="0"/>
          </a:p>
          <a:p>
            <a:r>
              <a:rPr lang="en-US" dirty="0"/>
              <a:t>└── </a:t>
            </a:r>
            <a:r>
              <a:rPr lang="en-US" dirty="0" err="1"/>
              <a:t>unsupported_message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52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E9E7-3796-4DFE-A715-1652AF2C6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Hank’s PV curve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2D239-EF96-400F-68D4-F7E8EA1DE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61" y="557466"/>
            <a:ext cx="7772400" cy="45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8B0C-66ED-AFC5-8B6D-18392386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E4BE-F93E-D63D-0599-FBB14B06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FFDA53-FBE2-3E85-B67A-DE158506B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08660"/>
            <a:ext cx="8229600" cy="330431"/>
          </a:xfrm>
        </p:spPr>
        <p:txBody>
          <a:bodyPr>
            <a:normAutofit fontScale="67500" lnSpcReduction="20000"/>
          </a:bodyPr>
          <a:lstStyle/>
          <a:p>
            <a:pPr marL="76200" indent="0">
              <a:buNone/>
            </a:pPr>
            <a:r>
              <a:rPr lang="en-US" dirty="0"/>
              <a:t>Web UI: the formulation the agent edits</a:t>
            </a:r>
            <a:endParaRPr dirty="0"/>
          </a:p>
        </p:txBody>
      </p:sp>
      <p:pic>
        <p:nvPicPr>
          <p:cNvPr id="5" name="Screen Recording 2026-09-28 at 9.40.56 AM">
            <a:hlinkClick r:id="" action="ppaction://media"/>
            <a:extLst>
              <a:ext uri="{FF2B5EF4-FFF2-40B4-BE49-F238E27FC236}">
                <a16:creationId xmlns:a16="http://schemas.microsoft.com/office/drawing/2014/main" id="{B191C330-5379-3589-D7C7-CB9FD083B4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52754" y="1008404"/>
            <a:ext cx="5832639" cy="378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3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18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2AE7-F17A-C218-247F-3F02B65B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E371-DD3E-277B-2EA3-B566C7C7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Revise the optimization problem formulation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09A34C-BD28-47F8-AA24-962CE9F9B30F}"/>
              </a:ext>
            </a:extLst>
          </p:cNvPr>
          <p:cNvSpPr txBox="1">
            <a:spLocks/>
          </p:cNvSpPr>
          <p:nvPr/>
        </p:nvSpPr>
        <p:spPr>
          <a:xfrm>
            <a:off x="457200" y="485175"/>
            <a:ext cx="443899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7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800" dirty="0">
                <a:solidFill>
                  <a:schemeClr val="tx1"/>
                </a:solidFill>
              </a:rPr>
              <a:t>Workflow: the new formulate route</a:t>
            </a:r>
          </a:p>
        </p:txBody>
      </p:sp>
      <p:pic>
        <p:nvPicPr>
          <p:cNvPr id="7" name="Picture 6" descr="workflow.png">
            <a:extLst>
              <a:ext uri="{FF2B5EF4-FFF2-40B4-BE49-F238E27FC236}">
                <a16:creationId xmlns:a16="http://schemas.microsoft.com/office/drawing/2014/main" id="{20CAB329-C8BC-C128-CE6E-6D3E73C1C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914400"/>
            <a:ext cx="725424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88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F0DF7-6D25-4F9E-ABAB-0C73FC8B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9116-8E95-3192-67BE-C583A83A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How to verify or benchmark?</a:t>
            </a:r>
          </a:p>
        </p:txBody>
      </p:sp>
      <p:pic>
        <p:nvPicPr>
          <p:cNvPr id="3" name="Picture 2" descr="benchmark.png">
            <a:extLst>
              <a:ext uri="{FF2B5EF4-FFF2-40B4-BE49-F238E27FC236}">
                <a16:creationId xmlns:a16="http://schemas.microsoft.com/office/drawing/2014/main" id="{5AE73AEF-F9EA-3CBF-4F0A-FE2150822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0" y="768096"/>
            <a:ext cx="6990080" cy="3931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0715F1-9134-5D1B-C652-071C8FFE7A71}"/>
              </a:ext>
            </a:extLst>
          </p:cNvPr>
          <p:cNvSpPr txBox="1"/>
          <p:nvPr/>
        </p:nvSpPr>
        <p:spPr>
          <a:xfrm>
            <a:off x="457200" y="690372"/>
            <a:ext cx="745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Benchmark: 9 / 9 checks pass on PJM 5-bus</a:t>
            </a:r>
          </a:p>
        </p:txBody>
      </p:sp>
    </p:spTree>
    <p:extLst>
      <p:ext uri="{BB962C8B-B14F-4D97-AF65-F5344CB8AC3E}">
        <p14:creationId xmlns:p14="http://schemas.microsoft.com/office/powerpoint/2010/main" val="366286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219A-E47E-84E8-E5A4-95DC4B42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22E7-2D13-03DF-4909-19321442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How to verify or benchmark?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5C0573-6CF9-6E46-11F4-3C7F7786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800100"/>
            <a:ext cx="8229600" cy="3829050"/>
          </a:xfrm>
        </p:spPr>
        <p:txBody>
          <a:bodyPr>
            <a:normAutofit/>
          </a:bodyPr>
          <a:lstStyle/>
          <a:p>
            <a:pPr lvl="0"/>
            <a:r>
              <a:rPr lang="en-US" sz="2000" b="1" dirty="0"/>
              <a:t>Layered verification:</a:t>
            </a:r>
            <a:r>
              <a:rPr lang="en-US" sz="2000" dirty="0"/>
              <a:t> Check user intent, formulation, implementation, and solution feasibility/optimality—not just solver success.</a:t>
            </a:r>
          </a:p>
          <a:p>
            <a:pPr lvl="0"/>
            <a:r>
              <a:rPr lang="en-US" sz="2000" b="1" dirty="0"/>
              <a:t>New benchmarks:</a:t>
            </a:r>
            <a:r>
              <a:rPr lang="en-US" sz="2000" dirty="0"/>
              <a:t> Combine expert-reviewed components, hand-solvable cases, and mathematical property tests (e.g., relaxing constraints cannot worsen the optimum).</a:t>
            </a:r>
          </a:p>
          <a:p>
            <a:pPr lvl="0"/>
            <a:r>
              <a:rPr lang="en-US" sz="2000" b="1" dirty="0"/>
              <a:t>Verifier evaluation:</a:t>
            </a:r>
            <a:r>
              <a:rPr lang="en-US" sz="2000" dirty="0"/>
              <a:t> Inject missing constraints, sign errors, and incorrect device mappings; supplement with cross-tool comparisons and expert review.</a:t>
            </a:r>
          </a:p>
        </p:txBody>
      </p:sp>
    </p:spTree>
    <p:extLst>
      <p:ext uri="{BB962C8B-B14F-4D97-AF65-F5344CB8AC3E}">
        <p14:creationId xmlns:p14="http://schemas.microsoft.com/office/powerpoint/2010/main" val="48201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D378-0D0D-EA54-3898-16841ABC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Comparison with peer works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2232CB-2654-D3B3-8699-A7060161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78" y="2726462"/>
            <a:ext cx="7772400" cy="20369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AC5ADE-80C5-238C-00DF-209D74ED4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78" y="1033575"/>
            <a:ext cx="6361981" cy="16928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1B5516-5B1C-205A-1629-05731C6DC2C6}"/>
              </a:ext>
            </a:extLst>
          </p:cNvPr>
          <p:cNvSpPr txBox="1"/>
          <p:nvPr/>
        </p:nvSpPr>
        <p:spPr>
          <a:xfrm>
            <a:off x="457200" y="677224"/>
            <a:ext cx="3105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US" b="1" i="0" dirty="0" err="1">
                <a:solidFill>
                  <a:srgbClr val="000000"/>
                </a:solidFill>
                <a:effectLst/>
                <a:latin typeface="Arial"/>
              </a:rPr>
              <a:t>PowerAgent</a:t>
            </a:r>
            <a:r>
              <a:rPr lang="en-US" b="1" i="0" dirty="0">
                <a:solidFill>
                  <a:srgbClr val="000000"/>
                </a:solidFill>
                <a:effectLst/>
                <a:latin typeface="Arial"/>
              </a:rPr>
              <a:t> – Harvard Dr. </a:t>
            </a:r>
            <a:r>
              <a:rPr lang="en-US" b="1" dirty="0"/>
              <a:t>Le Xie</a:t>
            </a:r>
            <a:endParaRPr lang="en-US" b="1" i="0" dirty="0">
              <a:solidFill>
                <a:srgbClr val="F8FAFC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29910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20F05-EA20-7820-AE7A-3B9A8395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4115-5EA6-DE00-FDE0-CE1AA526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Comparison with peer 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B1167-D29C-0C58-5FAA-392142C95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78576"/>
            <a:ext cx="7772400" cy="3786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4C46E3-02CE-4AE1-3759-6AB22C388EEF}"/>
              </a:ext>
            </a:extLst>
          </p:cNvPr>
          <p:cNvSpPr txBox="1"/>
          <p:nvPr/>
        </p:nvSpPr>
        <p:spPr>
          <a:xfrm>
            <a:off x="1518248" y="4464924"/>
            <a:ext cx="6668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07900"/>
                </a:solidFill>
              </a:rPr>
              <a:t>PowerAgent</a:t>
            </a:r>
            <a:r>
              <a:rPr lang="en-US" b="1" dirty="0">
                <a:solidFill>
                  <a:srgbClr val="007900"/>
                </a:solidFill>
              </a:rPr>
              <a:t> emphasizes broad software-level integration, while LLM_AMS targets deeper interaction with optimization formulations.</a:t>
            </a:r>
            <a:endParaRPr lang="en-US" dirty="0">
              <a:solidFill>
                <a:srgbClr val="007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298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28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Acknowledgements</a:t>
            </a:r>
            <a:endParaRPr dirty="0"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505" y="4281320"/>
            <a:ext cx="624178" cy="62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0091" y="4288942"/>
            <a:ext cx="621179" cy="62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0283" y="2962015"/>
            <a:ext cx="2431375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9506" y="2408676"/>
            <a:ext cx="2522494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89196" y="2358685"/>
            <a:ext cx="598856" cy="48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8997" y="3614946"/>
            <a:ext cx="2834755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17790" y="2395058"/>
            <a:ext cx="1923300" cy="550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17991" y="3013385"/>
            <a:ext cx="2627679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17499" y="3552521"/>
            <a:ext cx="1155152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98330" y="2923721"/>
            <a:ext cx="2102351" cy="6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86880" y="2405526"/>
            <a:ext cx="1923294" cy="4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14">
            <a:alphaModFix/>
          </a:blip>
          <a:srcRect r="53862"/>
          <a:stretch>
            <a:fillRect/>
          </a:stretch>
        </p:blipFill>
        <p:spPr>
          <a:xfrm>
            <a:off x="3836375" y="1406955"/>
            <a:ext cx="1843065" cy="6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81266" y="784756"/>
            <a:ext cx="2130764" cy="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62494" y="733057"/>
            <a:ext cx="2419206" cy="59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778959" y="1500561"/>
            <a:ext cx="1941824" cy="482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80C24843-2C7B-DF07-37E0-96C3427D4E0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0814" y="1500561"/>
            <a:ext cx="2130764" cy="423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4FFC40-DBBC-2202-0402-473FCD72DAE4}"/>
              </a:ext>
            </a:extLst>
          </p:cNvPr>
          <p:cNvSpPr txBox="1"/>
          <p:nvPr/>
        </p:nvSpPr>
        <p:spPr>
          <a:xfrm>
            <a:off x="457200" y="640146"/>
            <a:ext cx="1208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Contributors: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57C4D-581A-B145-94DD-2D155324A995}"/>
              </a:ext>
            </a:extLst>
          </p:cNvPr>
          <p:cNvSpPr txBox="1"/>
          <p:nvPr/>
        </p:nvSpPr>
        <p:spPr>
          <a:xfrm>
            <a:off x="355600" y="4170047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Acknowledgements: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C6C33-9838-6CBA-DF4A-782530EA6DC3}"/>
              </a:ext>
            </a:extLst>
          </p:cNvPr>
          <p:cNvSpPr txBox="1"/>
          <p:nvPr/>
        </p:nvSpPr>
        <p:spPr>
          <a:xfrm>
            <a:off x="457200" y="2021973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Users: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ENT PPT Template_v2">
  <a:themeElements>
    <a:clrScheme name="CURENT">
      <a:dk1>
        <a:srgbClr val="4C4C4C"/>
      </a:dk1>
      <a:lt1>
        <a:srgbClr val="FFFFFF"/>
      </a:lt1>
      <a:dk2>
        <a:srgbClr val="4C4C4C"/>
      </a:dk2>
      <a:lt2>
        <a:srgbClr val="FFFFFF"/>
      </a:lt2>
      <a:accent1>
        <a:srgbClr val="007900"/>
      </a:accent1>
      <a:accent2>
        <a:srgbClr val="F77F00"/>
      </a:accent2>
      <a:accent3>
        <a:srgbClr val="7992B1"/>
      </a:accent3>
      <a:accent4>
        <a:srgbClr val="999999"/>
      </a:accent4>
      <a:accent5>
        <a:srgbClr val="9FFF9F"/>
      </a:accent5>
      <a:accent6>
        <a:srgbClr val="FFC789"/>
      </a:accent6>
      <a:hlink>
        <a:srgbClr val="F77F00"/>
      </a:hlink>
      <a:folHlink>
        <a:srgbClr val="FFC7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23893</TotalTime>
  <Words>867</Words>
  <Application>Microsoft Macintosh PowerPoint</Application>
  <PresentationFormat>On-screen Show (16:9)</PresentationFormat>
  <Paragraphs>172</Paragraphs>
  <Slides>14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Inter</vt:lpstr>
      <vt:lpstr>Century Gothic</vt:lpstr>
      <vt:lpstr>Arial</vt:lpstr>
      <vt:lpstr>Courier New</vt:lpstr>
      <vt:lpstr>CURENT PPT Template_v2</vt:lpstr>
      <vt:lpstr>CURENT Large-scale Testbed (LTB)  Monthly Meeting</vt:lpstr>
      <vt:lpstr>1. Summary</vt:lpstr>
      <vt:lpstr>PowerPoint Presentation</vt:lpstr>
      <vt:lpstr>PowerPoint Presentation</vt:lpstr>
      <vt:lpstr>PowerPoint Presentation</vt:lpstr>
      <vt:lpstr>Revise the optimization problem formulation</vt:lpstr>
      <vt:lpstr>Hank’s PV curve interface</vt:lpstr>
      <vt:lpstr>Revise the optimization problem formulation</vt:lpstr>
      <vt:lpstr>Revise the optimization problem formulation</vt:lpstr>
      <vt:lpstr>How to verify or benchmark?</vt:lpstr>
      <vt:lpstr>How to verify or benchmark?</vt:lpstr>
      <vt:lpstr>Comparison with peer works</vt:lpstr>
      <vt:lpstr>Comparison with peer works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Yin, Junjie</cp:lastModifiedBy>
  <cp:revision>18</cp:revision>
  <dcterms:modified xsi:type="dcterms:W3CDTF">2026-10-26T13:55:52Z</dcterms:modified>
</cp:coreProperties>
</file>