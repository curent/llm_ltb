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3f3511433b48d1" /><Relationship Type="http://schemas.openxmlformats.org/officeDocument/2006/relationships/extended-properties" Target="/docProps/app.xml" Id="Rfba05d42a3a049e7" /><Relationship Type="http://schemas.openxmlformats.org/officeDocument/2006/relationships/officeDocument" Target="/ppt/presentation.xml" Id="R75aa50ea9ac9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dec8aa96b4965"/>
  </p:sldMasterIdLst>
  <p:notesMasterIdLst>
    <p:notesMasterId xmlns:r="http://schemas.openxmlformats.org/officeDocument/2006/relationships" r:id="R9dbb0d69b0554638"/>
  </p:notesMasterIdLst>
  <p:sldIdLst>
    <p:sldId xmlns:r="http://schemas.openxmlformats.org/officeDocument/2006/relationships" id="256" r:id="R08726d651fc74460"/>
    <p:sldId xmlns:r="http://schemas.openxmlformats.org/officeDocument/2006/relationships" id="257" r:id="R00c6f4f3ea6a4756"/>
    <p:sldId xmlns:r="http://schemas.openxmlformats.org/officeDocument/2006/relationships" id="258" r:id="Rfa65bad342f848a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a8866f5d614a17" /><Relationship Type="http://schemas.openxmlformats.org/officeDocument/2006/relationships/slideMaster" Target="/ppt/slideMasters/slideMaster1.xml" Id="Rd5ddec8aa96b4965" /><Relationship Type="http://schemas.openxmlformats.org/officeDocument/2006/relationships/notesMaster" Target="/ppt/notesMasters/notesMaster1.xml" Id="R9dbb0d69b0554638" /><Relationship Type="http://schemas.openxmlformats.org/officeDocument/2006/relationships/presProps" Target="/ppt/presProps.xml" Id="R34c03610c2fe499a" /><Relationship Type="http://schemas.openxmlformats.org/officeDocument/2006/relationships/tableStyles" Target="/ppt/tableStyles.xml" Id="R99c7b461c9bc49d3" /><Relationship Type="http://schemas.openxmlformats.org/officeDocument/2006/relationships/slide" Target="/ppt/slides/slide1.xml" Id="R08726d651fc74460" /><Relationship Type="http://schemas.openxmlformats.org/officeDocument/2006/relationships/slide" Target="/ppt/slides/slide2.xml" Id="R00c6f4f3ea6a4756" /><Relationship Type="http://schemas.openxmlformats.org/officeDocument/2006/relationships/slide" Target="/ppt/slides/slide3.xml" Id="Rfa65bad342f8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b9a1e967fa47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a5a81310f4c6e" /><Relationship Type="http://schemas.openxmlformats.org/officeDocument/2006/relationships/notesMaster" Target="/ppt/notesMasters/notesMaster1.xml" Id="Rcc82333c5d48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2ed4836dd24aa9" /><Relationship Type="http://schemas.openxmlformats.org/officeDocument/2006/relationships/notesMaster" Target="/ppt/notesMasters/notesMaster1.xml" Id="R20913d140422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f024327d14a19" /><Relationship Type="http://schemas.openxmlformats.org/officeDocument/2006/relationships/notesMaster" Target="/ppt/notesMasters/notesMaster1.xml" Id="R017dbcaeba0c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077d3a6254d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b167a530b4b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6456663240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e2cc8c5474e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6cfc1c2c64a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74058fad9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9A50C9-BB88-48B9-8D38-A5A51D4C8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DE373B-1A8A-40FF-B7AD-91F0A3E9D4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F3F925-C1E5-450A-BFF3-02813A4D9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5FFD25-F4C9-4348-85F8-659B2B4E1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6812D0-AF6A-407C-8613-76512DF0E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1BF79B-983E-47EE-A2A5-DFDA5E78D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AAA0F7-AAEE-4692-A4BE-30E90F0DA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C7BDDE-C6B7-46AA-89E4-E680E1F18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1BDD36-B3D4-49A5-840A-062821335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151448-CFC9-4AAD-8B1B-8104D9231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7f03799e454185" /><Relationship Type="http://schemas.openxmlformats.org/officeDocument/2006/relationships/slideLayout" Target="/ppt/slideLayouts/slideLayout1.xml" Id="R90865e60d4924802" /><Relationship Type="http://schemas.openxmlformats.org/officeDocument/2006/relationships/slideLayout" Target="/ppt/slideLayouts/slideLayout2.xml" Id="Rfa57158f4f3145b2" /><Relationship Type="http://schemas.openxmlformats.org/officeDocument/2006/relationships/slideLayout" Target="/ppt/slideLayouts/slideLayout3.xml" Id="R5214e3de1303473e" /><Relationship Type="http://schemas.openxmlformats.org/officeDocument/2006/relationships/slideLayout" Target="/ppt/slideLayouts/slideLayout4.xml" Id="R8b1b047d4a084929" /><Relationship Type="http://schemas.openxmlformats.org/officeDocument/2006/relationships/slideLayout" Target="/ppt/slideLayouts/slideLayout5.xml" Id="R98e38ce3f3664f0c" /><Relationship Type="http://schemas.openxmlformats.org/officeDocument/2006/relationships/slideLayout" Target="/ppt/slideLayouts/slideLayout6.xml" Id="Rf105d70161a9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65e60d4924802"/>
    <p:sldLayoutId xmlns:r="http://schemas.openxmlformats.org/officeDocument/2006/relationships" id="2147483650" r:id="Rfa57158f4f3145b2"/>
    <p:sldLayoutId xmlns:r="http://schemas.openxmlformats.org/officeDocument/2006/relationships" id="2147483651" r:id="R5214e3de1303473e"/>
    <p:sldLayoutId xmlns:r="http://schemas.openxmlformats.org/officeDocument/2006/relationships" id="2147483652" r:id="R8b1b047d4a084929"/>
    <p:sldLayoutId xmlns:r="http://schemas.openxmlformats.org/officeDocument/2006/relationships" id="2147483653" r:id="R98e38ce3f3664f0c"/>
    <p:sldLayoutId xmlns:r="http://schemas.openxmlformats.org/officeDocument/2006/relationships" id="2147483654" r:id="Rf105d70161a9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4e6b56a4b44e3" /><Relationship Type="http://schemas.openxmlformats.org/officeDocument/2006/relationships/notesSlide" Target="/ppt/notesSlides/notesSlide1.xml" Id="R15dbdd0da3674c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0d2e9349f4981" /><Relationship Type="http://schemas.openxmlformats.org/officeDocument/2006/relationships/notesSlide" Target="/ppt/notesSlides/notesSlide2.xml" Id="Rd13e50c37608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6d81efebd4e97" /><Relationship Type="http://schemas.openxmlformats.org/officeDocument/2006/relationships/notesSlide" Target="/ppt/notesSlides/notesSlide3.xml" Id="R4f48ec99f572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798C38A-E554-433B-BE05-51F325B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Configuration file update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99A8316-6EF2-4F9F-AFAC-0DC032C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31E527C2-B6C0-492B-A499-8AC9F5B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85BA0-3E51-4BD0-A78B-0923D20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16EC-D552-4886-AF04-03BF73D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9BE6-2040-4DDF-877E-A54F7D0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4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A reviewed catalog can describe model edits; the compiler applies only declared templates.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75517-76E4-4191-8ADC-CDB65599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FORMULATION CONTROL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CBCEE-F159-46FA-B439-C19D64C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1F7F1"/>
          </a:solidFill>
          <a:ln xmlns:a="http://schemas.openxmlformats.org/drawingml/2006/main" w="14288">
            <a:solidFill>
              <a:srgbClr val="A8C9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59B44-A873-43B2-B1CC-0323AAE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control_id · operation_kind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6CFC7-708B-44B6-9CA3-C423EF3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scenario  |  formulation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CB1E7-19B3-4EF1-B3C4-CF49BDC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7204D-82D2-4626-985D-8210E2F8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routines · target_scope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BC505-BE5A-44C6-A818-1DCEB61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DCOPF / ED / UC / ACOPF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F9D9B-4CFB-431A-852A-6830CDF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68674-6A30-4F1B-8D1D-E60D5B0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variables · objective_terms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A5EA-472A-4699-9592-DE20E74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what the template adds or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BD23B-5591-49AB-BB0F-9ABA840B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B2DA1-2018-4619-8769-A870461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constraint_templates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92FAB-7C10-48D7-AE93-5F65126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named, versioned, reviewed blocks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01178-AA9E-430F-A09E-39513B6A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55320-127C-4B2E-B079-3048A332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parameters · bounds · units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5FE66-6893-4937-BAA8-883B99D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 values with validation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87F5-614D-4BDF-A6A7-6BD00FF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96672-AC13-478C-84DA-7F1CDD3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preconditions · conflicts · 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6A0B1-FAF3-4A78-AFCB-4C2E0EB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safe composition and recovery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7726F-F17B-47A2-8F02-0BA6FA67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43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DECLARATION → MODEL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2FECC-1840-471B-96AF-CD923D8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1066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7F1"/>
          </a:solidFill>
          <a:ln xmlns:a="http://schemas.openxmlformats.org/drawingml/2006/main" w="14288">
            <a:solidFill>
              <a:srgbClr val="85B7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B1B74-C2B7-43CD-B0AA-3173BED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FDCFE-9D38-4E83-B789-660BD74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574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reviewed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template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88495-8A14-48B6-AF55-EEFFBB0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104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14288">
            <a:solidFill>
              <a:srgbClr val="7B9A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6A02C-6812-477C-B366-F3D7B72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33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CCB01-3134-4D5B-B7BE-2ACAD1D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574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routine · types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bounds · conflicts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C51D4-A984-4200-8C34-D891CFA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7A3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9A047-C671-4187-865A-03F9969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3357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Compile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65FB5-74BD-460A-BDDE-549F850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57425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AMS model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8D612-0A45-44E1-9C52-1216E77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24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DB561-A835-4EE9-B819-3DD90FB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20140-FD07-4DE0-AE06-AA3B3859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95625"/>
            <a:ext cx="327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7FA96-EC41-4956-B88B-14034DC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90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7343A"/>
                </a:solidFill>
              </a:defRPr>
            </a:defPPr>
            <a:lvl1pPr algn="l">
              <a:defRPr sz="1200" b="1">
                <a:solidFill>
                  <a:srgbClr val="27343A"/>
                </a:solidFill>
              </a:defRPr>
            </a:lvl1pPr>
            <a:lvl2pPr algn="l">
              <a:defRPr sz="1200" b="1">
                <a:solidFill>
                  <a:srgbClr val="27343A"/>
                </a:solidFill>
              </a:defRPr>
            </a:lvl2pPr>
            <a:lvl3pPr algn="l">
              <a:defRPr sz="1200" b="1">
                <a:solidFill>
                  <a:srgbClr val="27343A"/>
                </a:solidFill>
              </a:defRPr>
            </a:lvl3pPr>
            <a:lvl4pPr algn="l">
              <a:defRPr sz="1200" b="1">
                <a:solidFill>
                  <a:srgbClr val="27343A"/>
                </a:solidFill>
              </a:defRPr>
            </a:lvl4pPr>
            <a:lvl5pPr algn="l">
              <a:defRPr sz="1200" b="1">
                <a:solidFill>
                  <a:srgbClr val="27343A"/>
                </a:solidFill>
              </a:defRPr>
            </a:lvl5pPr>
            <a:lvl6pPr algn="l">
              <a:defRPr sz="1200" b="1">
                <a:solidFill>
                  <a:srgbClr val="27343A"/>
                </a:solidFill>
              </a:defRPr>
            </a:lvl6pPr>
            <a:lvl7pPr algn="l">
              <a:defRPr sz="1200" b="1">
                <a:solidFill>
                  <a:srgbClr val="27343A"/>
                </a:solidFill>
              </a:defRPr>
            </a:lvl7pPr>
            <a:lvl8pPr algn="l">
              <a:defRPr sz="1200" b="1">
                <a:solidFill>
                  <a:srgbClr val="27343A"/>
                </a:solidFill>
              </a:defRPr>
            </a:lvl8pPr>
            <a:lvl9pPr algn="l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Live AMS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FC7CF-0324-40B5-B9B3-EDEFB654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76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266"/>
                </a:solidFill>
              </a:defRPr>
            </a:defPPr>
            <a:lvl1pPr algn="l">
              <a:defRPr sz="1050" b="0">
                <a:solidFill>
                  <a:srgbClr val="5B6266"/>
                </a:solidFill>
              </a:defRPr>
            </a:lvl1pPr>
            <a:lvl2pPr algn="l">
              <a:defRPr sz="1050" b="0">
                <a:solidFill>
                  <a:srgbClr val="5B6266"/>
                </a:solidFill>
              </a:defRPr>
            </a:lvl2pPr>
            <a:lvl3pPr algn="l">
              <a:defRPr sz="1050" b="0">
                <a:solidFill>
                  <a:srgbClr val="5B6266"/>
                </a:solidFill>
              </a:defRPr>
            </a:lvl3pPr>
            <a:lvl4pPr algn="l">
              <a:defRPr sz="1050" b="0">
                <a:solidFill>
                  <a:srgbClr val="5B6266"/>
                </a:solidFill>
              </a:defRPr>
            </a:lvl4pPr>
            <a:lvl5pPr algn="l">
              <a:defRPr sz="1050" b="0">
                <a:solidFill>
                  <a:srgbClr val="5B6266"/>
                </a:solidFill>
              </a:defRPr>
            </a:lvl5pPr>
            <a:lvl6pPr algn="l">
              <a:defRPr sz="1050" b="0">
                <a:solidFill>
                  <a:srgbClr val="5B6266"/>
                </a:solidFill>
              </a:defRPr>
            </a:lvl6pPr>
            <a:lvl7pPr algn="l">
              <a:defRPr sz="1050" b="0">
                <a:solidFill>
                  <a:srgbClr val="5B6266"/>
                </a:solidFill>
              </a:defRPr>
            </a:lvl7pPr>
            <a:lvl8pPr algn="l">
              <a:defRPr sz="1050" b="0">
                <a:solidFill>
                  <a:srgbClr val="5B6266"/>
                </a:solidFill>
              </a:defRPr>
            </a:lvl8pPr>
            <a:lvl9pPr algn="l">
              <a:defRPr sz="105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266"/>
                </a:solidFill>
              </a:defRPr>
            </a:pPr>
            <a:r>
              <a:rPr sz="1050" b="0">
                <a:solidFill>
                  <a:srgbClr val="5B6266"/>
                </a:solidFill>
              </a:rPr>
              <a:t>Only validated, routine-compatible edits are applied.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6D6B06-8560-4172-9AE3-EA8141D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E86B16"/>
                </a:solidFill>
              </a:defRPr>
            </a:defPPr>
            <a:lvl1pPr algn="l">
              <a:defRPr sz="900" b="1">
                <a:solidFill>
                  <a:srgbClr val="E86B16"/>
                </a:solidFill>
              </a:defRPr>
            </a:lvl1pPr>
            <a:lvl2pPr algn="l">
              <a:defRPr sz="900" b="1">
                <a:solidFill>
                  <a:srgbClr val="E86B16"/>
                </a:solidFill>
              </a:defRPr>
            </a:lvl2pPr>
            <a:lvl3pPr algn="l">
              <a:defRPr sz="900" b="1">
                <a:solidFill>
                  <a:srgbClr val="E86B16"/>
                </a:solidFill>
              </a:defRPr>
            </a:lvl3pPr>
            <a:lvl4pPr algn="l">
              <a:defRPr sz="900" b="1">
                <a:solidFill>
                  <a:srgbClr val="E86B16"/>
                </a:solidFill>
              </a:defRPr>
            </a:lvl4pPr>
            <a:lvl5pPr algn="l">
              <a:defRPr sz="900" b="1">
                <a:solidFill>
                  <a:srgbClr val="E86B16"/>
                </a:solidFill>
              </a:defRPr>
            </a:lvl5pPr>
            <a:lvl6pPr algn="l">
              <a:defRPr sz="900" b="1">
                <a:solidFill>
                  <a:srgbClr val="E86B16"/>
                </a:solidFill>
              </a:defRPr>
            </a:lvl6pPr>
            <a:lvl7pPr algn="l">
              <a:defRPr sz="900" b="1">
                <a:solidFill>
                  <a:srgbClr val="E86B16"/>
                </a:solidFill>
              </a:defRPr>
            </a:lvl7pPr>
            <a:lvl8pPr algn="l">
              <a:defRPr sz="900" b="1">
                <a:solidFill>
                  <a:srgbClr val="E86B16"/>
                </a:solidFill>
              </a:defRPr>
            </a:lvl8pPr>
            <a:lvl9pPr algn="l">
              <a:defRPr sz="900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86B16"/>
                </a:solidFill>
              </a:defRPr>
            </a:pPr>
            <a:r>
              <a:rPr sz="900" b="1">
                <a:solidFill>
                  <a:srgbClr val="E86B16"/>
                </a:solidFill>
              </a:rPr>
              <a:t>Design direction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7A49C3-15C3-42EF-87BE-4CBB3EA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7343A"/>
                </a:solidFill>
              </a:defRPr>
            </a:defPPr>
            <a:lvl1pPr algn="l">
              <a:defRPr sz="1125" b="0">
                <a:solidFill>
                  <a:srgbClr val="27343A"/>
                </a:solidFill>
              </a:defRPr>
            </a:lvl1pPr>
            <a:lvl2pPr algn="l">
              <a:defRPr sz="1125" b="0">
                <a:solidFill>
                  <a:srgbClr val="27343A"/>
                </a:solidFill>
              </a:defRPr>
            </a:lvl2pPr>
            <a:lvl3pPr algn="l">
              <a:defRPr sz="1125" b="0">
                <a:solidFill>
                  <a:srgbClr val="27343A"/>
                </a:solidFill>
              </a:defRPr>
            </a:lvl3pPr>
            <a:lvl4pPr algn="l">
              <a:defRPr sz="1125" b="0">
                <a:solidFill>
                  <a:srgbClr val="27343A"/>
                </a:solidFill>
              </a:defRPr>
            </a:lvl4pPr>
            <a:lvl5pPr algn="l">
              <a:defRPr sz="1125" b="0">
                <a:solidFill>
                  <a:srgbClr val="27343A"/>
                </a:solidFill>
              </a:defRPr>
            </a:lvl5pPr>
            <a:lvl6pPr algn="l">
              <a:defRPr sz="1125" b="0">
                <a:solidFill>
                  <a:srgbClr val="27343A"/>
                </a:solidFill>
              </a:defRPr>
            </a:lvl6pPr>
            <a:lvl7pPr algn="l">
              <a:defRPr sz="1125" b="0">
                <a:solidFill>
                  <a:srgbClr val="27343A"/>
                </a:solidFill>
              </a:defRPr>
            </a:lvl7pPr>
            <a:lvl8pPr algn="l">
              <a:defRPr sz="1125" b="0">
                <a:solidFill>
                  <a:srgbClr val="27343A"/>
                </a:solidFill>
              </a:defRPr>
            </a:lvl8pPr>
            <a:lvl9pPr algn="l">
              <a:defRPr sz="1125" b="0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7343A"/>
                </a:solidFill>
              </a:defRPr>
            </a:pPr>
            <a:r>
              <a:rPr sz="1125" b="0">
                <a:solidFill>
                  <a:srgbClr val="27343A"/>
                </a:solidFill>
              </a:rPr>
              <a:t>Replace one-off executor branches with configuration-driven, validated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1039253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FAE8657-CF2B-4333-9638-24FA4D4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Revise parameter classification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E3020401-7C75-44FC-A033-68E7A0B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A5DEC26-F550-40E6-828A-6100D4B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CF7AE-B9DB-4AFB-B060-BC0AAD9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82E80-D088-40F7-8712-7B1BD37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569A-8DB0-4531-A036-3F3F0D8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Route by what the request changes in the optimization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A0E6E-8683-430C-8D14-DC3AD87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3476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B9AA7"/>
                </a:solidFill>
              </a:defRPr>
            </a:defPPr>
            <a:lvl1pPr algn="l">
              <a:defRPr sz="1125" b="1">
                <a:solidFill>
                  <a:srgbClr val="7B9AA7"/>
                </a:solidFill>
              </a:defRPr>
            </a:lvl1pPr>
            <a:lvl2pPr algn="l">
              <a:defRPr sz="1125" b="1">
                <a:solidFill>
                  <a:srgbClr val="7B9AA7"/>
                </a:solidFill>
              </a:defRPr>
            </a:lvl2pPr>
            <a:lvl3pPr algn="l">
              <a:defRPr sz="1125" b="1">
                <a:solidFill>
                  <a:srgbClr val="7B9AA7"/>
                </a:solidFill>
              </a:defRPr>
            </a:lvl3pPr>
            <a:lvl4pPr algn="l">
              <a:defRPr sz="1125" b="1">
                <a:solidFill>
                  <a:srgbClr val="7B9AA7"/>
                </a:solidFill>
              </a:defRPr>
            </a:lvl4pPr>
            <a:lvl5pPr algn="l">
              <a:defRPr sz="1125" b="1">
                <a:solidFill>
                  <a:srgbClr val="7B9AA7"/>
                </a:solidFill>
              </a:defRPr>
            </a:lvl5pPr>
            <a:lvl6pPr algn="l">
              <a:defRPr sz="1125" b="1">
                <a:solidFill>
                  <a:srgbClr val="7B9AA7"/>
                </a:solidFill>
              </a:defRPr>
            </a:lvl6pPr>
            <a:lvl7pPr algn="l">
              <a:defRPr sz="1125" b="1">
                <a:solidFill>
                  <a:srgbClr val="7B9AA7"/>
                </a:solidFill>
              </a:defRPr>
            </a:lvl7pPr>
            <a:lvl8pPr algn="l">
              <a:defRPr sz="1125" b="1">
                <a:solidFill>
                  <a:srgbClr val="7B9AA7"/>
                </a:solidFill>
              </a:defRPr>
            </a:lvl8pPr>
            <a:lvl9pPr algn="l">
              <a:defRPr sz="112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B9AA7"/>
                </a:solidFill>
              </a:defRPr>
            </a:pPr>
            <a:r>
              <a:rPr sz="1125" b="1">
                <a:solidFill>
                  <a:srgbClr val="7B9AA7"/>
                </a:solidFill>
              </a:rPr>
              <a:t>SCENARIO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8FE29-26D2-4769-8453-06BE707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71575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FORMULATION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49C5-AEE0-4810-838A-F6CBCEA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714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14288">
            <a:solidFill>
              <a:srgbClr val="B7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A3D05-99FA-4A36-9F3B-86464AB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57325"/>
            <a:ext cx="37719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6A3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8C74-C368-4B78-8B26-7489FC3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Updates values or availability within an existing model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4ACF1-FE90-4416-814E-F0FA5BE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CF64E-1EA5-4EF0-9CE9-91C4B361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Load level / demand 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05694-334E-4C5D-8C1F-5422D1F7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EC631-39CE-4807-A31C-F5A45C0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Line status or rating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91D16-532E-424A-8287-1903A98E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51FE1-A745-4D13-822F-E233889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Routine setting such as config.t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0F578-7AC6-4F3C-8C67-460ACE7A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266"/>
                </a:solidFill>
              </a:defRPr>
            </a:defPPr>
            <a:lvl1pPr algn="l">
              <a:defRPr sz="975" b="0">
                <a:solidFill>
                  <a:srgbClr val="5B6266"/>
                </a:solidFill>
              </a:defRPr>
            </a:lvl1pPr>
            <a:lvl2pPr algn="l">
              <a:defRPr sz="975" b="0">
                <a:solidFill>
                  <a:srgbClr val="5B6266"/>
                </a:solidFill>
              </a:defRPr>
            </a:lvl2pPr>
            <a:lvl3pPr algn="l">
              <a:defRPr sz="975" b="0">
                <a:solidFill>
                  <a:srgbClr val="5B6266"/>
                </a:solidFill>
              </a:defRPr>
            </a:lvl3pPr>
            <a:lvl4pPr algn="l">
              <a:defRPr sz="975" b="0">
                <a:solidFill>
                  <a:srgbClr val="5B6266"/>
                </a:solidFill>
              </a:defRPr>
            </a:lvl4pPr>
            <a:lvl5pPr algn="l">
              <a:defRPr sz="975" b="0">
                <a:solidFill>
                  <a:srgbClr val="5B6266"/>
                </a:solidFill>
              </a:defRPr>
            </a:lvl5pPr>
            <a:lvl6pPr algn="l">
              <a:defRPr sz="975" b="0">
                <a:solidFill>
                  <a:srgbClr val="5B6266"/>
                </a:solidFill>
              </a:defRPr>
            </a:lvl6pPr>
            <a:lvl7pPr algn="l">
              <a:defRPr sz="975" b="0">
                <a:solidFill>
                  <a:srgbClr val="5B6266"/>
                </a:solidFill>
              </a:defRPr>
            </a:lvl7pPr>
            <a:lvl8pPr algn="l">
              <a:defRPr sz="975" b="0">
                <a:solidFill>
                  <a:srgbClr val="5B6266"/>
                </a:solidFill>
              </a:defRPr>
            </a:lvl8pPr>
            <a:lvl9pPr algn="l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Model data changes; decision structure stays fixed.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21C8B-614A-458E-8D80-3183DB6D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097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Changes variables, objective terms, or feasible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9DF67-560E-46F2-97FF-3383201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0868C-8812-42B5-BCDD-4F8A6AC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or revise an objective cost term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FA86E-2634-4617-B1A8-A4A5942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21328-1153-4E4D-AB1B-B002863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14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/ remove a named constraint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102A5-70E4-4B4B-AD17-E17E20B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7C7B8-AC7A-4663-9B4B-03A604FB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384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Replace PV with an IBR: variables + limits + 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4A791-243D-469C-8410-66A42BD5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86B16"/>
                </a:solidFill>
              </a:defRPr>
            </a:defPPr>
            <a:lvl1pPr algn="l">
              <a:defRPr sz="975" b="1">
                <a:solidFill>
                  <a:srgbClr val="E86B16"/>
                </a:solidFill>
              </a:defRPr>
            </a:lvl1pPr>
            <a:lvl2pPr algn="l">
              <a:defRPr sz="975" b="1">
                <a:solidFill>
                  <a:srgbClr val="E86B16"/>
                </a:solidFill>
              </a:defRPr>
            </a:lvl2pPr>
            <a:lvl3pPr algn="l">
              <a:defRPr sz="975" b="1">
                <a:solidFill>
                  <a:srgbClr val="E86B16"/>
                </a:solidFill>
              </a:defRPr>
            </a:lvl3pPr>
            <a:lvl4pPr algn="l">
              <a:defRPr sz="975" b="1">
                <a:solidFill>
                  <a:srgbClr val="E86B16"/>
                </a:solidFill>
              </a:defRPr>
            </a:lvl4pPr>
            <a:lvl5pPr algn="l">
              <a:defRPr sz="975" b="1">
                <a:solidFill>
                  <a:srgbClr val="E86B16"/>
                </a:solidFill>
              </a:defRPr>
            </a:lvl5pPr>
            <a:lvl6pPr algn="l">
              <a:defRPr sz="975" b="1">
                <a:solidFill>
                  <a:srgbClr val="E86B16"/>
                </a:solidFill>
              </a:defRPr>
            </a:lvl6pPr>
            <a:lvl7pPr algn="l">
              <a:defRPr sz="975" b="1">
                <a:solidFill>
                  <a:srgbClr val="E86B16"/>
                </a:solidFill>
              </a:defRPr>
            </a:lvl7pPr>
            <a:lvl8pPr algn="l">
              <a:defRPr sz="975" b="1">
                <a:solidFill>
                  <a:srgbClr val="E86B16"/>
                </a:solidFill>
              </a:defRPr>
            </a:lvl8pPr>
            <a:lvl9pPr algn="l">
              <a:defRPr sz="9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86B16"/>
                </a:solidFill>
              </a:defRPr>
            </a:pPr>
            <a:r>
              <a:rPr sz="975" b="1">
                <a:solidFill>
                  <a:srgbClr val="E86B16"/>
                </a:solidFill>
              </a:rPr>
              <a:t>Prioritize these structural edits in the formulation catalog.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B1302-52B1-40AC-9B05-9768328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78A2F-9660-4ADC-B6F4-4C51520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CLASSIFICATION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35732-3B0E-4E71-A29B-5599BB3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7343A"/>
                </a:solidFill>
              </a:defRPr>
            </a:defPPr>
            <a:lvl1pPr algn="l">
              <a:defRPr sz="1125" b="1">
                <a:solidFill>
                  <a:srgbClr val="27343A"/>
                </a:solidFill>
              </a:defRPr>
            </a:lvl1pPr>
            <a:lvl2pPr algn="l">
              <a:defRPr sz="1125" b="1">
                <a:solidFill>
                  <a:srgbClr val="27343A"/>
                </a:solidFill>
              </a:defRPr>
            </a:lvl2pPr>
            <a:lvl3pPr algn="l">
              <a:defRPr sz="1125" b="1">
                <a:solidFill>
                  <a:srgbClr val="27343A"/>
                </a:solidFill>
              </a:defRPr>
            </a:lvl3pPr>
            <a:lvl4pPr algn="l">
              <a:defRPr sz="1125" b="1">
                <a:solidFill>
                  <a:srgbClr val="27343A"/>
                </a:solidFill>
              </a:defRPr>
            </a:lvl4pPr>
            <a:lvl5pPr algn="l">
              <a:defRPr sz="1125" b="1">
                <a:solidFill>
                  <a:srgbClr val="27343A"/>
                </a:solidFill>
              </a:defRPr>
            </a:lvl5pPr>
            <a:lvl6pPr algn="l">
              <a:defRPr sz="1125" b="1">
                <a:solidFill>
                  <a:srgbClr val="27343A"/>
                </a:solidFill>
              </a:defRPr>
            </a:lvl6pPr>
            <a:lvl7pPr algn="l">
              <a:defRPr sz="1125" b="1">
                <a:solidFill>
                  <a:srgbClr val="27343A"/>
                </a:solidFill>
              </a:defRPr>
            </a:lvl7pPr>
            <a:lvl8pPr algn="l">
              <a:defRPr sz="1125" b="1">
                <a:solidFill>
                  <a:srgbClr val="27343A"/>
                </a:solidFill>
              </a:defRPr>
            </a:lvl8pPr>
            <a:lvl9pPr algn="l">
              <a:defRPr sz="1125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Data / availability only  →  scenario     |     New variables, objective terms, or constraints  →  formulation</a:t>
            </a:r>
          </a:p>
        </p:txBody>
      </p:sp>
    </p:spTree>
    <p:extLst>
      <p:ext uri="{BB962C8B-B14F-4D97-AF65-F5344CB8AC3E}">
        <p14:creationId xmlns:p14="http://schemas.microsoft.com/office/powerpoint/2010/main" val="1508597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50652AC-E1F4-4DC2-A50E-FB8170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8000"/>
                </a:solidFill>
              </a:defRPr>
            </a:defPPr>
            <a:lvl1pPr algn="l">
              <a:defRPr sz="2025" b="1">
                <a:solidFill>
                  <a:srgbClr val="008000"/>
                </a:solidFill>
              </a:defRPr>
            </a:lvl1pPr>
            <a:lvl2pPr algn="l">
              <a:defRPr sz="2025" b="1">
                <a:solidFill>
                  <a:srgbClr val="008000"/>
                </a:solidFill>
              </a:defRPr>
            </a:lvl2pPr>
            <a:lvl3pPr algn="l">
              <a:defRPr sz="2025" b="1">
                <a:solidFill>
                  <a:srgbClr val="008000"/>
                </a:solidFill>
              </a:defRPr>
            </a:lvl3pPr>
            <a:lvl4pPr algn="l">
              <a:defRPr sz="2025" b="1">
                <a:solidFill>
                  <a:srgbClr val="008000"/>
                </a:solidFill>
              </a:defRPr>
            </a:lvl4pPr>
            <a:lvl5pPr algn="l">
              <a:defRPr sz="2025" b="1">
                <a:solidFill>
                  <a:srgbClr val="008000"/>
                </a:solidFill>
              </a:defRPr>
            </a:lvl5pPr>
            <a:lvl6pPr algn="l">
              <a:defRPr sz="2025" b="1">
                <a:solidFill>
                  <a:srgbClr val="008000"/>
                </a:solidFill>
              </a:defRPr>
            </a:lvl6pPr>
            <a:lvl7pPr algn="l">
              <a:defRPr sz="2025" b="1">
                <a:solidFill>
                  <a:srgbClr val="008000"/>
                </a:solidFill>
              </a:defRPr>
            </a:lvl7pPr>
            <a:lvl8pPr algn="l">
              <a:defRPr sz="2025" b="1">
                <a:solidFill>
                  <a:srgbClr val="008000"/>
                </a:solidFill>
              </a:defRPr>
            </a:lvl8pPr>
            <a:lvl9pPr algn="l">
              <a:defRPr sz="20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000"/>
                </a:solidFill>
              </a:defRPr>
            </a:pPr>
            <a:r>
              <a:rPr sz="2025" b="1">
                <a:solidFill>
                  <a:srgbClr val="008000"/>
                </a:solidFill>
              </a:rPr>
              <a:t>How to ensure the LLM executes a prompt correctly?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5531BA6-9862-4344-A5D7-2B79F28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F47AB9B0-6B45-45B6-BF8A-4CCAF43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BE1B6-F479-408B-AC39-FF4D845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3CE5-0701-4F1E-A31E-E860A40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D9A8B-07A4-4C3F-9782-0E30405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4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Treat execution as a verifiable transaction, not a reasoning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F687D-A73F-4FDC-9BB0-C502116B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1200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2D11-59B1-4F63-B49F-27A8F50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1 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7B192-0BF2-4B0D-BA39-D17508F3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7343A"/>
                </a:solidFill>
              </a:defRPr>
            </a:defPPr>
            <a:lvl1pPr algn="ctr">
              <a:defRPr sz="1125" b="1">
                <a:solidFill>
                  <a:srgbClr val="27343A"/>
                </a:solidFill>
              </a:defRPr>
            </a:lvl1pPr>
            <a:lvl2pPr algn="ctr">
              <a:defRPr sz="1125" b="1">
                <a:solidFill>
                  <a:srgbClr val="27343A"/>
                </a:solidFill>
              </a:defRPr>
            </a:lvl2pPr>
            <a:lvl3pPr algn="ctr">
              <a:defRPr sz="1125" b="1">
                <a:solidFill>
                  <a:srgbClr val="27343A"/>
                </a:solidFill>
              </a:defRPr>
            </a:lvl3pPr>
            <a:lvl4pPr algn="ctr">
              <a:defRPr sz="1125" b="1">
                <a:solidFill>
                  <a:srgbClr val="27343A"/>
                </a:solidFill>
              </a:defRPr>
            </a:lvl4pPr>
            <a:lvl5pPr algn="ctr">
              <a:defRPr sz="1125" b="1">
                <a:solidFill>
                  <a:srgbClr val="27343A"/>
                </a:solidFill>
              </a:defRPr>
            </a:lvl5pPr>
            <a:lvl6pPr algn="ctr">
              <a:defRPr sz="1125" b="1">
                <a:solidFill>
                  <a:srgbClr val="27343A"/>
                </a:solidFill>
              </a:defRPr>
            </a:lvl6pPr>
            <a:lvl7pPr algn="ctr">
              <a:defRPr sz="1125" b="1">
                <a:solidFill>
                  <a:srgbClr val="27343A"/>
                </a:solidFill>
              </a:defRPr>
            </a:lvl7pPr>
            <a:lvl8pPr algn="ctr">
              <a:defRPr sz="1125" b="1">
                <a:solidFill>
                  <a:srgbClr val="27343A"/>
                </a:solidFill>
              </a:defRPr>
            </a:lvl8pPr>
            <a:lvl9pPr algn="ctr">
              <a:defRPr sz="1125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“Set a = 0.9”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3AA8B-6ABC-4509-A840-C1A7460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+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F8F92-BEA7-4CA9-9BD6-6119855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1CDDD-BA33-45F8-8FDD-81AF66F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2 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2099-551A-4B88-9C44-3BA02B1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:= 0.9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66A0C-73F3-4716-B13B-503E3BB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Typed, scoped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operation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135C3-B7FB-47AC-A5E7-46D7569C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7742A-3CA6-4915-88D8-6B1057A2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3  PRECHECK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CF584-6F99-4930-8574-7297A58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exists · in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B559C-52D1-4C36-9DE6-3D79ED6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Routine · units ·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preconditions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7FB9B-846E-4080-8D37-EAE3A20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42200-7985-4F97-A390-05923288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4  APPLY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767D3-FEE9-4422-8E16-AB8BC7D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Declared edit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A8C65-594A-4627-8703-1977D437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One controlled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199C8-7630-4A30-B524-D707BEC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00175"/>
            <a:ext cx="19716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EA"/>
          </a:solidFill>
          <a:ln xmlns:a="http://schemas.openxmlformats.org/drawingml/2006/main" w="14288">
            <a:solidFill>
              <a:srgbClr val="80B7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301FF-70D4-4DBF-9830-8258BCA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04950"/>
            <a:ext cx="1781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008000"/>
                </a:solidFill>
              </a:defRPr>
            </a:defPPr>
            <a:lvl1pPr algn="ctr">
              <a:defRPr sz="825" b="1">
                <a:solidFill>
                  <a:srgbClr val="008000"/>
                </a:solidFill>
              </a:defRPr>
            </a:lvl1pPr>
            <a:lvl2pPr algn="ctr">
              <a:defRPr sz="825" b="1">
                <a:solidFill>
                  <a:srgbClr val="008000"/>
                </a:solidFill>
              </a:defRPr>
            </a:lvl2pPr>
            <a:lvl3pPr algn="ctr">
              <a:defRPr sz="825" b="1">
                <a:solidFill>
                  <a:srgbClr val="008000"/>
                </a:solidFill>
              </a:defRPr>
            </a:lvl3pPr>
            <a:lvl4pPr algn="ctr">
              <a:defRPr sz="825" b="1">
                <a:solidFill>
                  <a:srgbClr val="008000"/>
                </a:solidFill>
              </a:defRPr>
            </a:lvl4pPr>
            <a:lvl5pPr algn="ctr">
              <a:defRPr sz="825" b="1">
                <a:solidFill>
                  <a:srgbClr val="008000"/>
                </a:solidFill>
              </a:defRPr>
            </a:lvl5pPr>
            <a:lvl6pPr algn="ctr">
              <a:defRPr sz="825" b="1">
                <a:solidFill>
                  <a:srgbClr val="008000"/>
                </a:solidFill>
              </a:defRPr>
            </a:lvl6pPr>
            <a:lvl7pPr algn="ctr">
              <a:defRPr sz="825" b="1">
                <a:solidFill>
                  <a:srgbClr val="008000"/>
                </a:solidFill>
              </a:defRPr>
            </a:lvl7pPr>
            <a:lvl8pPr algn="ctr">
              <a:defRPr sz="825" b="1">
                <a:solidFill>
                  <a:srgbClr val="008000"/>
                </a:solidFill>
              </a:defRPr>
            </a:lvl8pPr>
            <a:lvl9pPr algn="ctr">
              <a:defRPr sz="8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08000"/>
                </a:solidFill>
              </a:defRPr>
            </a:pPr>
            <a:r>
              <a:rPr sz="825" b="1">
                <a:solidFill>
                  <a:srgbClr val="008000"/>
                </a:solidFill>
              </a:rPr>
              <a:t>5  READ 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DFF5A-8EAF-407D-ACBA-C837BB0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33550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Actual value = 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7D362-FF11-450A-9152-BA08190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diff + solve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feasibility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5E9C6-EC1E-476E-9F93-BB2D95B1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86A14-825A-4451-8D35-04BFF93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765EF-DBE4-47EB-A36A-E3010B4E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380AF-2692-4470-B48B-AF6959A9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C8AEC-FBC3-4A0D-9628-4451327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EXECUTION RECORD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96B82-A798-4FC5-A4F6-2DDB4A5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CAF3E-BEA0-4885-82DA-AB8042F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Intent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D94625-7A3E-4E35-BA09-EEBF1AD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a · requested value 0.9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C2DFB-9415-4912-95F0-D5D0FA5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F5F5E-F00C-43C2-817A-8670B88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Applied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70DFB5-2918-4837-857D-7ADDC1D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read back from the live AMS object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2BC9FE-65E5-42F9-B3EB-C58E866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CC3AB-315D-42D2-AF42-7381D8D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Model effect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B523FF-F9E8-4D61-9BE1-5C7C429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changed fields / objective / constraints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7BCC53-ADF0-49BF-A7B0-CF40F42E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07A45-0F0B-4553-AFE8-1C2B5BE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Outcome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D2605-3BE5-4CD5-BE49-252828DD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solver status + feasibility checks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0A52E-8352-49C6-AB7D-7BBB54C0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Block and ask when target, units, bounds, or post-apply state do not match.</a:t>
            </a:r>
          </a:p>
        </p:txBody>
      </p:sp>
    </p:spTree>
    <p:extLst>
      <p:ext uri="{BB962C8B-B14F-4D97-AF65-F5344CB8AC3E}">
        <p14:creationId xmlns:p14="http://schemas.microsoft.com/office/powerpoint/2010/main" val="1414178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2026-10-26T03:58:39.6250000Z</dcterms:created>
  <dcterms:modified xsi:type="dcterms:W3CDTF">2026-10-26T03:58:39.6250000Z</dcterms:modified>
</coreProperties>
</file>