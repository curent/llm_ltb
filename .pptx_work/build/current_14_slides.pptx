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423" r:id="rId4"/>
    <p:sldId id="424" r:id="rId5"/>
    <p:sldId id="425" r:id="rId6"/>
    <p:sldId id="415" r:id="rId7"/>
    <p:sldId id="421" r:id="rId8"/>
    <p:sldId id="416" r:id="rId9"/>
    <p:sldId id="414" r:id="rId10"/>
    <p:sldId id="418" r:id="rId11"/>
    <p:sldId id="420" r:id="rId12"/>
    <p:sldId id="419" r:id="rId13"/>
    <p:sldId id="422" r:id="rId14"/>
    <p:sldId id="258" r:id="rId1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74D078-6048-4B6B-ACA5-52F38B7A75A1}">
  <a:tblStyle styleId="{5174D078-6048-4B6B-ACA5-52F38B7A75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7"/>
    <p:restoredTop sz="96956"/>
  </p:normalViewPr>
  <p:slideViewPr>
    <p:cSldViewPr snapToGrid="0">
      <p:cViewPr varScale="1">
        <p:scale>
          <a:sx n="160" d="100"/>
          <a:sy n="160" d="100"/>
        </p:scale>
        <p:origin x="76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, Junjie" userId="47921d4c-6e59-4d31-a2ef-894d00cbbe0e" providerId="ADAL" clId="{69C7B2AE-1C33-5C4B-AFB2-C176DD209AED}"/>
    <pc:docChg chg="custSel modSld">
      <pc:chgData name="Yin, Junjie" userId="47921d4c-6e59-4d31-a2ef-894d00cbbe0e" providerId="ADAL" clId="{69C7B2AE-1C33-5C4B-AFB2-C176DD209AED}" dt="2026-10-26T13:55:51.806" v="224" actId="108"/>
      <pc:docMkLst>
        <pc:docMk/>
      </pc:docMkLst>
      <pc:sldChg chg="modSp mod">
        <pc:chgData name="Yin, Junjie" userId="47921d4c-6e59-4d31-a2ef-894d00cbbe0e" providerId="ADAL" clId="{69C7B2AE-1C33-5C4B-AFB2-C176DD209AED}" dt="2026-10-26T03:42:54.036" v="5" actId="20577"/>
        <pc:sldMkLst>
          <pc:docMk/>
          <pc:sldMk cId="0" sldId="256"/>
        </pc:sldMkLst>
        <pc:spChg chg="mod">
          <ac:chgData name="Yin, Junjie" userId="47921d4c-6e59-4d31-a2ef-894d00cbbe0e" providerId="ADAL" clId="{69C7B2AE-1C33-5C4B-AFB2-C176DD209AED}" dt="2026-10-26T03:42:54.036" v="5" actId="20577"/>
          <ac:spMkLst>
            <pc:docMk/>
            <pc:sldMk cId="0" sldId="256"/>
            <ac:spMk id="142" creationId="{00000000-0000-0000-0000-000000000000}"/>
          </ac:spMkLst>
        </pc:spChg>
      </pc:sldChg>
      <pc:sldChg chg="modSp mod">
        <pc:chgData name="Yin, Junjie" userId="47921d4c-6e59-4d31-a2ef-894d00cbbe0e" providerId="ADAL" clId="{69C7B2AE-1C33-5C4B-AFB2-C176DD209AED}" dt="2026-10-26T03:47:20.199" v="223" actId="20577"/>
        <pc:sldMkLst>
          <pc:docMk/>
          <pc:sldMk cId="0" sldId="257"/>
        </pc:sldMkLst>
        <pc:spChg chg="mod">
          <ac:chgData name="Yin, Junjie" userId="47921d4c-6e59-4d31-a2ef-894d00cbbe0e" providerId="ADAL" clId="{69C7B2AE-1C33-5C4B-AFB2-C176DD209AED}" dt="2026-10-26T03:47:20.199" v="223" actId="20577"/>
          <ac:spMkLst>
            <pc:docMk/>
            <pc:sldMk cId="0" sldId="257"/>
            <ac:spMk id="148" creationId="{00000000-0000-0000-0000-000000000000}"/>
          </ac:spMkLst>
        </pc:spChg>
      </pc:sldChg>
      <pc:sldChg chg="modSp mod">
        <pc:chgData name="Yin, Junjie" userId="47921d4c-6e59-4d31-a2ef-894d00cbbe0e" providerId="ADAL" clId="{69C7B2AE-1C33-5C4B-AFB2-C176DD209AED}" dt="2026-10-26T13:55:51.806" v="224" actId="108"/>
        <pc:sldMkLst>
          <pc:docMk/>
          <pc:sldMk cId="1039253825" sldId="423"/>
        </pc:sldMkLst>
        <pc:spChg chg="mod">
          <ac:chgData name="Yin, Junjie" userId="47921d4c-6e59-4d31-a2ef-894d00cbbe0e" providerId="ADAL" clId="{69C7B2AE-1C33-5C4B-AFB2-C176DD209AED}" dt="2026-10-26T13:55:51.806" v="224" actId="108"/>
          <ac:spMkLst>
            <pc:docMk/>
            <pc:sldMk cId="1039253825" sldId="423"/>
            <ac:spMk id="8" creationId="{631CBCEE-F159-46FA-B439-C19D64C4F9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720a3317f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g11720a3317f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0fb18411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10fb18411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05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ISO, market clear, re-check (like PJM validate)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94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b33501d3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b33501d3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layers: Contributors and users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MSU as a user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685800" y="1150798"/>
            <a:ext cx="7772400" cy="170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371600" y="2971800"/>
            <a:ext cx="64008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>
                <a:solidFill>
                  <a:srgbClr val="262626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949494"/>
              </a:buClr>
              <a:buSzPts val="1600"/>
              <a:buNone/>
              <a:defRPr>
                <a:solidFill>
                  <a:srgbClr val="9494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49494"/>
              </a:buClr>
              <a:buSzPts val="1800"/>
              <a:buNone/>
              <a:defRPr>
                <a:solidFill>
                  <a:srgbClr val="949494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9pPr>
          </a:lstStyle>
          <a:p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457200" y="10287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143" y="4689129"/>
            <a:ext cx="1550194" cy="39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C6949DB-F371-98DD-2F6D-82C9E810EC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758" y="170897"/>
            <a:ext cx="3249205" cy="80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67;p28">
            <a:extLst>
              <a:ext uri="{FF2B5EF4-FFF2-40B4-BE49-F238E27FC236}">
                <a16:creationId xmlns:a16="http://schemas.microsoft.com/office/drawing/2014/main" id="{8B885567-34EC-0BB7-6B43-8D50A26C04B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rcRect t="8383" r="54041"/>
          <a:stretch>
            <a:fillRect/>
          </a:stretch>
        </p:blipFill>
        <p:spPr>
          <a:xfrm>
            <a:off x="4754935" y="4669345"/>
            <a:ext cx="1378225" cy="43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0;p28">
            <a:extLst>
              <a:ext uri="{FF2B5EF4-FFF2-40B4-BE49-F238E27FC236}">
                <a16:creationId xmlns:a16="http://schemas.microsoft.com/office/drawing/2014/main" id="{FAE1B5B9-FE5E-219A-41AF-5F14E365A500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1539" y="4680674"/>
            <a:ext cx="1550194" cy="39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742A6082-1A01-7B6B-4A1F-AFC6AF63C0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536362" y="4708590"/>
            <a:ext cx="1695583" cy="33707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57200" y="800100"/>
            <a:ext cx="8229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5"/>
          <p:cNvCxnSpPr/>
          <p:nvPr/>
        </p:nvCxnSpPr>
        <p:spPr>
          <a:xfrm>
            <a:off x="457200" y="6286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85800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3000"/>
              <a:buFont typeface="Arial"/>
              <a:buNone/>
              <a:defRPr sz="3000" b="1" cap="none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685800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 sz="1500">
                <a:solidFill>
                  <a:srgbClr val="949494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000"/>
              <a:buNone/>
              <a:defRPr sz="1400">
                <a:solidFill>
                  <a:srgbClr val="949494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200"/>
              <a:buNone/>
              <a:defRPr sz="1200">
                <a:solidFill>
                  <a:srgbClr val="949494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9pPr>
          </a:lstStyle>
          <a:p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457200" y="3305175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457200" y="800100"/>
            <a:ext cx="4038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sz="2100">
                <a:solidFill>
                  <a:srgbClr val="262626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◖"/>
              <a:defRPr sz="1800">
                <a:solidFill>
                  <a:srgbClr val="262626"/>
                </a:solidFill>
              </a:defRPr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▪"/>
              <a:defRPr sz="1500">
                <a:solidFill>
                  <a:srgbClr val="262626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»"/>
              <a:defRPr sz="14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648200" y="800100"/>
            <a:ext cx="4038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sz="2100">
                <a:solidFill>
                  <a:srgbClr val="262626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◖"/>
              <a:defRPr sz="1800">
                <a:solidFill>
                  <a:srgbClr val="262626"/>
                </a:solidFill>
              </a:defRPr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▪"/>
              <a:defRPr sz="1500">
                <a:solidFill>
                  <a:srgbClr val="262626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»"/>
              <a:defRPr sz="14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457200" y="6858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457200" y="1714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 b="1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457200" y="1485901"/>
            <a:ext cx="4040188" cy="325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>
                <a:solidFill>
                  <a:srgbClr val="262626"/>
                </a:solidFill>
              </a:defRPr>
            </a:lvl1pPr>
            <a:lvl2pPr marL="914400" lvl="1" indent="-2984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Char char="◖"/>
              <a:defRPr sz="1500">
                <a:solidFill>
                  <a:srgbClr val="262626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▪"/>
              <a:defRPr sz="1400">
                <a:solidFill>
                  <a:srgbClr val="262626"/>
                </a:solidFill>
              </a:defRPr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»"/>
              <a:defRPr sz="1200">
                <a:solidFill>
                  <a:srgbClr val="262626"/>
                </a:solidFill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3"/>
          </p:nvPr>
        </p:nvSpPr>
        <p:spPr>
          <a:xfrm>
            <a:off x="4645026" y="971550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 b="1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4"/>
          </p:nvPr>
        </p:nvSpPr>
        <p:spPr>
          <a:xfrm>
            <a:off x="4645026" y="1485901"/>
            <a:ext cx="4041775" cy="325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>
                <a:solidFill>
                  <a:srgbClr val="262626"/>
                </a:solidFill>
              </a:defRPr>
            </a:lvl1pPr>
            <a:lvl2pPr marL="914400" lvl="1" indent="-2984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Char char="◖"/>
              <a:defRPr sz="1500">
                <a:solidFill>
                  <a:srgbClr val="262626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▪"/>
              <a:defRPr sz="1400">
                <a:solidFill>
                  <a:srgbClr val="262626"/>
                </a:solidFill>
              </a:defRPr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»"/>
              <a:defRPr sz="1200">
                <a:solidFill>
                  <a:srgbClr val="262626"/>
                </a:solidFill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cxnSp>
        <p:nvCxnSpPr>
          <p:cNvPr id="91" name="Google Shape;91;p18"/>
          <p:cNvCxnSpPr/>
          <p:nvPr/>
        </p:nvCxnSpPr>
        <p:spPr>
          <a:xfrm>
            <a:off x="457200" y="1485900"/>
            <a:ext cx="4040188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18"/>
          <p:cNvCxnSpPr/>
          <p:nvPr/>
        </p:nvCxnSpPr>
        <p:spPr>
          <a:xfrm>
            <a:off x="4648200" y="1485900"/>
            <a:ext cx="4040188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18"/>
          <p:cNvCxnSpPr/>
          <p:nvPr/>
        </p:nvCxnSpPr>
        <p:spPr>
          <a:xfrm>
            <a:off x="457200" y="7429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4" name="Google Shape;9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5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19"/>
          <p:cNvCxnSpPr/>
          <p:nvPr/>
        </p:nvCxnSpPr>
        <p:spPr>
          <a:xfrm>
            <a:off x="457200" y="7429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9" name="Google Shape;9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2" y="4722805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477044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500"/>
              <a:buFont typeface="Arial"/>
              <a:buNone/>
              <a:defRPr sz="15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3581400" y="228600"/>
            <a:ext cx="5111750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sz="2400"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◖"/>
              <a:defRPr sz="2100">
                <a:solidFill>
                  <a:srgbClr val="000000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>
                <a:solidFill>
                  <a:srgbClr val="000000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 sz="1500">
                <a:solidFill>
                  <a:srgbClr val="000000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Char char="»"/>
              <a:defRPr sz="1500">
                <a:solidFill>
                  <a:srgbClr val="000000"/>
                </a:solidFill>
              </a:defRPr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2"/>
          </p:nvPr>
        </p:nvSpPr>
        <p:spPr>
          <a:xfrm>
            <a:off x="477044" y="1076325"/>
            <a:ext cx="3008313" cy="366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cxnSp>
        <p:nvCxnSpPr>
          <p:cNvPr id="108" name="Google Shape;108;p21"/>
          <p:cNvCxnSpPr/>
          <p:nvPr/>
        </p:nvCxnSpPr>
        <p:spPr>
          <a:xfrm>
            <a:off x="457200" y="1085850"/>
            <a:ext cx="30480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9" name="Google Shape;10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3450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500"/>
              <a:buFont typeface="Arial"/>
              <a:buNone/>
              <a:defRPr sz="15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9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cxnSp>
        <p:nvCxnSpPr>
          <p:cNvPr id="115" name="Google Shape;115;p22"/>
          <p:cNvCxnSpPr/>
          <p:nvPr/>
        </p:nvCxnSpPr>
        <p:spPr>
          <a:xfrm>
            <a:off x="1792288" y="4025504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 rot="5400000">
            <a:off x="2810671" y="-1153321"/>
            <a:ext cx="3522659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21" name="Google Shape;121;p23"/>
          <p:cNvCxnSpPr/>
          <p:nvPr/>
        </p:nvCxnSpPr>
        <p:spPr>
          <a:xfrm>
            <a:off x="457200" y="8001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2" name="Google Shape;12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 rot="5400000">
            <a:off x="5275064" y="1560314"/>
            <a:ext cx="476607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 rot="5400000">
            <a:off x="1084064" y="-420886"/>
            <a:ext cx="476607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402288" y="573752"/>
            <a:ext cx="1374534" cy="34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4"/>
          <p:cNvCxnSpPr/>
          <p:nvPr/>
        </p:nvCxnSpPr>
        <p:spPr>
          <a:xfrm rot="10800000" flipH="1">
            <a:off x="6629401" y="228600"/>
            <a:ext cx="1" cy="474345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24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5353496" y="827532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400"/>
              <a:buFont typeface="Arial"/>
              <a:buNone/>
              <a:defRPr sz="14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5353496" y="1508045"/>
            <a:ext cx="3383280" cy="323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2"/>
          </p:nvPr>
        </p:nvSpPr>
        <p:spPr>
          <a:xfrm>
            <a:off x="152400" y="582215"/>
            <a:ext cx="5102352" cy="416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 sz="2400"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 sz="2100"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 sz="1800"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 sz="1500"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 sz="15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34" name="Google Shape;134;p25"/>
          <p:cNvCxnSpPr/>
          <p:nvPr/>
        </p:nvCxnSpPr>
        <p:spPr>
          <a:xfrm>
            <a:off x="5334000" y="1485900"/>
            <a:ext cx="34290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5" name="Google Shape;13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53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7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91440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◖"/>
              <a:defRPr sz="21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tb.curent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URENT" TargetMode="External"/><Relationship Id="rId5" Type="http://schemas.openxmlformats.org/officeDocument/2006/relationships/hyperlink" Target="https://www.youtube.com/@curentltb" TargetMode="External"/><Relationship Id="rId4" Type="http://schemas.openxmlformats.org/officeDocument/2006/relationships/hyperlink" Target="https://www.linkedin.com/company/76122605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jp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ctrTitle"/>
          </p:nvPr>
        </p:nvSpPr>
        <p:spPr>
          <a:xfrm>
            <a:off x="685800" y="1285625"/>
            <a:ext cx="7772400" cy="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</a:pPr>
            <a:r>
              <a:rPr lang="en" sz="2400" b="1" dirty="0">
                <a:solidFill>
                  <a:schemeClr val="accent1"/>
                </a:solidFill>
              </a:rPr>
              <a:t>CURENT Large-scale Testbed (LTB) </a:t>
            </a:r>
            <a:endParaRPr sz="2400" b="1"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</a:pPr>
            <a:r>
              <a:rPr lang="en-US" sz="2400" b="1" dirty="0"/>
              <a:t>Month</a:t>
            </a:r>
            <a:r>
              <a:rPr lang="en" sz="2400" b="1" dirty="0" err="1"/>
              <a:t>ly</a:t>
            </a:r>
            <a:r>
              <a:rPr lang="en" sz="2400" b="1" dirty="0"/>
              <a:t> Meeting</a:t>
            </a:r>
            <a:endParaRPr sz="2400" dirty="0"/>
          </a:p>
        </p:txBody>
      </p:sp>
      <p:sp>
        <p:nvSpPr>
          <p:cNvPr id="142" name="Google Shape;142;p26"/>
          <p:cNvSpPr txBox="1">
            <a:spLocks noGrp="1"/>
          </p:cNvSpPr>
          <p:nvPr>
            <p:ph type="subTitle" idx="1"/>
          </p:nvPr>
        </p:nvSpPr>
        <p:spPr>
          <a:xfrm>
            <a:off x="2171700" y="2302050"/>
            <a:ext cx="4800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lang="en" dirty="0"/>
              <a:t>10/</a:t>
            </a:r>
            <a:r>
              <a:rPr lang="en-US" dirty="0"/>
              <a:t>26</a:t>
            </a:r>
            <a:r>
              <a:rPr lang="en" dirty="0"/>
              <a:t>/2026</a:t>
            </a:r>
            <a:endParaRPr dirty="0"/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lang="en" dirty="0">
                <a:solidFill>
                  <a:srgbClr val="262626"/>
                </a:solidFill>
              </a:rPr>
              <a:t>CURENT, University of Tennessee, Knoxville</a:t>
            </a:r>
            <a:endParaRPr dirty="0"/>
          </a:p>
        </p:txBody>
      </p:sp>
      <p:graphicFrame>
        <p:nvGraphicFramePr>
          <p:cNvPr id="2" name="Google Shape;143;p26">
            <a:extLst>
              <a:ext uri="{FF2B5EF4-FFF2-40B4-BE49-F238E27FC236}">
                <a16:creationId xmlns:a16="http://schemas.microsoft.com/office/drawing/2014/main" id="{304445EE-EF1A-2ECC-D06D-AFD1DD4EDD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690032"/>
              </p:ext>
            </p:extLst>
          </p:nvPr>
        </p:nvGraphicFramePr>
        <p:xfrm>
          <a:off x="826029" y="2896676"/>
          <a:ext cx="7491942" cy="1733444"/>
        </p:xfrm>
        <a:graphic>
          <a:graphicData uri="http://schemas.openxmlformats.org/drawingml/2006/table">
            <a:tbl>
              <a:tblPr>
                <a:noFill/>
                <a:tableStyleId>{5174D078-6048-4B6B-ACA5-52F38B7A75A1}</a:tableStyleId>
              </a:tblPr>
              <a:tblGrid>
                <a:gridCol w="2428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3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Leadership Team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Fran Li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Senior Advisor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Kevin Tomsovic, 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Hantao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Cui, Dr. Xin Fang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Core Development 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Hantao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Cui, Dr. Xin Fang, Dr. Jinning Wang,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Nicholas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Parsly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, Nick West, Zack Malkmus, Junjie Yin, Matthew 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Cannavaro, Hank Lin, Jian Han, Dr. Chenchen Li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98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Other Contributors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Qiwei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Zhang, Dr. Buxin She, Dr. Hang Shuai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457200" y="509190"/>
            <a:ext cx="8229600" cy="443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dirty="0">
                <a:solidFill>
                  <a:srgbClr val="262626"/>
                </a:solidFill>
              </a:rPr>
              <a:t>Community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Homepage: </a:t>
            </a:r>
            <a:r>
              <a:rPr lang="en" sz="1600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https://ltb.curent.org/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LinkedIn: </a:t>
            </a:r>
            <a:r>
              <a:rPr lang="en" sz="160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https://www.linkedin.com/company/76122605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YouTube: </a:t>
            </a:r>
            <a:r>
              <a:rPr lang="en" sz="1600" u="sng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https://www.youtube.com/@curentltb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GitHub: </a:t>
            </a:r>
            <a:r>
              <a:rPr lang="en" sz="1600" u="sng" dirty="0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https://github.com/CURENT</a:t>
            </a:r>
            <a:endParaRPr sz="2000" b="1" dirty="0">
              <a:solidFill>
                <a:srgbClr val="2626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262626"/>
              </a:solidFill>
            </a:endParaRPr>
          </a:p>
          <a:p>
            <a:r>
              <a:rPr lang="en-US" sz="2000" b="1" dirty="0">
                <a:solidFill>
                  <a:srgbClr val="262626"/>
                </a:solidFill>
              </a:rPr>
              <a:t>Administration:</a:t>
            </a: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10/11-13 NAPS 2026 meeting</a:t>
            </a: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10/21 NASA visit CURENT</a:t>
            </a:r>
            <a:endParaRPr sz="20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endParaRPr lang="en" sz="1600" dirty="0">
              <a:solidFill>
                <a:srgbClr val="2626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dirty="0">
                <a:solidFill>
                  <a:srgbClr val="262626"/>
                </a:solidFill>
              </a:rPr>
              <a:t>Development</a:t>
            </a:r>
            <a:endParaRPr sz="16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LLM with LTB AMS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Configuration file update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Revise parameter classification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How to ensure the LLM executes </a:t>
            </a:r>
            <a:r>
              <a:rPr lang="en-US" sz="1600">
                <a:solidFill>
                  <a:srgbClr val="262626"/>
                </a:solidFill>
              </a:rPr>
              <a:t>prompt correctly?</a:t>
            </a:r>
            <a:endParaRPr lang="en-US" sz="16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LLM with LTB Andes</a:t>
            </a:r>
          </a:p>
        </p:txBody>
      </p:sp>
      <p:sp>
        <p:nvSpPr>
          <p:cNvPr id="149" name="Google Shape;149;p27"/>
          <p:cNvSpPr txBox="1">
            <a:spLocks noGrp="1"/>
          </p:cNvSpPr>
          <p:nvPr>
            <p:ph type="sldNum" idx="12"/>
          </p:nvPr>
        </p:nvSpPr>
        <p:spPr>
          <a:xfrm>
            <a:off x="7486650" y="48577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1.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title">
            <a:extLst>
              <a:ext uri="{FF2B5EF4-FFF2-40B4-BE49-F238E27FC236}">
                <a16:creationId xmlns:a16="http://schemas.microsoft.com/office/drawing/2014/main" id="{D798C38A-E554-433B-BE05-51F325B5FBEC}"/>
              </a:ext>
            </a:extLst>
          </p:cNvPr>
          <p:cNvSpPr>
            <a:spLocks noGrp="1"/>
          </p:cNvSpPr>
          <p:nvPr/>
        </p:nvSpPr>
        <p:spPr>
          <a:xfrm>
            <a:off x="514350" y="161925"/>
            <a:ext cx="8096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Configuration file update</a:t>
            </a:r>
          </a:p>
        </p:txBody>
      </p:sp>
      <p:sp>
        <p:nvSpPr>
          <p:cNvPr id="2" name="Title rule">
            <a:extLst>
              <a:ext uri="{FF2B5EF4-FFF2-40B4-BE49-F238E27FC236}">
                <a16:creationId xmlns:a16="http://schemas.microsoft.com/office/drawing/2014/main" id="{799A8316-6EF2-4F9F-AFAC-0DC032C92137}"/>
              </a:ext>
            </a:extLst>
          </p:cNvPr>
          <p:cNvSpPr>
            <a:spLocks noGrp="1"/>
          </p:cNvSpPr>
          <p:nvPr/>
        </p:nvSpPr>
        <p:spPr>
          <a:xfrm>
            <a:off x="457200" y="628650"/>
            <a:ext cx="8229600" cy="19050"/>
          </a:xfrm>
          <a:prstGeom prst="rect">
            <a:avLst/>
          </a:prstGeom>
          <a:solidFill>
            <a:srgbClr val="008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rule">
            <a:extLst>
              <a:ext uri="{FF2B5EF4-FFF2-40B4-BE49-F238E27FC236}">
                <a16:creationId xmlns:a16="http://schemas.microsoft.com/office/drawing/2014/main" id="{31E527C2-B6C0-492B-A499-8AC9F5B6E85E}"/>
              </a:ext>
            </a:extLst>
          </p:cNvPr>
          <p:cNvSpPr>
            <a:spLocks noGrp="1"/>
          </p:cNvSpPr>
          <p:nvPr/>
        </p:nvSpPr>
        <p:spPr>
          <a:xfrm>
            <a:off x="457200" y="4781550"/>
            <a:ext cx="8229600" cy="9525"/>
          </a:xfrm>
          <a:prstGeom prst="rect">
            <a:avLst/>
          </a:prstGeom>
          <a:solidFill>
            <a:srgbClr val="D5DD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485BA0-3E51-4BD0-A78B-0923D203B209}"/>
              </a:ext>
            </a:extLst>
          </p:cNvPr>
          <p:cNvSpPr>
            <a:spLocks noGrp="1"/>
          </p:cNvSpPr>
          <p:nvPr/>
        </p:nvSpPr>
        <p:spPr>
          <a:xfrm>
            <a:off x="5715000" y="48291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B16EC-D552-4886-AF04-03BF73D9F8D2}"/>
              </a:ext>
            </a:extLst>
          </p:cNvPr>
          <p:cNvSpPr>
            <a:spLocks noGrp="1"/>
          </p:cNvSpPr>
          <p:nvPr/>
        </p:nvSpPr>
        <p:spPr>
          <a:xfrm>
            <a:off x="8439150" y="482917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109BE6-2040-4DDF-877E-A54F7D021741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8048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A reviewed catalog can describe model edits; the compiler applies only declared templates.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975517-76E4-4191-8ADC-CDB655997D6D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3619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FORMULATION CONTROL SPEC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1CBCEE-F159-46FA-B439-C19D64C4F9D3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59B44-A873-43B2-B1CC-0323AAE99355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control_id · operation_kind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6CFC7-708B-44B6-9CA3-C423EF373FF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scenario  |  formulation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5CB1E7-19B3-4EF1-B3C4-CF49BDC4E9B6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27204D-82D2-4626-985D-8210E2F8C0F8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routines · target_scope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0BC505-BE5A-44C6-A818-1DCEB6186C45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DCOPF / ED / UC / ACOPF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7F9D9B-4CFB-431A-852A-6830CDFA4BB0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568674-6A30-4F1B-8D1D-E60D5B0E42B4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variables · objective_terms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2CA5EA-472A-4699-9592-DE20E74D3873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what the template adds or changes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98BD23B-5591-49AB-BB0F-9ABA840BE791}"/>
              </a:ext>
            </a:extLst>
          </p:cNvPr>
          <p:cNvSpPr>
            <a:spLocks noGrp="1"/>
          </p:cNvSpPr>
          <p:nvPr/>
        </p:nvSpPr>
        <p:spPr>
          <a:xfrm>
            <a:off x="552450" y="2809875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2B2DA1-2018-4619-8769-A87046174B14}"/>
              </a:ext>
            </a:extLst>
          </p:cNvPr>
          <p:cNvSpPr>
            <a:spLocks noGrp="1"/>
          </p:cNvSpPr>
          <p:nvPr/>
        </p:nvSpPr>
        <p:spPr>
          <a:xfrm>
            <a:off x="685800" y="2847975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constraint_templates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592FAB-7C10-48D7-AE93-5F6512697D0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named, versioned, reviewed blocks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B701178-AA9E-430F-A09E-39513B6A0236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455320-127C-4B2E-B079-3048A33269D2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parameters · bounds · units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C5FE66-6893-4937-BAA8-883B99D310C6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typed values with validation rules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4E87F5-614D-4BDF-A6A7-6BD00FFCC2CB}"/>
              </a:ext>
            </a:extLst>
          </p:cNvPr>
          <p:cNvSpPr>
            <a:spLocks noGrp="1"/>
          </p:cNvSpPr>
          <p:nvPr/>
        </p:nvSpPr>
        <p:spPr>
          <a:xfrm>
            <a:off x="552450" y="3743325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996672-AC13-478C-84DA-7F1CDD328E17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preconditions · conflicts · reset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66A0B1-FAF3-4A78-AFCB-4C2E0EBE4C69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safe composition and recovery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47726F-F17B-47A2-8F02-0BA6FA67CAF9}"/>
              </a:ext>
            </a:extLst>
          </p:cNvPr>
          <p:cNvSpPr>
            <a:spLocks noGrp="1"/>
          </p:cNvSpPr>
          <p:nvPr/>
        </p:nvSpPr>
        <p:spPr>
          <a:xfrm>
            <a:off x="4800600" y="1143000"/>
            <a:ext cx="3714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DECLARATION → MODEL CHANGE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002FECC-1840-471B-96AF-CD923D8D6F4D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1066800" cy="952500"/>
          </a:xfrm>
          <a:prstGeom prst="roundRect">
            <a:avLst>
              <a:gd name="adj" fmla="val 8000"/>
            </a:avLst>
          </a:prstGeom>
          <a:solidFill>
            <a:srgbClr val="F1F7F1"/>
          </a:solidFill>
          <a:ln w="14288">
            <a:solidFill>
              <a:srgbClr val="85B7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3B1B74-C2B7-43CD-B0AA-3173BEDAE79B}"/>
              </a:ext>
            </a:extLst>
          </p:cNvPr>
          <p:cNvSpPr>
            <a:spLocks noGrp="1"/>
          </p:cNvSpPr>
          <p:nvPr/>
        </p:nvSpPr>
        <p:spPr>
          <a:xfrm>
            <a:off x="4838700" y="19335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Config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3FDCFE-9D38-4E83-B789-660BD74CA7E3}"/>
              </a:ext>
            </a:extLst>
          </p:cNvPr>
          <p:cNvSpPr>
            <a:spLocks noGrp="1"/>
          </p:cNvSpPr>
          <p:nvPr/>
        </p:nvSpPr>
        <p:spPr>
          <a:xfrm>
            <a:off x="4848225" y="2257425"/>
            <a:ext cx="89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reviewed</a:t>
            </a:r>
          </a:p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template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8688495-8A14-48B6-AF55-EEFFBB0B7D5B}"/>
              </a:ext>
            </a:extLst>
          </p:cNvPr>
          <p:cNvSpPr>
            <a:spLocks noGrp="1"/>
          </p:cNvSpPr>
          <p:nvPr/>
        </p:nvSpPr>
        <p:spPr>
          <a:xfrm>
            <a:off x="6019800" y="1809750"/>
            <a:ext cx="1104900" cy="9525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 w="14288">
            <a:solidFill>
              <a:srgbClr val="7B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16A02C-6812-477C-B366-F3D7B72ED9D8}"/>
              </a:ext>
            </a:extLst>
          </p:cNvPr>
          <p:cNvSpPr>
            <a:spLocks noGrp="1"/>
          </p:cNvSpPr>
          <p:nvPr/>
        </p:nvSpPr>
        <p:spPr>
          <a:xfrm>
            <a:off x="6096000" y="193357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Validate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4CCB01-3134-4D5B-B7BE-2ACAD1D2A537}"/>
              </a:ext>
            </a:extLst>
          </p:cNvPr>
          <p:cNvSpPr>
            <a:spLocks noGrp="1"/>
          </p:cNvSpPr>
          <p:nvPr/>
        </p:nvSpPr>
        <p:spPr>
          <a:xfrm>
            <a:off x="6105525" y="2257425"/>
            <a:ext cx="933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routine · types</a:t>
            </a:r>
          </a:p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bounds · conflicts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DBC51D4-A984-4200-8C34-D891CFA351D6}"/>
              </a:ext>
            </a:extLst>
          </p:cNvPr>
          <p:cNvSpPr>
            <a:spLocks noGrp="1"/>
          </p:cNvSpPr>
          <p:nvPr/>
        </p:nvSpPr>
        <p:spPr>
          <a:xfrm>
            <a:off x="7315200" y="1809750"/>
            <a:ext cx="1333500" cy="95250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 w="14288">
            <a:solidFill>
              <a:srgbClr val="E7A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F9A047-C671-4187-865A-03F99690026D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118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Compile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765FB5-74BD-460A-BDDE-549F8500539E}"/>
              </a:ext>
            </a:extLst>
          </p:cNvPr>
          <p:cNvSpPr>
            <a:spLocks noGrp="1"/>
          </p:cNvSpPr>
          <p:nvPr/>
        </p:nvSpPr>
        <p:spPr>
          <a:xfrm>
            <a:off x="7400925" y="2257425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AMS model</a:t>
            </a:r>
          </a:p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operations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38D612-0A45-44E1-9C52-1216E77A28B7}"/>
              </a:ext>
            </a:extLst>
          </p:cNvPr>
          <p:cNvSpPr>
            <a:spLocks noGrp="1"/>
          </p:cNvSpPr>
          <p:nvPr/>
        </p:nvSpPr>
        <p:spPr>
          <a:xfrm>
            <a:off x="5829300" y="2124075"/>
            <a:ext cx="19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008000"/>
                </a:solidFill>
              </a:defRPr>
            </a:defPPr>
            <a:lvl1pPr algn="ctr">
              <a:defRPr sz="1950" b="1">
                <a:solidFill>
                  <a:srgbClr val="008000"/>
                </a:solidFill>
              </a:defRPr>
            </a:lvl1pPr>
            <a:lvl2pPr algn="ctr">
              <a:defRPr sz="1950" b="1">
                <a:solidFill>
                  <a:srgbClr val="008000"/>
                </a:solidFill>
              </a:defRPr>
            </a:lvl2pPr>
            <a:lvl3pPr algn="ctr">
              <a:defRPr sz="1950" b="1">
                <a:solidFill>
                  <a:srgbClr val="008000"/>
                </a:solidFill>
              </a:defRPr>
            </a:lvl3pPr>
            <a:lvl4pPr algn="ctr">
              <a:defRPr sz="1950" b="1">
                <a:solidFill>
                  <a:srgbClr val="008000"/>
                </a:solidFill>
              </a:defRPr>
            </a:lvl4pPr>
            <a:lvl5pPr algn="ctr">
              <a:defRPr sz="1950" b="1">
                <a:solidFill>
                  <a:srgbClr val="008000"/>
                </a:solidFill>
              </a:defRPr>
            </a:lvl5pPr>
            <a:lvl6pPr algn="ctr">
              <a:defRPr sz="1950" b="1">
                <a:solidFill>
                  <a:srgbClr val="008000"/>
                </a:solidFill>
              </a:defRPr>
            </a:lvl6pPr>
            <a:lvl7pPr algn="ctr">
              <a:defRPr sz="1950" b="1">
                <a:solidFill>
                  <a:srgbClr val="008000"/>
                </a:solidFill>
              </a:defRPr>
            </a:lvl7pPr>
            <a:lvl8pPr algn="ctr">
              <a:defRPr sz="1950" b="1">
                <a:solidFill>
                  <a:srgbClr val="008000"/>
                </a:solidFill>
              </a:defRPr>
            </a:lvl8pPr>
            <a:lvl9pPr algn="ctr">
              <a:defRPr sz="1950" b="1">
                <a:solidFill>
                  <a:srgbClr val="008000"/>
                </a:solidFill>
              </a:defRPr>
            </a:lvl9pPr>
          </a:lstStyle>
          <a:p>
            <a:pPr algn="ctr">
              <a:defRPr sz="1950" b="1">
                <a:solidFill>
                  <a:srgbClr val="008000"/>
                </a:solidFill>
              </a:defRPr>
            </a:pPr>
            <a:r>
              <a:rPr sz="1950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1DB561-A835-4EE9-B819-3DD90FB29AF0}"/>
              </a:ext>
            </a:extLst>
          </p:cNvPr>
          <p:cNvSpPr>
            <a:spLocks noGrp="1"/>
          </p:cNvSpPr>
          <p:nvPr/>
        </p:nvSpPr>
        <p:spPr>
          <a:xfrm>
            <a:off x="7124700" y="2124075"/>
            <a:ext cx="19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008000"/>
                </a:solidFill>
              </a:defRPr>
            </a:defPPr>
            <a:lvl1pPr algn="ctr">
              <a:defRPr sz="1950" b="1">
                <a:solidFill>
                  <a:srgbClr val="008000"/>
                </a:solidFill>
              </a:defRPr>
            </a:lvl1pPr>
            <a:lvl2pPr algn="ctr">
              <a:defRPr sz="1950" b="1">
                <a:solidFill>
                  <a:srgbClr val="008000"/>
                </a:solidFill>
              </a:defRPr>
            </a:lvl2pPr>
            <a:lvl3pPr algn="ctr">
              <a:defRPr sz="1950" b="1">
                <a:solidFill>
                  <a:srgbClr val="008000"/>
                </a:solidFill>
              </a:defRPr>
            </a:lvl3pPr>
            <a:lvl4pPr algn="ctr">
              <a:defRPr sz="1950" b="1">
                <a:solidFill>
                  <a:srgbClr val="008000"/>
                </a:solidFill>
              </a:defRPr>
            </a:lvl4pPr>
            <a:lvl5pPr algn="ctr">
              <a:defRPr sz="1950" b="1">
                <a:solidFill>
                  <a:srgbClr val="008000"/>
                </a:solidFill>
              </a:defRPr>
            </a:lvl5pPr>
            <a:lvl6pPr algn="ctr">
              <a:defRPr sz="1950" b="1">
                <a:solidFill>
                  <a:srgbClr val="008000"/>
                </a:solidFill>
              </a:defRPr>
            </a:lvl6pPr>
            <a:lvl7pPr algn="ctr">
              <a:defRPr sz="1950" b="1">
                <a:solidFill>
                  <a:srgbClr val="008000"/>
                </a:solidFill>
              </a:defRPr>
            </a:lvl7pPr>
            <a:lvl8pPr algn="ctr">
              <a:defRPr sz="1950" b="1">
                <a:solidFill>
                  <a:srgbClr val="008000"/>
                </a:solidFill>
              </a:defRPr>
            </a:lvl8pPr>
            <a:lvl9pPr algn="ctr">
              <a:defRPr sz="1950" b="1">
                <a:solidFill>
                  <a:srgbClr val="008000"/>
                </a:solidFill>
              </a:defRPr>
            </a:lvl9pPr>
          </a:lstStyle>
          <a:p>
            <a:pPr algn="ctr">
              <a:defRPr sz="1950" b="1">
                <a:solidFill>
                  <a:srgbClr val="008000"/>
                </a:solidFill>
              </a:defRPr>
            </a:pPr>
            <a:r>
              <a:rPr sz="1950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8320140-FD07-4DE0-AE06-AA3B3859751B}"/>
              </a:ext>
            </a:extLst>
          </p:cNvPr>
          <p:cNvSpPr>
            <a:spLocks noGrp="1"/>
          </p:cNvSpPr>
          <p:nvPr/>
        </p:nvSpPr>
        <p:spPr>
          <a:xfrm>
            <a:off x="5067300" y="3095625"/>
            <a:ext cx="3276600" cy="781050"/>
          </a:xfrm>
          <a:prstGeom prst="roundRect">
            <a:avLst>
              <a:gd name="adj" fmla="val 9756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B7FA96-EC41-4956-B88B-14034DC09BCA}"/>
              </a:ext>
            </a:extLst>
          </p:cNvPr>
          <p:cNvSpPr>
            <a:spLocks noGrp="1"/>
          </p:cNvSpPr>
          <p:nvPr/>
        </p:nvSpPr>
        <p:spPr>
          <a:xfrm>
            <a:off x="5257800" y="31908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27343A"/>
                </a:solidFill>
              </a:defRPr>
            </a:defPPr>
            <a:lvl1pPr algn="l">
              <a:defRPr sz="1200" b="1">
                <a:solidFill>
                  <a:srgbClr val="27343A"/>
                </a:solidFill>
              </a:defRPr>
            </a:lvl1pPr>
            <a:lvl2pPr algn="l">
              <a:defRPr sz="1200" b="1">
                <a:solidFill>
                  <a:srgbClr val="27343A"/>
                </a:solidFill>
              </a:defRPr>
            </a:lvl2pPr>
            <a:lvl3pPr algn="l">
              <a:defRPr sz="1200" b="1">
                <a:solidFill>
                  <a:srgbClr val="27343A"/>
                </a:solidFill>
              </a:defRPr>
            </a:lvl3pPr>
            <a:lvl4pPr algn="l">
              <a:defRPr sz="1200" b="1">
                <a:solidFill>
                  <a:srgbClr val="27343A"/>
                </a:solidFill>
              </a:defRPr>
            </a:lvl4pPr>
            <a:lvl5pPr algn="l">
              <a:defRPr sz="1200" b="1">
                <a:solidFill>
                  <a:srgbClr val="27343A"/>
                </a:solidFill>
              </a:defRPr>
            </a:lvl5pPr>
            <a:lvl6pPr algn="l">
              <a:defRPr sz="1200" b="1">
                <a:solidFill>
                  <a:srgbClr val="27343A"/>
                </a:solidFill>
              </a:defRPr>
            </a:lvl6pPr>
            <a:lvl7pPr algn="l">
              <a:defRPr sz="1200" b="1">
                <a:solidFill>
                  <a:srgbClr val="27343A"/>
                </a:solidFill>
              </a:defRPr>
            </a:lvl7pPr>
            <a:lvl8pPr algn="l">
              <a:defRPr sz="1200" b="1">
                <a:solidFill>
                  <a:srgbClr val="27343A"/>
                </a:solidFill>
              </a:defRPr>
            </a:lvl8pPr>
            <a:lvl9pPr algn="l">
              <a:defRPr sz="1200" b="1">
                <a:solidFill>
                  <a:srgbClr val="27343A"/>
                </a:solidFill>
              </a:defRPr>
            </a:lvl9pPr>
          </a:lstStyle>
          <a:p>
            <a:pPr algn="l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Live AMS model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CFC7CF-0324-40B5-B9B3-EDEFB654FF53}"/>
              </a:ext>
            </a:extLst>
          </p:cNvPr>
          <p:cNvSpPr>
            <a:spLocks noGrp="1"/>
          </p:cNvSpPr>
          <p:nvPr/>
        </p:nvSpPr>
        <p:spPr>
          <a:xfrm>
            <a:off x="5257800" y="3476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B6266"/>
                </a:solidFill>
              </a:defRPr>
            </a:defPPr>
            <a:lvl1pPr algn="l">
              <a:defRPr sz="1050" b="0">
                <a:solidFill>
                  <a:srgbClr val="5B6266"/>
                </a:solidFill>
              </a:defRPr>
            </a:lvl1pPr>
            <a:lvl2pPr algn="l">
              <a:defRPr sz="1050" b="0">
                <a:solidFill>
                  <a:srgbClr val="5B6266"/>
                </a:solidFill>
              </a:defRPr>
            </a:lvl2pPr>
            <a:lvl3pPr algn="l">
              <a:defRPr sz="1050" b="0">
                <a:solidFill>
                  <a:srgbClr val="5B6266"/>
                </a:solidFill>
              </a:defRPr>
            </a:lvl3pPr>
            <a:lvl4pPr algn="l">
              <a:defRPr sz="1050" b="0">
                <a:solidFill>
                  <a:srgbClr val="5B6266"/>
                </a:solidFill>
              </a:defRPr>
            </a:lvl4pPr>
            <a:lvl5pPr algn="l">
              <a:defRPr sz="1050" b="0">
                <a:solidFill>
                  <a:srgbClr val="5B6266"/>
                </a:solidFill>
              </a:defRPr>
            </a:lvl5pPr>
            <a:lvl6pPr algn="l">
              <a:defRPr sz="1050" b="0">
                <a:solidFill>
                  <a:srgbClr val="5B6266"/>
                </a:solidFill>
              </a:defRPr>
            </a:lvl6pPr>
            <a:lvl7pPr algn="l">
              <a:defRPr sz="1050" b="0">
                <a:solidFill>
                  <a:srgbClr val="5B6266"/>
                </a:solidFill>
              </a:defRPr>
            </a:lvl7pPr>
            <a:lvl8pPr algn="l">
              <a:defRPr sz="1050" b="0">
                <a:solidFill>
                  <a:srgbClr val="5B6266"/>
                </a:solidFill>
              </a:defRPr>
            </a:lvl8pPr>
            <a:lvl9pPr algn="l">
              <a:defRPr sz="1050" b="0">
                <a:solidFill>
                  <a:srgbClr val="5B6266"/>
                </a:solidFill>
              </a:defRPr>
            </a:lvl9pPr>
          </a:lstStyle>
          <a:p>
            <a:pPr algn="l">
              <a:defRPr sz="1050" b="0">
                <a:solidFill>
                  <a:srgbClr val="5B6266"/>
                </a:solidFill>
              </a:defRPr>
            </a:pPr>
            <a:r>
              <a:rPr sz="1050" b="0">
                <a:solidFill>
                  <a:srgbClr val="5B6266"/>
                </a:solidFill>
              </a:rPr>
              <a:t>Only validated, routine-compatible edits are applied.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D6B06-8560-4172-9AE3-EA8141D51194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238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E86B16"/>
                </a:solidFill>
              </a:defRPr>
            </a:defPPr>
            <a:lvl1pPr algn="l">
              <a:defRPr sz="900" b="1">
                <a:solidFill>
                  <a:srgbClr val="E86B16"/>
                </a:solidFill>
              </a:defRPr>
            </a:lvl1pPr>
            <a:lvl2pPr algn="l">
              <a:defRPr sz="900" b="1">
                <a:solidFill>
                  <a:srgbClr val="E86B16"/>
                </a:solidFill>
              </a:defRPr>
            </a:lvl2pPr>
            <a:lvl3pPr algn="l">
              <a:defRPr sz="900" b="1">
                <a:solidFill>
                  <a:srgbClr val="E86B16"/>
                </a:solidFill>
              </a:defRPr>
            </a:lvl3pPr>
            <a:lvl4pPr algn="l">
              <a:defRPr sz="900" b="1">
                <a:solidFill>
                  <a:srgbClr val="E86B16"/>
                </a:solidFill>
              </a:defRPr>
            </a:lvl4pPr>
            <a:lvl5pPr algn="l">
              <a:defRPr sz="900" b="1">
                <a:solidFill>
                  <a:srgbClr val="E86B16"/>
                </a:solidFill>
              </a:defRPr>
            </a:lvl5pPr>
            <a:lvl6pPr algn="l">
              <a:defRPr sz="900" b="1">
                <a:solidFill>
                  <a:srgbClr val="E86B16"/>
                </a:solidFill>
              </a:defRPr>
            </a:lvl6pPr>
            <a:lvl7pPr algn="l">
              <a:defRPr sz="900" b="1">
                <a:solidFill>
                  <a:srgbClr val="E86B16"/>
                </a:solidFill>
              </a:defRPr>
            </a:lvl7pPr>
            <a:lvl8pPr algn="l">
              <a:defRPr sz="900" b="1">
                <a:solidFill>
                  <a:srgbClr val="E86B16"/>
                </a:solidFill>
              </a:defRPr>
            </a:lvl8pPr>
            <a:lvl9pPr algn="l">
              <a:defRPr sz="900" b="1">
                <a:solidFill>
                  <a:srgbClr val="E86B16"/>
                </a:solidFill>
              </a:defRPr>
            </a:lvl9pPr>
          </a:lstStyle>
          <a:p>
            <a:pPr algn="l">
              <a:defRPr sz="900" b="1">
                <a:solidFill>
                  <a:srgbClr val="E86B16"/>
                </a:solidFill>
              </a:defRPr>
            </a:pPr>
            <a:r>
              <a:rPr sz="900" b="1">
                <a:solidFill>
                  <a:srgbClr val="E86B16"/>
                </a:solidFill>
              </a:rPr>
              <a:t>Design direction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07A49C3-15C3-42EF-87BE-4CBB3EA01C39}"/>
              </a:ext>
            </a:extLst>
          </p:cNvPr>
          <p:cNvSpPr>
            <a:spLocks noGrp="1"/>
          </p:cNvSpPr>
          <p:nvPr/>
        </p:nvSpPr>
        <p:spPr>
          <a:xfrm>
            <a:off x="1809750" y="4371975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7343A"/>
                </a:solidFill>
              </a:defRPr>
            </a:defPPr>
            <a:lvl1pPr algn="l">
              <a:defRPr sz="1125" b="0">
                <a:solidFill>
                  <a:srgbClr val="27343A"/>
                </a:solidFill>
              </a:defRPr>
            </a:lvl1pPr>
            <a:lvl2pPr algn="l">
              <a:defRPr sz="1125" b="0">
                <a:solidFill>
                  <a:srgbClr val="27343A"/>
                </a:solidFill>
              </a:defRPr>
            </a:lvl2pPr>
            <a:lvl3pPr algn="l">
              <a:defRPr sz="1125" b="0">
                <a:solidFill>
                  <a:srgbClr val="27343A"/>
                </a:solidFill>
              </a:defRPr>
            </a:lvl3pPr>
            <a:lvl4pPr algn="l">
              <a:defRPr sz="1125" b="0">
                <a:solidFill>
                  <a:srgbClr val="27343A"/>
                </a:solidFill>
              </a:defRPr>
            </a:lvl4pPr>
            <a:lvl5pPr algn="l">
              <a:defRPr sz="1125" b="0">
                <a:solidFill>
                  <a:srgbClr val="27343A"/>
                </a:solidFill>
              </a:defRPr>
            </a:lvl5pPr>
            <a:lvl6pPr algn="l">
              <a:defRPr sz="1125" b="0">
                <a:solidFill>
                  <a:srgbClr val="27343A"/>
                </a:solidFill>
              </a:defRPr>
            </a:lvl6pPr>
            <a:lvl7pPr algn="l">
              <a:defRPr sz="1125" b="0">
                <a:solidFill>
                  <a:srgbClr val="27343A"/>
                </a:solidFill>
              </a:defRPr>
            </a:lvl7pPr>
            <a:lvl8pPr algn="l">
              <a:defRPr sz="1125" b="0">
                <a:solidFill>
                  <a:srgbClr val="27343A"/>
                </a:solidFill>
              </a:defRPr>
            </a:lvl8pPr>
            <a:lvl9pPr algn="l">
              <a:defRPr sz="1125" b="0">
                <a:solidFill>
                  <a:srgbClr val="27343A"/>
                </a:solidFill>
              </a:defRPr>
            </a:lvl9pPr>
          </a:lstStyle>
          <a:p>
            <a:pPr algn="l">
              <a:defRPr sz="1125" b="0">
                <a:solidFill>
                  <a:srgbClr val="27343A"/>
                </a:solidFill>
              </a:defRPr>
            </a:pPr>
            <a:r>
              <a:rPr sz="1125" b="0">
                <a:solidFill>
                  <a:srgbClr val="27343A"/>
                </a:solidFill>
              </a:rPr>
              <a:t>Replace one-off executor branches with configuration-driven, validated operations.</a:t>
            </a:r>
          </a:p>
        </p:txBody>
      </p:sp>
    </p:spTree>
    <p:extLst>
      <p:ext uri="{BB962C8B-B14F-4D97-AF65-F5344CB8AC3E}">
        <p14:creationId xmlns:p14="http://schemas.microsoft.com/office/powerpoint/2010/main" val="103925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title">
            <a:extLst>
              <a:ext uri="{FF2B5EF4-FFF2-40B4-BE49-F238E27FC236}">
                <a16:creationId xmlns:a16="http://schemas.microsoft.com/office/drawing/2014/main" id="{3FAE8657-CF2B-4333-9638-24FA4D435CE2}"/>
              </a:ext>
            </a:extLst>
          </p:cNvPr>
          <p:cNvSpPr>
            <a:spLocks noGrp="1"/>
          </p:cNvSpPr>
          <p:nvPr/>
        </p:nvSpPr>
        <p:spPr>
          <a:xfrm>
            <a:off x="514350" y="161925"/>
            <a:ext cx="8096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Revise parameter classification</a:t>
            </a:r>
          </a:p>
        </p:txBody>
      </p:sp>
      <p:sp>
        <p:nvSpPr>
          <p:cNvPr id="2" name="Title rule">
            <a:extLst>
              <a:ext uri="{FF2B5EF4-FFF2-40B4-BE49-F238E27FC236}">
                <a16:creationId xmlns:a16="http://schemas.microsoft.com/office/drawing/2014/main" id="{E3020401-7C75-44FC-A033-68E7A0B717BD}"/>
              </a:ext>
            </a:extLst>
          </p:cNvPr>
          <p:cNvSpPr>
            <a:spLocks noGrp="1"/>
          </p:cNvSpPr>
          <p:nvPr/>
        </p:nvSpPr>
        <p:spPr>
          <a:xfrm>
            <a:off x="457200" y="628650"/>
            <a:ext cx="8229600" cy="19050"/>
          </a:xfrm>
          <a:prstGeom prst="rect">
            <a:avLst/>
          </a:prstGeom>
          <a:solidFill>
            <a:srgbClr val="008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rule">
            <a:extLst>
              <a:ext uri="{FF2B5EF4-FFF2-40B4-BE49-F238E27FC236}">
                <a16:creationId xmlns:a16="http://schemas.microsoft.com/office/drawing/2014/main" id="{9A5DEC26-F550-40E6-828A-6100D4B5FA09}"/>
              </a:ext>
            </a:extLst>
          </p:cNvPr>
          <p:cNvSpPr>
            <a:spLocks noGrp="1"/>
          </p:cNvSpPr>
          <p:nvPr/>
        </p:nvSpPr>
        <p:spPr>
          <a:xfrm>
            <a:off x="457200" y="4781550"/>
            <a:ext cx="8229600" cy="9525"/>
          </a:xfrm>
          <a:prstGeom prst="rect">
            <a:avLst/>
          </a:prstGeom>
          <a:solidFill>
            <a:srgbClr val="D5DD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CF7AE-B9DB-4AFB-B060-BC0AAD972304}"/>
              </a:ext>
            </a:extLst>
          </p:cNvPr>
          <p:cNvSpPr>
            <a:spLocks noGrp="1"/>
          </p:cNvSpPr>
          <p:nvPr/>
        </p:nvSpPr>
        <p:spPr>
          <a:xfrm>
            <a:off x="5715000" y="48291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082E80-D088-40F7-8712-7B1BD377F8F7}"/>
              </a:ext>
            </a:extLst>
          </p:cNvPr>
          <p:cNvSpPr>
            <a:spLocks noGrp="1"/>
          </p:cNvSpPr>
          <p:nvPr/>
        </p:nvSpPr>
        <p:spPr>
          <a:xfrm>
            <a:off x="8439150" y="482917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5A569A-8DB0-4531-A036-3F3F0D8205BF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8001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Route by what the request changes in the optimization model.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4A0E6E-8683-430C-8D14-DC3AD877FFB1}"/>
              </a:ext>
            </a:extLst>
          </p:cNvPr>
          <p:cNvSpPr>
            <a:spLocks noGrp="1"/>
          </p:cNvSpPr>
          <p:nvPr/>
        </p:nvSpPr>
        <p:spPr>
          <a:xfrm>
            <a:off x="590550" y="1171575"/>
            <a:ext cx="3476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7B9AA7"/>
                </a:solidFill>
              </a:defRPr>
            </a:defPPr>
            <a:lvl1pPr algn="l">
              <a:defRPr sz="1125" b="1">
                <a:solidFill>
                  <a:srgbClr val="7B9AA7"/>
                </a:solidFill>
              </a:defRPr>
            </a:lvl1pPr>
            <a:lvl2pPr algn="l">
              <a:defRPr sz="1125" b="1">
                <a:solidFill>
                  <a:srgbClr val="7B9AA7"/>
                </a:solidFill>
              </a:defRPr>
            </a:lvl2pPr>
            <a:lvl3pPr algn="l">
              <a:defRPr sz="1125" b="1">
                <a:solidFill>
                  <a:srgbClr val="7B9AA7"/>
                </a:solidFill>
              </a:defRPr>
            </a:lvl3pPr>
            <a:lvl4pPr algn="l">
              <a:defRPr sz="1125" b="1">
                <a:solidFill>
                  <a:srgbClr val="7B9AA7"/>
                </a:solidFill>
              </a:defRPr>
            </a:lvl4pPr>
            <a:lvl5pPr algn="l">
              <a:defRPr sz="1125" b="1">
                <a:solidFill>
                  <a:srgbClr val="7B9AA7"/>
                </a:solidFill>
              </a:defRPr>
            </a:lvl5pPr>
            <a:lvl6pPr algn="l">
              <a:defRPr sz="1125" b="1">
                <a:solidFill>
                  <a:srgbClr val="7B9AA7"/>
                </a:solidFill>
              </a:defRPr>
            </a:lvl6pPr>
            <a:lvl7pPr algn="l">
              <a:defRPr sz="1125" b="1">
                <a:solidFill>
                  <a:srgbClr val="7B9AA7"/>
                </a:solidFill>
              </a:defRPr>
            </a:lvl7pPr>
            <a:lvl8pPr algn="l">
              <a:defRPr sz="1125" b="1">
                <a:solidFill>
                  <a:srgbClr val="7B9AA7"/>
                </a:solidFill>
              </a:defRPr>
            </a:lvl8pPr>
            <a:lvl9pPr algn="l">
              <a:defRPr sz="1125" b="1">
                <a:solidFill>
                  <a:srgbClr val="7B9AA7"/>
                </a:solidFill>
              </a:defRPr>
            </a:lvl9pPr>
          </a:lstStyle>
          <a:p>
            <a:pPr algn="l">
              <a:defRPr sz="1125" b="1">
                <a:solidFill>
                  <a:srgbClr val="7B9AA7"/>
                </a:solidFill>
              </a:defRPr>
            </a:pPr>
            <a:r>
              <a:rPr sz="1125" b="1">
                <a:solidFill>
                  <a:srgbClr val="7B9AA7"/>
                </a:solidFill>
              </a:rPr>
              <a:t>SCENARIO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8FE29-26D2-4769-8453-06BE7077BD69}"/>
              </a:ext>
            </a:extLst>
          </p:cNvPr>
          <p:cNvSpPr>
            <a:spLocks noGrp="1"/>
          </p:cNvSpPr>
          <p:nvPr/>
        </p:nvSpPr>
        <p:spPr>
          <a:xfrm>
            <a:off x="4905375" y="1171575"/>
            <a:ext cx="3714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E86B16"/>
                </a:solidFill>
              </a:defRPr>
            </a:defPPr>
            <a:lvl1pPr algn="l">
              <a:defRPr sz="1125" b="1">
                <a:solidFill>
                  <a:srgbClr val="E86B16"/>
                </a:solidFill>
              </a:defRPr>
            </a:lvl1pPr>
            <a:lvl2pPr algn="l">
              <a:defRPr sz="1125" b="1">
                <a:solidFill>
                  <a:srgbClr val="E86B16"/>
                </a:solidFill>
              </a:defRPr>
            </a:lvl2pPr>
            <a:lvl3pPr algn="l">
              <a:defRPr sz="1125" b="1">
                <a:solidFill>
                  <a:srgbClr val="E86B16"/>
                </a:solidFill>
              </a:defRPr>
            </a:lvl3pPr>
            <a:lvl4pPr algn="l">
              <a:defRPr sz="1125" b="1">
                <a:solidFill>
                  <a:srgbClr val="E86B16"/>
                </a:solidFill>
              </a:defRPr>
            </a:lvl4pPr>
            <a:lvl5pPr algn="l">
              <a:defRPr sz="1125" b="1">
                <a:solidFill>
                  <a:srgbClr val="E86B16"/>
                </a:solidFill>
              </a:defRPr>
            </a:lvl5pPr>
            <a:lvl6pPr algn="l">
              <a:defRPr sz="1125" b="1">
                <a:solidFill>
                  <a:srgbClr val="E86B16"/>
                </a:solidFill>
              </a:defRPr>
            </a:lvl6pPr>
            <a:lvl7pPr algn="l">
              <a:defRPr sz="1125" b="1">
                <a:solidFill>
                  <a:srgbClr val="E86B16"/>
                </a:solidFill>
              </a:defRPr>
            </a:lvl7pPr>
            <a:lvl8pPr algn="l">
              <a:defRPr sz="1125" b="1">
                <a:solidFill>
                  <a:srgbClr val="E86B16"/>
                </a:solidFill>
              </a:defRPr>
            </a:lvl8pPr>
            <a:lvl9pPr algn="l">
              <a:defRPr sz="1125" b="1">
                <a:solidFill>
                  <a:srgbClr val="E86B16"/>
                </a:solidFill>
              </a:defRPr>
            </a:lvl9pPr>
          </a:lstStyle>
          <a:p>
            <a:pPr algn="l">
              <a:defRPr sz="1125" b="1">
                <a:solidFill>
                  <a:srgbClr val="E86B16"/>
                </a:solidFill>
              </a:defRPr>
            </a:pPr>
            <a:r>
              <a:rPr sz="1125" b="1">
                <a:solidFill>
                  <a:srgbClr val="E86B16"/>
                </a:solidFill>
              </a:rPr>
              <a:t>FORMULATION CHANGE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CB49C5-AEE0-4810-838A-F6CBCEAB78BA}"/>
              </a:ext>
            </a:extLst>
          </p:cNvPr>
          <p:cNvSpPr>
            <a:spLocks noGrp="1"/>
          </p:cNvSpPr>
          <p:nvPr/>
        </p:nvSpPr>
        <p:spPr>
          <a:xfrm>
            <a:off x="552450" y="1457325"/>
            <a:ext cx="3714750" cy="2114550"/>
          </a:xfrm>
          <a:prstGeom prst="roundRect">
            <a:avLst>
              <a:gd name="adj" fmla="val 3604"/>
            </a:avLst>
          </a:prstGeom>
          <a:solidFill>
            <a:srgbClr val="F5F8F9"/>
          </a:solidFill>
          <a:ln w="14288">
            <a:solidFill>
              <a:srgbClr val="B7C8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78A3D05-99FA-4A36-9F3B-86464AB10D7A}"/>
              </a:ext>
            </a:extLst>
          </p:cNvPr>
          <p:cNvSpPr>
            <a:spLocks noGrp="1"/>
          </p:cNvSpPr>
          <p:nvPr/>
        </p:nvSpPr>
        <p:spPr>
          <a:xfrm>
            <a:off x="4819650" y="1457325"/>
            <a:ext cx="3771900" cy="2114550"/>
          </a:xfrm>
          <a:prstGeom prst="roundRect">
            <a:avLst>
              <a:gd name="adj" fmla="val 3604"/>
            </a:avLst>
          </a:prstGeom>
          <a:solidFill>
            <a:srgbClr val="FFF4E8"/>
          </a:solidFill>
          <a:ln w="14288">
            <a:solidFill>
              <a:srgbClr val="E6A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F88C74-C368-4B78-8B26-7489FC3CA37C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27343A"/>
                </a:solidFill>
              </a:defRPr>
            </a:defPPr>
            <a:lvl1pPr algn="l">
              <a:defRPr sz="1350" b="1">
                <a:solidFill>
                  <a:srgbClr val="27343A"/>
                </a:solidFill>
              </a:defRPr>
            </a:lvl1pPr>
            <a:lvl2pPr algn="l">
              <a:defRPr sz="1350" b="1">
                <a:solidFill>
                  <a:srgbClr val="27343A"/>
                </a:solidFill>
              </a:defRPr>
            </a:lvl2pPr>
            <a:lvl3pPr algn="l">
              <a:defRPr sz="1350" b="1">
                <a:solidFill>
                  <a:srgbClr val="27343A"/>
                </a:solidFill>
              </a:defRPr>
            </a:lvl3pPr>
            <a:lvl4pPr algn="l">
              <a:defRPr sz="1350" b="1">
                <a:solidFill>
                  <a:srgbClr val="27343A"/>
                </a:solidFill>
              </a:defRPr>
            </a:lvl4pPr>
            <a:lvl5pPr algn="l">
              <a:defRPr sz="1350" b="1">
                <a:solidFill>
                  <a:srgbClr val="27343A"/>
                </a:solidFill>
              </a:defRPr>
            </a:lvl5pPr>
            <a:lvl6pPr algn="l">
              <a:defRPr sz="1350" b="1">
                <a:solidFill>
                  <a:srgbClr val="27343A"/>
                </a:solidFill>
              </a:defRPr>
            </a:lvl6pPr>
            <a:lvl7pPr algn="l">
              <a:defRPr sz="1350" b="1">
                <a:solidFill>
                  <a:srgbClr val="27343A"/>
                </a:solidFill>
              </a:defRPr>
            </a:lvl7pPr>
            <a:lvl8pPr algn="l">
              <a:defRPr sz="1350" b="1">
                <a:solidFill>
                  <a:srgbClr val="27343A"/>
                </a:solidFill>
              </a:defRPr>
            </a:lvl8pPr>
            <a:lvl9pPr algn="l">
              <a:defRPr sz="1350" b="1">
                <a:solidFill>
                  <a:srgbClr val="27343A"/>
                </a:solidFill>
              </a:defRPr>
            </a:lvl9pPr>
          </a:lstStyle>
          <a:p>
            <a:pPr algn="l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Updates values or availability within an existing model template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74ACF1-FE90-4416-814E-F0FA5BEFD3BC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ECF64E-1EA5-4EF0-9CE9-91C4B3618552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Load level / demand scaling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405694-334E-4C5D-8C1F-5422D1F7692D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1EC631-39CE-4807-A31C-F5A45C019F56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Line status or rating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91D16-532E-424A-8287-1903A98E4559}"/>
              </a:ext>
            </a:extLst>
          </p:cNvPr>
          <p:cNvSpPr>
            <a:spLocks noGrp="1"/>
          </p:cNvSpPr>
          <p:nvPr/>
        </p:nvSpPr>
        <p:spPr>
          <a:xfrm>
            <a:off x="781050" y="283845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7B9AA7"/>
                </a:solidFill>
              </a:defRPr>
            </a:defPPr>
            <a:lvl1pPr algn="l">
              <a:defRPr sz="1275" b="1">
                <a:solidFill>
                  <a:srgbClr val="7B9AA7"/>
                </a:solidFill>
              </a:defRPr>
            </a:lvl1pPr>
            <a:lvl2pPr algn="l">
              <a:defRPr sz="1275" b="1">
                <a:solidFill>
                  <a:srgbClr val="7B9AA7"/>
                </a:solidFill>
              </a:defRPr>
            </a:lvl2pPr>
            <a:lvl3pPr algn="l">
              <a:defRPr sz="1275" b="1">
                <a:solidFill>
                  <a:srgbClr val="7B9AA7"/>
                </a:solidFill>
              </a:defRPr>
            </a:lvl3pPr>
            <a:lvl4pPr algn="l">
              <a:defRPr sz="1275" b="1">
                <a:solidFill>
                  <a:srgbClr val="7B9AA7"/>
                </a:solidFill>
              </a:defRPr>
            </a:lvl4pPr>
            <a:lvl5pPr algn="l">
              <a:defRPr sz="1275" b="1">
                <a:solidFill>
                  <a:srgbClr val="7B9AA7"/>
                </a:solidFill>
              </a:defRPr>
            </a:lvl5pPr>
            <a:lvl6pPr algn="l">
              <a:defRPr sz="1275" b="1">
                <a:solidFill>
                  <a:srgbClr val="7B9AA7"/>
                </a:solidFill>
              </a:defRPr>
            </a:lvl6pPr>
            <a:lvl7pPr algn="l">
              <a:defRPr sz="1275" b="1">
                <a:solidFill>
                  <a:srgbClr val="7B9AA7"/>
                </a:solidFill>
              </a:defRPr>
            </a:lvl7pPr>
            <a:lvl8pPr algn="l">
              <a:defRPr sz="1275" b="1">
                <a:solidFill>
                  <a:srgbClr val="7B9AA7"/>
                </a:solidFill>
              </a:defRPr>
            </a:lvl8pPr>
            <a:lvl9pPr algn="l">
              <a:defRPr sz="1275" b="1">
                <a:solidFill>
                  <a:srgbClr val="7B9AA7"/>
                </a:solidFill>
              </a:defRPr>
            </a:lvl9pPr>
          </a:lstStyle>
          <a:p>
            <a:pPr algn="l">
              <a:defRPr sz="1275" b="1">
                <a:solidFill>
                  <a:srgbClr val="7B9AA7"/>
                </a:solidFill>
              </a:defRPr>
            </a:pPr>
            <a:r>
              <a:rPr sz="1275" b="1">
                <a:solidFill>
                  <a:srgbClr val="7B9AA7"/>
                </a:solidFill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451FE1-A745-4D13-822F-E233889760F4}"/>
              </a:ext>
            </a:extLst>
          </p:cNvPr>
          <p:cNvSpPr>
            <a:spLocks noGrp="1"/>
          </p:cNvSpPr>
          <p:nvPr/>
        </p:nvSpPr>
        <p:spPr>
          <a:xfrm>
            <a:off x="990600" y="28384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Routine setting such as config.t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D0F578-7AC6-4F3C-8C67-460ACE7AB30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0">
                <a:solidFill>
                  <a:srgbClr val="5B6266"/>
                </a:solidFill>
              </a:defRPr>
            </a:defPPr>
            <a:lvl1pPr algn="l">
              <a:defRPr sz="975" b="0">
                <a:solidFill>
                  <a:srgbClr val="5B6266"/>
                </a:solidFill>
              </a:defRPr>
            </a:lvl1pPr>
            <a:lvl2pPr algn="l">
              <a:defRPr sz="975" b="0">
                <a:solidFill>
                  <a:srgbClr val="5B6266"/>
                </a:solidFill>
              </a:defRPr>
            </a:lvl2pPr>
            <a:lvl3pPr algn="l">
              <a:defRPr sz="975" b="0">
                <a:solidFill>
                  <a:srgbClr val="5B6266"/>
                </a:solidFill>
              </a:defRPr>
            </a:lvl3pPr>
            <a:lvl4pPr algn="l">
              <a:defRPr sz="975" b="0">
                <a:solidFill>
                  <a:srgbClr val="5B6266"/>
                </a:solidFill>
              </a:defRPr>
            </a:lvl4pPr>
            <a:lvl5pPr algn="l">
              <a:defRPr sz="975" b="0">
                <a:solidFill>
                  <a:srgbClr val="5B6266"/>
                </a:solidFill>
              </a:defRPr>
            </a:lvl5pPr>
            <a:lvl6pPr algn="l">
              <a:defRPr sz="975" b="0">
                <a:solidFill>
                  <a:srgbClr val="5B6266"/>
                </a:solidFill>
              </a:defRPr>
            </a:lvl6pPr>
            <a:lvl7pPr algn="l">
              <a:defRPr sz="975" b="0">
                <a:solidFill>
                  <a:srgbClr val="5B6266"/>
                </a:solidFill>
              </a:defRPr>
            </a:lvl7pPr>
            <a:lvl8pPr algn="l">
              <a:defRPr sz="975" b="0">
                <a:solidFill>
                  <a:srgbClr val="5B6266"/>
                </a:solidFill>
              </a:defRPr>
            </a:lvl8pPr>
            <a:lvl9pPr algn="l">
              <a:defRPr sz="975" b="0">
                <a:solidFill>
                  <a:srgbClr val="5B6266"/>
                </a:solidFill>
              </a:defRPr>
            </a:lvl9pPr>
          </a:lstStyle>
          <a:p>
            <a:pPr algn="l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Model data changes; decision structure stays fixed.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E21C8B-614A-458E-8D80-3183DB6D3F44}"/>
              </a:ext>
            </a:extLst>
          </p:cNvPr>
          <p:cNvSpPr>
            <a:spLocks noGrp="1"/>
          </p:cNvSpPr>
          <p:nvPr/>
        </p:nvSpPr>
        <p:spPr>
          <a:xfrm>
            <a:off x="5048250" y="1609725"/>
            <a:ext cx="333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27343A"/>
                </a:solidFill>
              </a:defRPr>
            </a:defPPr>
            <a:lvl1pPr algn="l">
              <a:defRPr sz="1350" b="1">
                <a:solidFill>
                  <a:srgbClr val="27343A"/>
                </a:solidFill>
              </a:defRPr>
            </a:lvl1pPr>
            <a:lvl2pPr algn="l">
              <a:defRPr sz="1350" b="1">
                <a:solidFill>
                  <a:srgbClr val="27343A"/>
                </a:solidFill>
              </a:defRPr>
            </a:lvl2pPr>
            <a:lvl3pPr algn="l">
              <a:defRPr sz="1350" b="1">
                <a:solidFill>
                  <a:srgbClr val="27343A"/>
                </a:solidFill>
              </a:defRPr>
            </a:lvl3pPr>
            <a:lvl4pPr algn="l">
              <a:defRPr sz="1350" b="1">
                <a:solidFill>
                  <a:srgbClr val="27343A"/>
                </a:solidFill>
              </a:defRPr>
            </a:lvl4pPr>
            <a:lvl5pPr algn="l">
              <a:defRPr sz="1350" b="1">
                <a:solidFill>
                  <a:srgbClr val="27343A"/>
                </a:solidFill>
              </a:defRPr>
            </a:lvl5pPr>
            <a:lvl6pPr algn="l">
              <a:defRPr sz="1350" b="1">
                <a:solidFill>
                  <a:srgbClr val="27343A"/>
                </a:solidFill>
              </a:defRPr>
            </a:lvl6pPr>
            <a:lvl7pPr algn="l">
              <a:defRPr sz="1350" b="1">
                <a:solidFill>
                  <a:srgbClr val="27343A"/>
                </a:solidFill>
              </a:defRPr>
            </a:lvl7pPr>
            <a:lvl8pPr algn="l">
              <a:defRPr sz="1350" b="1">
                <a:solidFill>
                  <a:srgbClr val="27343A"/>
                </a:solidFill>
              </a:defRPr>
            </a:lvl8pPr>
            <a:lvl9pPr algn="l">
              <a:defRPr sz="1350" b="1">
                <a:solidFill>
                  <a:srgbClr val="27343A"/>
                </a:solidFill>
              </a:defRPr>
            </a:lvl9pPr>
          </a:lstStyle>
          <a:p>
            <a:pPr algn="l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Changes variables, objective terms, or feasible 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B9DF67-560E-46F2-97FF-3383201A49F8}"/>
              </a:ext>
            </a:extLst>
          </p:cNvPr>
          <p:cNvSpPr>
            <a:spLocks noGrp="1"/>
          </p:cNvSpPr>
          <p:nvPr/>
        </p:nvSpPr>
        <p:spPr>
          <a:xfrm>
            <a:off x="5067300" y="219075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D0868C-8812-42B5-BCDD-4F8A6ACBD830}"/>
              </a:ext>
            </a:extLst>
          </p:cNvPr>
          <p:cNvSpPr>
            <a:spLocks noGrp="1"/>
          </p:cNvSpPr>
          <p:nvPr/>
        </p:nvSpPr>
        <p:spPr>
          <a:xfrm>
            <a:off x="5276850" y="21907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Add or revise an objective cost term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2FA86E-2634-4617-B1A8-A4A594237E79}"/>
              </a:ext>
            </a:extLst>
          </p:cNvPr>
          <p:cNvSpPr>
            <a:spLocks noGrp="1"/>
          </p:cNvSpPr>
          <p:nvPr/>
        </p:nvSpPr>
        <p:spPr>
          <a:xfrm>
            <a:off x="5067300" y="251460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021328-1153-4E4D-AB1B-B0028635D008}"/>
              </a:ext>
            </a:extLst>
          </p:cNvPr>
          <p:cNvSpPr>
            <a:spLocks noGrp="1"/>
          </p:cNvSpPr>
          <p:nvPr/>
        </p:nvSpPr>
        <p:spPr>
          <a:xfrm>
            <a:off x="5276850" y="25146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Add / remove a named constraint block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B102A5-70E4-4B4B-AD17-E17E20BE7FDB}"/>
              </a:ext>
            </a:extLst>
          </p:cNvPr>
          <p:cNvSpPr>
            <a:spLocks noGrp="1"/>
          </p:cNvSpPr>
          <p:nvPr/>
        </p:nvSpPr>
        <p:spPr>
          <a:xfrm>
            <a:off x="5067300" y="2838450"/>
            <a:ext cx="171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E86B16"/>
                </a:solidFill>
              </a:defRPr>
            </a:defPPr>
            <a:lvl1pPr algn="l">
              <a:defRPr sz="1275" b="1">
                <a:solidFill>
                  <a:srgbClr val="E86B16"/>
                </a:solidFill>
              </a:defRPr>
            </a:lvl1pPr>
            <a:lvl2pPr algn="l">
              <a:defRPr sz="1275" b="1">
                <a:solidFill>
                  <a:srgbClr val="E86B16"/>
                </a:solidFill>
              </a:defRPr>
            </a:lvl2pPr>
            <a:lvl3pPr algn="l">
              <a:defRPr sz="1275" b="1">
                <a:solidFill>
                  <a:srgbClr val="E86B16"/>
                </a:solidFill>
              </a:defRPr>
            </a:lvl3pPr>
            <a:lvl4pPr algn="l">
              <a:defRPr sz="1275" b="1">
                <a:solidFill>
                  <a:srgbClr val="E86B16"/>
                </a:solidFill>
              </a:defRPr>
            </a:lvl4pPr>
            <a:lvl5pPr algn="l">
              <a:defRPr sz="1275" b="1">
                <a:solidFill>
                  <a:srgbClr val="E86B16"/>
                </a:solidFill>
              </a:defRPr>
            </a:lvl5pPr>
            <a:lvl6pPr algn="l">
              <a:defRPr sz="1275" b="1">
                <a:solidFill>
                  <a:srgbClr val="E86B16"/>
                </a:solidFill>
              </a:defRPr>
            </a:lvl6pPr>
            <a:lvl7pPr algn="l">
              <a:defRPr sz="1275" b="1">
                <a:solidFill>
                  <a:srgbClr val="E86B16"/>
                </a:solidFill>
              </a:defRPr>
            </a:lvl7pPr>
            <a:lvl8pPr algn="l">
              <a:defRPr sz="1275" b="1">
                <a:solidFill>
                  <a:srgbClr val="E86B16"/>
                </a:solidFill>
              </a:defRPr>
            </a:lvl8pPr>
            <a:lvl9pPr algn="l">
              <a:defRPr sz="1275" b="1">
                <a:solidFill>
                  <a:srgbClr val="E86B16"/>
                </a:solidFill>
              </a:defRPr>
            </a:lvl9pPr>
          </a:lstStyle>
          <a:p>
            <a:pPr algn="l">
              <a:defRPr sz="1275" b="1">
                <a:solidFill>
                  <a:srgbClr val="E86B16"/>
                </a:solidFill>
              </a:defRPr>
            </a:pPr>
            <a:r>
              <a:rPr sz="1275" b="1">
                <a:solidFill>
                  <a:srgbClr val="E86B16"/>
                </a:solidFill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D7C7B8-AC7A-4663-9B4B-03A604FB000C}"/>
              </a:ext>
            </a:extLst>
          </p:cNvPr>
          <p:cNvSpPr>
            <a:spLocks noGrp="1"/>
          </p:cNvSpPr>
          <p:nvPr/>
        </p:nvSpPr>
        <p:spPr>
          <a:xfrm>
            <a:off x="5276850" y="28384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52A2D"/>
                </a:solidFill>
              </a:defRPr>
            </a:defPPr>
            <a:lvl1pPr algn="l">
              <a:defRPr sz="1125" b="0">
                <a:solidFill>
                  <a:srgbClr val="252A2D"/>
                </a:solidFill>
              </a:defRPr>
            </a:lvl1pPr>
            <a:lvl2pPr algn="l">
              <a:defRPr sz="1125" b="0">
                <a:solidFill>
                  <a:srgbClr val="252A2D"/>
                </a:solidFill>
              </a:defRPr>
            </a:lvl2pPr>
            <a:lvl3pPr algn="l">
              <a:defRPr sz="1125" b="0">
                <a:solidFill>
                  <a:srgbClr val="252A2D"/>
                </a:solidFill>
              </a:defRPr>
            </a:lvl3pPr>
            <a:lvl4pPr algn="l">
              <a:defRPr sz="1125" b="0">
                <a:solidFill>
                  <a:srgbClr val="252A2D"/>
                </a:solidFill>
              </a:defRPr>
            </a:lvl4pPr>
            <a:lvl5pPr algn="l">
              <a:defRPr sz="1125" b="0">
                <a:solidFill>
                  <a:srgbClr val="252A2D"/>
                </a:solidFill>
              </a:defRPr>
            </a:lvl5pPr>
            <a:lvl6pPr algn="l">
              <a:defRPr sz="1125" b="0">
                <a:solidFill>
                  <a:srgbClr val="252A2D"/>
                </a:solidFill>
              </a:defRPr>
            </a:lvl6pPr>
            <a:lvl7pPr algn="l">
              <a:defRPr sz="1125" b="0">
                <a:solidFill>
                  <a:srgbClr val="252A2D"/>
                </a:solidFill>
              </a:defRPr>
            </a:lvl7pPr>
            <a:lvl8pPr algn="l">
              <a:defRPr sz="1125" b="0">
                <a:solidFill>
                  <a:srgbClr val="252A2D"/>
                </a:solidFill>
              </a:defRPr>
            </a:lvl8pPr>
            <a:lvl9pPr algn="l">
              <a:defRPr sz="1125" b="0">
                <a:solidFill>
                  <a:srgbClr val="252A2D"/>
                </a:solidFill>
              </a:defRPr>
            </a:lvl9pPr>
          </a:lstStyle>
          <a:p>
            <a:pPr algn="l">
              <a:defRPr sz="1125" b="0">
                <a:solidFill>
                  <a:srgbClr val="252A2D"/>
                </a:solidFill>
              </a:defRPr>
            </a:pPr>
            <a:r>
              <a:rPr sz="1125" b="0">
                <a:solidFill>
                  <a:srgbClr val="252A2D"/>
                </a:solidFill>
              </a:rPr>
              <a:t>Replace PV with an IBR: variables + limits + 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24A791-243D-469C-8410-66A42BD5F4D2}"/>
              </a:ext>
            </a:extLst>
          </p:cNvPr>
          <p:cNvSpPr>
            <a:spLocks noGrp="1"/>
          </p:cNvSpPr>
          <p:nvPr/>
        </p:nvSpPr>
        <p:spPr>
          <a:xfrm>
            <a:off x="5048250" y="32385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1">
                <a:solidFill>
                  <a:srgbClr val="E86B16"/>
                </a:solidFill>
              </a:defRPr>
            </a:defPPr>
            <a:lvl1pPr algn="l">
              <a:defRPr sz="975" b="1">
                <a:solidFill>
                  <a:srgbClr val="E86B16"/>
                </a:solidFill>
              </a:defRPr>
            </a:lvl1pPr>
            <a:lvl2pPr algn="l">
              <a:defRPr sz="975" b="1">
                <a:solidFill>
                  <a:srgbClr val="E86B16"/>
                </a:solidFill>
              </a:defRPr>
            </a:lvl2pPr>
            <a:lvl3pPr algn="l">
              <a:defRPr sz="975" b="1">
                <a:solidFill>
                  <a:srgbClr val="E86B16"/>
                </a:solidFill>
              </a:defRPr>
            </a:lvl3pPr>
            <a:lvl4pPr algn="l">
              <a:defRPr sz="975" b="1">
                <a:solidFill>
                  <a:srgbClr val="E86B16"/>
                </a:solidFill>
              </a:defRPr>
            </a:lvl4pPr>
            <a:lvl5pPr algn="l">
              <a:defRPr sz="975" b="1">
                <a:solidFill>
                  <a:srgbClr val="E86B16"/>
                </a:solidFill>
              </a:defRPr>
            </a:lvl5pPr>
            <a:lvl6pPr algn="l">
              <a:defRPr sz="975" b="1">
                <a:solidFill>
                  <a:srgbClr val="E86B16"/>
                </a:solidFill>
              </a:defRPr>
            </a:lvl6pPr>
            <a:lvl7pPr algn="l">
              <a:defRPr sz="975" b="1">
                <a:solidFill>
                  <a:srgbClr val="E86B16"/>
                </a:solidFill>
              </a:defRPr>
            </a:lvl7pPr>
            <a:lvl8pPr algn="l">
              <a:defRPr sz="975" b="1">
                <a:solidFill>
                  <a:srgbClr val="E86B16"/>
                </a:solidFill>
              </a:defRPr>
            </a:lvl8pPr>
            <a:lvl9pPr algn="l">
              <a:defRPr sz="975" b="1">
                <a:solidFill>
                  <a:srgbClr val="E86B16"/>
                </a:solidFill>
              </a:defRPr>
            </a:lvl9pPr>
          </a:lstStyle>
          <a:p>
            <a:pPr algn="l">
              <a:defRPr sz="975" b="1">
                <a:solidFill>
                  <a:srgbClr val="E86B16"/>
                </a:solidFill>
              </a:defRPr>
            </a:pPr>
            <a:r>
              <a:rPr sz="975" b="1">
                <a:solidFill>
                  <a:srgbClr val="E86B16"/>
                </a:solidFill>
              </a:rPr>
              <a:t>Prioritize these structural edits in the formulation catalog.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6B1302-52B1-40AC-9B05-9768328F1751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8039100" cy="9525"/>
          </a:xfrm>
          <a:prstGeom prst="rect">
            <a:avLst/>
          </a:prstGeom>
          <a:solidFill>
            <a:srgbClr val="D5DD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678A2F-9660-4ADC-B6F4-4C515206183A}"/>
              </a:ext>
            </a:extLst>
          </p:cNvPr>
          <p:cNvSpPr>
            <a:spLocks noGrp="1"/>
          </p:cNvSpPr>
          <p:nvPr/>
        </p:nvSpPr>
        <p:spPr>
          <a:xfrm>
            <a:off x="590550" y="38862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CLASSIFICATION RULE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035732-3B0E-4E71-A29B-5599BB3223F5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7886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27343A"/>
                </a:solidFill>
              </a:defRPr>
            </a:defPPr>
            <a:lvl1pPr algn="l">
              <a:defRPr sz="1125" b="1">
                <a:solidFill>
                  <a:srgbClr val="27343A"/>
                </a:solidFill>
              </a:defRPr>
            </a:lvl1pPr>
            <a:lvl2pPr algn="l">
              <a:defRPr sz="1125" b="1">
                <a:solidFill>
                  <a:srgbClr val="27343A"/>
                </a:solidFill>
              </a:defRPr>
            </a:lvl2pPr>
            <a:lvl3pPr algn="l">
              <a:defRPr sz="1125" b="1">
                <a:solidFill>
                  <a:srgbClr val="27343A"/>
                </a:solidFill>
              </a:defRPr>
            </a:lvl3pPr>
            <a:lvl4pPr algn="l">
              <a:defRPr sz="1125" b="1">
                <a:solidFill>
                  <a:srgbClr val="27343A"/>
                </a:solidFill>
              </a:defRPr>
            </a:lvl4pPr>
            <a:lvl5pPr algn="l">
              <a:defRPr sz="1125" b="1">
                <a:solidFill>
                  <a:srgbClr val="27343A"/>
                </a:solidFill>
              </a:defRPr>
            </a:lvl5pPr>
            <a:lvl6pPr algn="l">
              <a:defRPr sz="1125" b="1">
                <a:solidFill>
                  <a:srgbClr val="27343A"/>
                </a:solidFill>
              </a:defRPr>
            </a:lvl6pPr>
            <a:lvl7pPr algn="l">
              <a:defRPr sz="1125" b="1">
                <a:solidFill>
                  <a:srgbClr val="27343A"/>
                </a:solidFill>
              </a:defRPr>
            </a:lvl7pPr>
            <a:lvl8pPr algn="l">
              <a:defRPr sz="1125" b="1">
                <a:solidFill>
                  <a:srgbClr val="27343A"/>
                </a:solidFill>
              </a:defRPr>
            </a:lvl8pPr>
            <a:lvl9pPr algn="l">
              <a:defRPr sz="1125" b="1">
                <a:solidFill>
                  <a:srgbClr val="27343A"/>
                </a:solidFill>
              </a:defRPr>
            </a:lvl9pPr>
          </a:lstStyle>
          <a:p>
            <a:pPr algn="l">
              <a:defRPr sz="1125" b="1">
                <a:solidFill>
                  <a:srgbClr val="27343A"/>
                </a:solidFill>
              </a:defRPr>
            </a:pPr>
            <a:r>
              <a:rPr sz="1125" b="1">
                <a:solidFill>
                  <a:srgbClr val="27343A"/>
                </a:solidFill>
              </a:rPr>
              <a:t>Data / availability only  →  scenario     |     New variables, objective terms, or constraints  →  formulation</a:t>
            </a:r>
          </a:p>
        </p:txBody>
      </p:sp>
    </p:spTree>
    <p:extLst>
      <p:ext uri="{BB962C8B-B14F-4D97-AF65-F5344CB8AC3E}">
        <p14:creationId xmlns:p14="http://schemas.microsoft.com/office/powerpoint/2010/main" val="150859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title">
            <a:extLst>
              <a:ext uri="{FF2B5EF4-FFF2-40B4-BE49-F238E27FC236}">
                <a16:creationId xmlns:a16="http://schemas.microsoft.com/office/drawing/2014/main" id="{E50652AC-E1F4-4DC2-A50E-FB8170BA846E}"/>
              </a:ext>
            </a:extLst>
          </p:cNvPr>
          <p:cNvSpPr>
            <a:spLocks noGrp="1"/>
          </p:cNvSpPr>
          <p:nvPr/>
        </p:nvSpPr>
        <p:spPr>
          <a:xfrm>
            <a:off x="514350" y="161925"/>
            <a:ext cx="8096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025" b="1">
                <a:solidFill>
                  <a:srgbClr val="008000"/>
                </a:solidFill>
              </a:defRPr>
            </a:defPPr>
            <a:lvl1pPr algn="l">
              <a:defRPr sz="2025" b="1">
                <a:solidFill>
                  <a:srgbClr val="008000"/>
                </a:solidFill>
              </a:defRPr>
            </a:lvl1pPr>
            <a:lvl2pPr algn="l">
              <a:defRPr sz="2025" b="1">
                <a:solidFill>
                  <a:srgbClr val="008000"/>
                </a:solidFill>
              </a:defRPr>
            </a:lvl2pPr>
            <a:lvl3pPr algn="l">
              <a:defRPr sz="2025" b="1">
                <a:solidFill>
                  <a:srgbClr val="008000"/>
                </a:solidFill>
              </a:defRPr>
            </a:lvl3pPr>
            <a:lvl4pPr algn="l">
              <a:defRPr sz="2025" b="1">
                <a:solidFill>
                  <a:srgbClr val="008000"/>
                </a:solidFill>
              </a:defRPr>
            </a:lvl4pPr>
            <a:lvl5pPr algn="l">
              <a:defRPr sz="2025" b="1">
                <a:solidFill>
                  <a:srgbClr val="008000"/>
                </a:solidFill>
              </a:defRPr>
            </a:lvl5pPr>
            <a:lvl6pPr algn="l">
              <a:defRPr sz="2025" b="1">
                <a:solidFill>
                  <a:srgbClr val="008000"/>
                </a:solidFill>
              </a:defRPr>
            </a:lvl6pPr>
            <a:lvl7pPr algn="l">
              <a:defRPr sz="2025" b="1">
                <a:solidFill>
                  <a:srgbClr val="008000"/>
                </a:solidFill>
              </a:defRPr>
            </a:lvl7pPr>
            <a:lvl8pPr algn="l">
              <a:defRPr sz="2025" b="1">
                <a:solidFill>
                  <a:srgbClr val="008000"/>
                </a:solidFill>
              </a:defRPr>
            </a:lvl8pPr>
            <a:lvl9pPr algn="l">
              <a:defRPr sz="2025" b="1">
                <a:solidFill>
                  <a:srgbClr val="008000"/>
                </a:solidFill>
              </a:defRPr>
            </a:lvl9pPr>
          </a:lstStyle>
          <a:p>
            <a:pPr algn="l">
              <a:defRPr sz="2025" b="1">
                <a:solidFill>
                  <a:srgbClr val="008000"/>
                </a:solidFill>
              </a:defRPr>
            </a:pPr>
            <a:r>
              <a:rPr sz="2025" b="1">
                <a:solidFill>
                  <a:srgbClr val="008000"/>
                </a:solidFill>
              </a:rPr>
              <a:t>How to ensure the LLM executes a prompt correctly?</a:t>
            </a:r>
          </a:p>
        </p:txBody>
      </p:sp>
      <p:sp>
        <p:nvSpPr>
          <p:cNvPr id="2" name="Title rule">
            <a:extLst>
              <a:ext uri="{FF2B5EF4-FFF2-40B4-BE49-F238E27FC236}">
                <a16:creationId xmlns:a16="http://schemas.microsoft.com/office/drawing/2014/main" id="{75531BA6-9862-4344-A5D7-2B79F2807FD4}"/>
              </a:ext>
            </a:extLst>
          </p:cNvPr>
          <p:cNvSpPr>
            <a:spLocks noGrp="1"/>
          </p:cNvSpPr>
          <p:nvPr/>
        </p:nvSpPr>
        <p:spPr>
          <a:xfrm>
            <a:off x="457200" y="628650"/>
            <a:ext cx="8229600" cy="19050"/>
          </a:xfrm>
          <a:prstGeom prst="rect">
            <a:avLst/>
          </a:prstGeom>
          <a:solidFill>
            <a:srgbClr val="008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rule">
            <a:extLst>
              <a:ext uri="{FF2B5EF4-FFF2-40B4-BE49-F238E27FC236}">
                <a16:creationId xmlns:a16="http://schemas.microsoft.com/office/drawing/2014/main" id="{F47AB9B0-6B45-45B6-BF8A-4CCAF4391F5E}"/>
              </a:ext>
            </a:extLst>
          </p:cNvPr>
          <p:cNvSpPr>
            <a:spLocks noGrp="1"/>
          </p:cNvSpPr>
          <p:nvPr/>
        </p:nvSpPr>
        <p:spPr>
          <a:xfrm>
            <a:off x="457200" y="4781550"/>
            <a:ext cx="8229600" cy="9525"/>
          </a:xfrm>
          <a:prstGeom prst="rect">
            <a:avLst/>
          </a:prstGeom>
          <a:solidFill>
            <a:srgbClr val="D5DD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2BE1B6-F479-408B-AC39-FF4D845C5667}"/>
              </a:ext>
            </a:extLst>
          </p:cNvPr>
          <p:cNvSpPr>
            <a:spLocks noGrp="1"/>
          </p:cNvSpPr>
          <p:nvPr/>
        </p:nvSpPr>
        <p:spPr>
          <a:xfrm>
            <a:off x="5715000" y="48291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8F3CE5-0701-4F1E-A31E-E860A40A26E7}"/>
              </a:ext>
            </a:extLst>
          </p:cNvPr>
          <p:cNvSpPr>
            <a:spLocks noGrp="1"/>
          </p:cNvSpPr>
          <p:nvPr/>
        </p:nvSpPr>
        <p:spPr>
          <a:xfrm>
            <a:off x="8439150" y="482917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3D9A8B-07A4-4C3F-9782-0E30405C5A18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804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Treat execution as a verifiable transaction, not a reasoning claim.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AF687D-A73F-4FDC-9BB0-C502116B1DC8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20015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3D2D11-59B1-4F63-B49F-27A8F5082EA7}"/>
              </a:ext>
            </a:extLst>
          </p:cNvPr>
          <p:cNvSpPr>
            <a:spLocks noGrp="1"/>
          </p:cNvSpPr>
          <p:nvPr/>
        </p:nvSpPr>
        <p:spPr>
          <a:xfrm>
            <a:off x="628650" y="1504950"/>
            <a:ext cx="1009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1  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57B192-0BF2-4B0D-BA39-D17508F399B3}"/>
              </a:ext>
            </a:extLst>
          </p:cNvPr>
          <p:cNvSpPr>
            <a:spLocks noGrp="1"/>
          </p:cNvSpPr>
          <p:nvPr/>
        </p:nvSpPr>
        <p:spPr>
          <a:xfrm>
            <a:off x="628650" y="1733550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7343A"/>
                </a:solidFill>
              </a:defRPr>
            </a:defPPr>
            <a:lvl1pPr algn="ctr">
              <a:defRPr sz="1125" b="1">
                <a:solidFill>
                  <a:srgbClr val="27343A"/>
                </a:solidFill>
              </a:defRPr>
            </a:lvl1pPr>
            <a:lvl2pPr algn="ctr">
              <a:defRPr sz="1125" b="1">
                <a:solidFill>
                  <a:srgbClr val="27343A"/>
                </a:solidFill>
              </a:defRPr>
            </a:lvl2pPr>
            <a:lvl3pPr algn="ctr">
              <a:defRPr sz="1125" b="1">
                <a:solidFill>
                  <a:srgbClr val="27343A"/>
                </a:solidFill>
              </a:defRPr>
            </a:lvl3pPr>
            <a:lvl4pPr algn="ctr">
              <a:defRPr sz="1125" b="1">
                <a:solidFill>
                  <a:srgbClr val="27343A"/>
                </a:solidFill>
              </a:defRPr>
            </a:lvl4pPr>
            <a:lvl5pPr algn="ctr">
              <a:defRPr sz="1125" b="1">
                <a:solidFill>
                  <a:srgbClr val="27343A"/>
                </a:solidFill>
              </a:defRPr>
            </a:lvl5pPr>
            <a:lvl6pPr algn="ctr">
              <a:defRPr sz="1125" b="1">
                <a:solidFill>
                  <a:srgbClr val="27343A"/>
                </a:solidFill>
              </a:defRPr>
            </a:lvl6pPr>
            <a:lvl7pPr algn="ctr">
              <a:defRPr sz="1125" b="1">
                <a:solidFill>
                  <a:srgbClr val="27343A"/>
                </a:solidFill>
              </a:defRPr>
            </a:lvl7pPr>
            <a:lvl8pPr algn="ctr">
              <a:defRPr sz="1125" b="1">
                <a:solidFill>
                  <a:srgbClr val="27343A"/>
                </a:solidFill>
              </a:defRPr>
            </a:lvl8pPr>
            <a:lvl9pPr algn="ctr">
              <a:defRPr sz="1125" b="1">
                <a:solidFill>
                  <a:srgbClr val="27343A"/>
                </a:solidFill>
              </a:defRPr>
            </a:lvl9pPr>
          </a:lstStyle>
          <a:p>
            <a:pPr algn="ctr">
              <a:defRPr sz="1125" b="1">
                <a:solidFill>
                  <a:srgbClr val="27343A"/>
                </a:solidFill>
              </a:defRPr>
            </a:pPr>
            <a:r>
              <a:rPr sz="1125" b="1">
                <a:solidFill>
                  <a:srgbClr val="27343A"/>
                </a:solidFill>
              </a:rPr>
              <a:t>“Set a = 0.9”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73AA8B-6ABC-4509-A840-C1A7460A02EB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1028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Target + value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1F8F92-BEA7-4CA9-9BD6-61198555BC26}"/>
              </a:ext>
            </a:extLst>
          </p:cNvPr>
          <p:cNvSpPr>
            <a:spLocks noGrp="1"/>
          </p:cNvSpPr>
          <p:nvPr/>
        </p:nvSpPr>
        <p:spPr>
          <a:xfrm>
            <a:off x="1924050" y="1400175"/>
            <a:ext cx="138112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1CDDD-BA33-45F8-8FDD-81AF66F0ED27}"/>
              </a:ext>
            </a:extLst>
          </p:cNvPr>
          <p:cNvSpPr>
            <a:spLocks noGrp="1"/>
          </p:cNvSpPr>
          <p:nvPr/>
        </p:nvSpPr>
        <p:spPr>
          <a:xfrm>
            <a:off x="2019300" y="15049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2  PLAN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FF2099-551A-4B88-9C44-3BA02B1E2ADA}"/>
              </a:ext>
            </a:extLst>
          </p:cNvPr>
          <p:cNvSpPr>
            <a:spLocks noGrp="1"/>
          </p:cNvSpPr>
          <p:nvPr/>
        </p:nvSpPr>
        <p:spPr>
          <a:xfrm>
            <a:off x="2019300" y="173355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 := 0.9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066A0C-73F3-4716-B13B-503E3BB30748}"/>
              </a:ext>
            </a:extLst>
          </p:cNvPr>
          <p:cNvSpPr>
            <a:spLocks noGrp="1"/>
          </p:cNvSpPr>
          <p:nvPr/>
        </p:nvSpPr>
        <p:spPr>
          <a:xfrm>
            <a:off x="2009775" y="2114550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Typed, scoped</a:t>
            </a:r>
          </a:p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operation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8135C3-B7FB-47AC-A5E7-46D7569C27CD}"/>
              </a:ext>
            </a:extLst>
          </p:cNvPr>
          <p:cNvSpPr>
            <a:spLocks noGrp="1"/>
          </p:cNvSpPr>
          <p:nvPr/>
        </p:nvSpPr>
        <p:spPr>
          <a:xfrm>
            <a:off x="3495675" y="1400175"/>
            <a:ext cx="138112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7742A-3CA6-4915-88D8-6B1057A2F90A}"/>
              </a:ext>
            </a:extLst>
          </p:cNvPr>
          <p:cNvSpPr>
            <a:spLocks noGrp="1"/>
          </p:cNvSpPr>
          <p:nvPr/>
        </p:nvSpPr>
        <p:spPr>
          <a:xfrm>
            <a:off x="3590925" y="15049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3  PRECHECK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ECF584-6F99-4930-8574-7297A58812D8}"/>
              </a:ext>
            </a:extLst>
          </p:cNvPr>
          <p:cNvSpPr>
            <a:spLocks noGrp="1"/>
          </p:cNvSpPr>
          <p:nvPr/>
        </p:nvSpPr>
        <p:spPr>
          <a:xfrm>
            <a:off x="3590925" y="173355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 exists · in range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7B559C-52D1-4C36-9DE6-3D79ED6509D1}"/>
              </a:ext>
            </a:extLst>
          </p:cNvPr>
          <p:cNvSpPr>
            <a:spLocks noGrp="1"/>
          </p:cNvSpPr>
          <p:nvPr/>
        </p:nvSpPr>
        <p:spPr>
          <a:xfrm>
            <a:off x="3581400" y="2114550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Routine · units ·</a:t>
            </a:r>
          </a:p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preconditions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ED7FB9B-846E-4080-8D37-EAE3A20940AF}"/>
              </a:ext>
            </a:extLst>
          </p:cNvPr>
          <p:cNvSpPr>
            <a:spLocks noGrp="1"/>
          </p:cNvSpPr>
          <p:nvPr/>
        </p:nvSpPr>
        <p:spPr>
          <a:xfrm>
            <a:off x="5067300" y="1400175"/>
            <a:ext cx="138112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542200-7985-4F97-A390-059232885243}"/>
              </a:ext>
            </a:extLst>
          </p:cNvPr>
          <p:cNvSpPr>
            <a:spLocks noGrp="1"/>
          </p:cNvSpPr>
          <p:nvPr/>
        </p:nvSpPr>
        <p:spPr>
          <a:xfrm>
            <a:off x="5162550" y="15049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4  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D767D3-FEE9-4422-8E16-AB8BC7DD2119}"/>
              </a:ext>
            </a:extLst>
          </p:cNvPr>
          <p:cNvSpPr>
            <a:spLocks noGrp="1"/>
          </p:cNvSpPr>
          <p:nvPr/>
        </p:nvSpPr>
        <p:spPr>
          <a:xfrm>
            <a:off x="5162550" y="173355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Declared edit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1A8C65-594A-4627-8703-1977D4379C93}"/>
              </a:ext>
            </a:extLst>
          </p:cNvPr>
          <p:cNvSpPr>
            <a:spLocks noGrp="1"/>
          </p:cNvSpPr>
          <p:nvPr/>
        </p:nvSpPr>
        <p:spPr>
          <a:xfrm>
            <a:off x="5153025" y="2114550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One controlled</a:t>
            </a:r>
          </a:p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model operation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A7199C8-7630-4A30-B524-D707BEC003A5}"/>
              </a:ext>
            </a:extLst>
          </p:cNvPr>
          <p:cNvSpPr>
            <a:spLocks noGrp="1"/>
          </p:cNvSpPr>
          <p:nvPr/>
        </p:nvSpPr>
        <p:spPr>
          <a:xfrm>
            <a:off x="6638925" y="1400175"/>
            <a:ext cx="1971675" cy="1181100"/>
          </a:xfrm>
          <a:prstGeom prst="roundRect">
            <a:avLst>
              <a:gd name="adj" fmla="val 6452"/>
            </a:avLst>
          </a:prstGeom>
          <a:solidFill>
            <a:srgbClr val="EAF5EA"/>
          </a:solidFill>
          <a:ln w="14288">
            <a:solidFill>
              <a:srgbClr val="80B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1301FF-70D4-4DBF-9830-8258BCA7E75F}"/>
              </a:ext>
            </a:extLst>
          </p:cNvPr>
          <p:cNvSpPr>
            <a:spLocks noGrp="1"/>
          </p:cNvSpPr>
          <p:nvPr/>
        </p:nvSpPr>
        <p:spPr>
          <a:xfrm>
            <a:off x="6734175" y="1504950"/>
            <a:ext cx="17811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008000"/>
                </a:solidFill>
              </a:defRPr>
            </a:defPPr>
            <a:lvl1pPr algn="ctr">
              <a:defRPr sz="825" b="1">
                <a:solidFill>
                  <a:srgbClr val="008000"/>
                </a:solidFill>
              </a:defRPr>
            </a:lvl1pPr>
            <a:lvl2pPr algn="ctr">
              <a:defRPr sz="825" b="1">
                <a:solidFill>
                  <a:srgbClr val="008000"/>
                </a:solidFill>
              </a:defRPr>
            </a:lvl2pPr>
            <a:lvl3pPr algn="ctr">
              <a:defRPr sz="825" b="1">
                <a:solidFill>
                  <a:srgbClr val="008000"/>
                </a:solidFill>
              </a:defRPr>
            </a:lvl3pPr>
            <a:lvl4pPr algn="ctr">
              <a:defRPr sz="825" b="1">
                <a:solidFill>
                  <a:srgbClr val="008000"/>
                </a:solidFill>
              </a:defRPr>
            </a:lvl4pPr>
            <a:lvl5pPr algn="ctr">
              <a:defRPr sz="825" b="1">
                <a:solidFill>
                  <a:srgbClr val="008000"/>
                </a:solidFill>
              </a:defRPr>
            </a:lvl5pPr>
            <a:lvl6pPr algn="ctr">
              <a:defRPr sz="825" b="1">
                <a:solidFill>
                  <a:srgbClr val="008000"/>
                </a:solidFill>
              </a:defRPr>
            </a:lvl6pPr>
            <a:lvl7pPr algn="ctr">
              <a:defRPr sz="825" b="1">
                <a:solidFill>
                  <a:srgbClr val="008000"/>
                </a:solidFill>
              </a:defRPr>
            </a:lvl7pPr>
            <a:lvl8pPr algn="ctr">
              <a:defRPr sz="825" b="1">
                <a:solidFill>
                  <a:srgbClr val="008000"/>
                </a:solidFill>
              </a:defRPr>
            </a:lvl8pPr>
            <a:lvl9pPr algn="ctr">
              <a:defRPr sz="825" b="1">
                <a:solidFill>
                  <a:srgbClr val="008000"/>
                </a:solidFill>
              </a:defRPr>
            </a:lvl9pPr>
          </a:lstStyle>
          <a:p>
            <a:pPr algn="ctr">
              <a:defRPr sz="825" b="1">
                <a:solidFill>
                  <a:srgbClr val="008000"/>
                </a:solidFill>
              </a:defRPr>
            </a:pPr>
            <a:r>
              <a:rPr sz="825" b="1">
                <a:solidFill>
                  <a:srgbClr val="008000"/>
                </a:solidFill>
              </a:rPr>
              <a:t>5  READ BACK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ADFF5A-8EAF-407D-ACBA-C837BB01CDEB}"/>
              </a:ext>
            </a:extLst>
          </p:cNvPr>
          <p:cNvSpPr>
            <a:spLocks noGrp="1"/>
          </p:cNvSpPr>
          <p:nvPr/>
        </p:nvSpPr>
        <p:spPr>
          <a:xfrm>
            <a:off x="6734175" y="1733550"/>
            <a:ext cx="1781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Actual value = 0.9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B7D362-FF11-450A-9152-BA08190C586A}"/>
              </a:ext>
            </a:extLst>
          </p:cNvPr>
          <p:cNvSpPr>
            <a:spLocks noGrp="1"/>
          </p:cNvSpPr>
          <p:nvPr/>
        </p:nvSpPr>
        <p:spPr>
          <a:xfrm>
            <a:off x="6724650" y="2114550"/>
            <a:ext cx="1800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Model diff + solve</a:t>
            </a:r>
          </a:p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feasibility check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75E9C6-EC1E-476E-9F93-BB2D95B175FE}"/>
              </a:ext>
            </a:extLst>
          </p:cNvPr>
          <p:cNvSpPr>
            <a:spLocks noGrp="1"/>
          </p:cNvSpPr>
          <p:nvPr/>
        </p:nvSpPr>
        <p:spPr>
          <a:xfrm>
            <a:off x="1743075" y="1790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786A14-825A-4451-8D35-04BFF9353F5D}"/>
              </a:ext>
            </a:extLst>
          </p:cNvPr>
          <p:cNvSpPr>
            <a:spLocks noGrp="1"/>
          </p:cNvSpPr>
          <p:nvPr/>
        </p:nvSpPr>
        <p:spPr>
          <a:xfrm>
            <a:off x="3314700" y="1790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7765EF-DBE4-47EB-A36A-E3010B4E22C8}"/>
              </a:ext>
            </a:extLst>
          </p:cNvPr>
          <p:cNvSpPr>
            <a:spLocks noGrp="1"/>
          </p:cNvSpPr>
          <p:nvPr/>
        </p:nvSpPr>
        <p:spPr>
          <a:xfrm>
            <a:off x="4886325" y="1790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A380AF-2692-4470-B48B-AF6959A9AACD}"/>
              </a:ext>
            </a:extLst>
          </p:cNvPr>
          <p:cNvSpPr>
            <a:spLocks noGrp="1"/>
          </p:cNvSpPr>
          <p:nvPr/>
        </p:nvSpPr>
        <p:spPr>
          <a:xfrm>
            <a:off x="6457950" y="1790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BC8AEC-FBC3-4A0D-9628-4451327DF390}"/>
              </a:ext>
            </a:extLst>
          </p:cNvPr>
          <p:cNvSpPr>
            <a:spLocks noGrp="1"/>
          </p:cNvSpPr>
          <p:nvPr/>
        </p:nvSpPr>
        <p:spPr>
          <a:xfrm>
            <a:off x="571500" y="2905125"/>
            <a:ext cx="2095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EXECUTION RECORD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6F96B82-A798-4FC5-A4F6-2DDB4A559927}"/>
              </a:ext>
            </a:extLst>
          </p:cNvPr>
          <p:cNvSpPr>
            <a:spLocks noGrp="1"/>
          </p:cNvSpPr>
          <p:nvPr/>
        </p:nvSpPr>
        <p:spPr>
          <a:xfrm>
            <a:off x="571500" y="3152775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5CAF3E-BEA0-4885-82DA-AB8042FF999B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Intent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D94625-7A3E-4E35-BA09-EEBF1ADA675E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target a · requested value 0.9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A8C2DFB-9415-4912-95F0-D5D0FA524937}"/>
              </a:ext>
            </a:extLst>
          </p:cNvPr>
          <p:cNvSpPr>
            <a:spLocks noGrp="1"/>
          </p:cNvSpPr>
          <p:nvPr/>
        </p:nvSpPr>
        <p:spPr>
          <a:xfrm>
            <a:off x="2609850" y="3152775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1F5F5E-F00C-43C2-817A-8670B88E0485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Applied state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70DFB5-2918-4837-857D-7ADDC1DFA95D}"/>
              </a:ext>
            </a:extLst>
          </p:cNvPr>
          <p:cNvSpPr>
            <a:spLocks noGrp="1"/>
          </p:cNvSpPr>
          <p:nvPr/>
        </p:nvSpPr>
        <p:spPr>
          <a:xfrm>
            <a:off x="2724150" y="347662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read back from the live AMS object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82BC9FE-65E5-42F9-B3EB-C58E866B16E1}"/>
              </a:ext>
            </a:extLst>
          </p:cNvPr>
          <p:cNvSpPr>
            <a:spLocks noGrp="1"/>
          </p:cNvSpPr>
          <p:nvPr/>
        </p:nvSpPr>
        <p:spPr>
          <a:xfrm>
            <a:off x="4648200" y="3152775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B9CC3AB-315D-42D2-AF42-7381D8D7A77F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Model effect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B523FF-F9E8-4D61-9BE1-5C7C429FF8E9}"/>
              </a:ext>
            </a:extLst>
          </p:cNvPr>
          <p:cNvSpPr>
            <a:spLocks noGrp="1"/>
          </p:cNvSpPr>
          <p:nvPr/>
        </p:nvSpPr>
        <p:spPr>
          <a:xfrm>
            <a:off x="4762500" y="347662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changed fields / objective / constraints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27BCC53-ADF0-49BF-A7B0-CF40F42E2CBB}"/>
              </a:ext>
            </a:extLst>
          </p:cNvPr>
          <p:cNvSpPr>
            <a:spLocks noGrp="1"/>
          </p:cNvSpPr>
          <p:nvPr/>
        </p:nvSpPr>
        <p:spPr>
          <a:xfrm>
            <a:off x="6686550" y="3152775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907A45-0F0B-4553-AFE8-1C2B5BED66E4}"/>
              </a:ext>
            </a:extLst>
          </p:cNvPr>
          <p:cNvSpPr>
            <a:spLocks noGrp="1"/>
          </p:cNvSpPr>
          <p:nvPr/>
        </p:nvSpPr>
        <p:spPr>
          <a:xfrm>
            <a:off x="6800850" y="32385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Outcome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1D2605-3BE5-4CD5-BE49-252828DD9767}"/>
              </a:ext>
            </a:extLst>
          </p:cNvPr>
          <p:cNvSpPr>
            <a:spLocks noGrp="1"/>
          </p:cNvSpPr>
          <p:nvPr/>
        </p:nvSpPr>
        <p:spPr>
          <a:xfrm>
            <a:off x="6800850" y="347662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solver status + feasibility checks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20A52E-8352-49C6-AB7D-7BBB54C0C9D4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781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E86B16"/>
                </a:solidFill>
              </a:defRPr>
            </a:defPPr>
            <a:lvl1pPr algn="l">
              <a:defRPr sz="1125" b="1">
                <a:solidFill>
                  <a:srgbClr val="E86B16"/>
                </a:solidFill>
              </a:defRPr>
            </a:lvl1pPr>
            <a:lvl2pPr algn="l">
              <a:defRPr sz="1125" b="1">
                <a:solidFill>
                  <a:srgbClr val="E86B16"/>
                </a:solidFill>
              </a:defRPr>
            </a:lvl2pPr>
            <a:lvl3pPr algn="l">
              <a:defRPr sz="1125" b="1">
                <a:solidFill>
                  <a:srgbClr val="E86B16"/>
                </a:solidFill>
              </a:defRPr>
            </a:lvl3pPr>
            <a:lvl4pPr algn="l">
              <a:defRPr sz="1125" b="1">
                <a:solidFill>
                  <a:srgbClr val="E86B16"/>
                </a:solidFill>
              </a:defRPr>
            </a:lvl4pPr>
            <a:lvl5pPr algn="l">
              <a:defRPr sz="1125" b="1">
                <a:solidFill>
                  <a:srgbClr val="E86B16"/>
                </a:solidFill>
              </a:defRPr>
            </a:lvl5pPr>
            <a:lvl6pPr algn="l">
              <a:defRPr sz="1125" b="1">
                <a:solidFill>
                  <a:srgbClr val="E86B16"/>
                </a:solidFill>
              </a:defRPr>
            </a:lvl6pPr>
            <a:lvl7pPr algn="l">
              <a:defRPr sz="1125" b="1">
                <a:solidFill>
                  <a:srgbClr val="E86B16"/>
                </a:solidFill>
              </a:defRPr>
            </a:lvl7pPr>
            <a:lvl8pPr algn="l">
              <a:defRPr sz="1125" b="1">
                <a:solidFill>
                  <a:srgbClr val="E86B16"/>
                </a:solidFill>
              </a:defRPr>
            </a:lvl8pPr>
            <a:lvl9pPr algn="l">
              <a:defRPr sz="1125" b="1">
                <a:solidFill>
                  <a:srgbClr val="E86B16"/>
                </a:solidFill>
              </a:defRPr>
            </a:lvl9pPr>
          </a:lstStyle>
          <a:p>
            <a:pPr algn="l">
              <a:defRPr sz="1125" b="1">
                <a:solidFill>
                  <a:srgbClr val="E86B16"/>
                </a:solidFill>
              </a:defRPr>
            </a:pPr>
            <a:r>
              <a:rPr sz="1125" b="1">
                <a:solidFill>
                  <a:srgbClr val="E86B16"/>
                </a:solidFill>
              </a:rPr>
              <a:t>Block and ask when target, units, bounds, or post-apply state do not match.</a:t>
            </a:r>
          </a:p>
        </p:txBody>
      </p:sp>
    </p:spTree>
    <p:extLst>
      <p:ext uri="{BB962C8B-B14F-4D97-AF65-F5344CB8AC3E}">
        <p14:creationId xmlns:p14="http://schemas.microsoft.com/office/powerpoint/2010/main" val="1414178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6E6A-85D4-D23B-453A-FB2F8B9A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04635-E747-4C66-45D3-B87F45D1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08660"/>
            <a:ext cx="8229600" cy="762693"/>
          </a:xfrm>
        </p:spPr>
        <p:txBody>
          <a:bodyPr>
            <a:normAutofit fontScale="40000" lnSpcReduction="20000"/>
          </a:bodyPr>
          <a:lstStyle/>
          <a:p>
            <a:pPr marL="76200" indent="0">
              <a:buNone/>
            </a:pPr>
            <a:r>
              <a:rPr dirty="0"/>
              <a:t>Terminal (CLI):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       Question 1: </a:t>
            </a:r>
            <a:r>
              <a:rPr dirty="0"/>
              <a:t>doubling a generator's cost weight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 --&gt; Question 2 Replace PV_1 with an IBR with available power 1 </a:t>
            </a:r>
            <a:r>
              <a:rPr lang="en-US" dirty="0" err="1"/>
              <a:t>pu</a:t>
            </a:r>
            <a:r>
              <a:rPr lang="en-US" dirty="0"/>
              <a:t>, dispatch cost 1 dollar per </a:t>
            </a:r>
            <a:r>
              <a:rPr lang="en-US" dirty="0" err="1"/>
              <a:t>pu</a:t>
            </a:r>
            <a:r>
              <a:rPr lang="en-US" dirty="0"/>
              <a:t>, curtailment penalty 20 dollars per </a:t>
            </a:r>
            <a:r>
              <a:rPr lang="en-US" dirty="0" err="1"/>
              <a:t>pu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418CD-8832-CE85-02B7-CCCC46DA5C4D}"/>
              </a:ext>
            </a:extLst>
          </p:cNvPr>
          <p:cNvSpPr/>
          <p:nvPr/>
        </p:nvSpPr>
        <p:spPr>
          <a:xfrm>
            <a:off x="4227022" y="2152996"/>
            <a:ext cx="689956" cy="418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9FB88-3B38-A9FE-8A6C-2C614996D85D}"/>
              </a:ext>
            </a:extLst>
          </p:cNvPr>
          <p:cNvSpPr/>
          <p:nvPr/>
        </p:nvSpPr>
        <p:spPr>
          <a:xfrm>
            <a:off x="5642957" y="2152995"/>
            <a:ext cx="1564178" cy="4187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Revised Problem Formulation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37C5B-4D80-EE5E-2FB7-345E9724B589}"/>
              </a:ext>
            </a:extLst>
          </p:cNvPr>
          <p:cNvSpPr/>
          <p:nvPr/>
        </p:nvSpPr>
        <p:spPr>
          <a:xfrm>
            <a:off x="7605738" y="2167959"/>
            <a:ext cx="1064265" cy="4187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AMS </a:t>
            </a:r>
            <a:r>
              <a:rPr lang="en-US" dirty="0">
                <a:highlight>
                  <a:srgbClr val="FFFF00"/>
                </a:highlight>
              </a:rPr>
              <a:t>(revised)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16A520-5641-F555-D85F-EF9FA255694D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4916978" y="2362373"/>
            <a:ext cx="72597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249065-2E51-C902-C840-1A07B7D46E3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7236722" y="2377337"/>
            <a:ext cx="36901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68953D-9573-E578-BFCC-5A1B2D0281A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244353" y="2362373"/>
            <a:ext cx="0" cy="96583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712D224-818B-7E55-47D6-AFD2E5C435D1}"/>
              </a:ext>
            </a:extLst>
          </p:cNvPr>
          <p:cNvSpPr/>
          <p:nvPr/>
        </p:nvSpPr>
        <p:spPr>
          <a:xfrm>
            <a:off x="4788742" y="3328209"/>
            <a:ext cx="911221" cy="418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Config</a:t>
            </a:r>
          </a:p>
          <a:p>
            <a:pPr algn="ctr"/>
            <a:r>
              <a:rPr lang="en-US" dirty="0"/>
              <a:t>file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8996C6A5-004F-DCA8-629C-27657709300B}"/>
              </a:ext>
            </a:extLst>
          </p:cNvPr>
          <p:cNvSpPr/>
          <p:nvPr/>
        </p:nvSpPr>
        <p:spPr>
          <a:xfrm>
            <a:off x="5743115" y="3023356"/>
            <a:ext cx="290945" cy="1028460"/>
          </a:xfrm>
          <a:prstGeom prst="leftBrace">
            <a:avLst>
              <a:gd name="adj1" fmla="val 76762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B14169-0529-DE49-8DE5-2B558556AFF7}"/>
              </a:ext>
            </a:extLst>
          </p:cNvPr>
          <p:cNvSpPr txBox="1"/>
          <p:nvPr/>
        </p:nvSpPr>
        <p:spPr>
          <a:xfrm>
            <a:off x="6063208" y="3020432"/>
            <a:ext cx="23839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optimization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Revise certain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E20F4-285C-11B7-F8F8-6DC192E30479}"/>
              </a:ext>
            </a:extLst>
          </p:cNvPr>
          <p:cNvSpPr txBox="1"/>
          <p:nvPr/>
        </p:nvSpPr>
        <p:spPr>
          <a:xfrm>
            <a:off x="491677" y="1681604"/>
            <a:ext cx="32446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formulation_controls.json</a:t>
            </a:r>
            <a:endParaRPr lang="en-US" dirty="0"/>
          </a:p>
          <a:p>
            <a:r>
              <a:rPr lang="en-US" dirty="0"/>
              <a:t>├── version</a:t>
            </a:r>
          </a:p>
          <a:p>
            <a:r>
              <a:rPr lang="en-US" dirty="0"/>
              <a:t>├── </a:t>
            </a:r>
            <a:r>
              <a:rPr lang="en-US" dirty="0" err="1"/>
              <a:t>constraint_labels</a:t>
            </a:r>
            <a:endParaRPr lang="en-US" dirty="0"/>
          </a:p>
          <a:p>
            <a:r>
              <a:rPr lang="en-US" dirty="0"/>
              <a:t>├── </a:t>
            </a:r>
            <a:r>
              <a:rPr lang="en-US" dirty="0" err="1"/>
              <a:t>ramping_constraints</a:t>
            </a:r>
            <a:endParaRPr lang="en-US" dirty="0"/>
          </a:p>
          <a:p>
            <a:r>
              <a:rPr lang="en-US" dirty="0"/>
              <a:t>├── controls</a:t>
            </a:r>
          </a:p>
          <a:p>
            <a:r>
              <a:rPr lang="en-US" dirty="0"/>
              <a:t>│   ├── id / label / description</a:t>
            </a:r>
          </a:p>
          <a:p>
            <a:r>
              <a:rPr lang="en-US" dirty="0"/>
              <a:t>│   ├── enabled                    </a:t>
            </a:r>
          </a:p>
          <a:p>
            <a:r>
              <a:rPr lang="en-US" dirty="0"/>
              <a:t>│   ├── routines</a:t>
            </a:r>
          </a:p>
          <a:p>
            <a:r>
              <a:rPr lang="en-US" dirty="0"/>
              <a:t>│   ├── </a:t>
            </a:r>
            <a:r>
              <a:rPr lang="en-US" dirty="0" err="1"/>
              <a:t>requires_constraints</a:t>
            </a:r>
            <a:endParaRPr lang="en-US" dirty="0"/>
          </a:p>
          <a:p>
            <a:r>
              <a:rPr lang="en-US" dirty="0"/>
              <a:t>│   ├── parameters</a:t>
            </a:r>
          </a:p>
          <a:p>
            <a:r>
              <a:rPr lang="en-US" dirty="0"/>
              <a:t>│   └── </a:t>
            </a:r>
            <a:r>
              <a:rPr lang="en-US" dirty="0" err="1"/>
              <a:t>prompt_examples</a:t>
            </a:r>
            <a:endParaRPr lang="en-US" dirty="0"/>
          </a:p>
          <a:p>
            <a:r>
              <a:rPr lang="en-US" dirty="0"/>
              <a:t>└── </a:t>
            </a:r>
            <a:r>
              <a:rPr lang="en-US" dirty="0" err="1"/>
              <a:t>unsupported_message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52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E9E7-3796-4DFE-A715-1652AF2C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Hank’s PV curve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2D239-EF96-400F-68D4-F7E8EA1DE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61" y="557466"/>
            <a:ext cx="7772400" cy="45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8B0C-66ED-AFC5-8B6D-18392386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E4BE-F93E-D63D-0599-FBB14B06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FFDA53-FBE2-3E85-B67A-DE158506B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08660"/>
            <a:ext cx="8229600" cy="330431"/>
          </a:xfrm>
        </p:spPr>
        <p:txBody>
          <a:bodyPr>
            <a:normAutofit fontScale="67500" lnSpcReduction="20000"/>
          </a:bodyPr>
          <a:lstStyle/>
          <a:p>
            <a:pPr marL="76200" indent="0">
              <a:buNone/>
            </a:pPr>
            <a:r>
              <a:rPr lang="en-US" dirty="0"/>
              <a:t>Web UI: the formulation the agent edits</a:t>
            </a:r>
            <a:endParaRPr dirty="0"/>
          </a:p>
        </p:txBody>
      </p:sp>
      <p:pic>
        <p:nvPicPr>
          <p:cNvPr id="5" name="Screen Recording 2026-09-28 at 9.40.56 AM">
            <a:hlinkClick r:id="" action="ppaction://media"/>
            <a:extLst>
              <a:ext uri="{FF2B5EF4-FFF2-40B4-BE49-F238E27FC236}">
                <a16:creationId xmlns:a16="http://schemas.microsoft.com/office/drawing/2014/main" id="{B191C330-5379-3589-D7C7-CB9FD083B4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52754" y="1008404"/>
            <a:ext cx="5832639" cy="378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3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18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2AE7-F17A-C218-247F-3F02B65B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E371-DD3E-277B-2EA3-B566C7C7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09A34C-BD28-47F8-AA24-962CE9F9B30F}"/>
              </a:ext>
            </a:extLst>
          </p:cNvPr>
          <p:cNvSpPr txBox="1">
            <a:spLocks/>
          </p:cNvSpPr>
          <p:nvPr/>
        </p:nvSpPr>
        <p:spPr>
          <a:xfrm>
            <a:off x="457200" y="485175"/>
            <a:ext cx="443899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7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800" dirty="0">
                <a:solidFill>
                  <a:schemeClr val="tx1"/>
                </a:solidFill>
              </a:rPr>
              <a:t>Workflow: the new formulate route</a:t>
            </a:r>
          </a:p>
        </p:txBody>
      </p:sp>
      <p:pic>
        <p:nvPicPr>
          <p:cNvPr id="7" name="Picture 6" descr="workflow.png">
            <a:extLst>
              <a:ext uri="{FF2B5EF4-FFF2-40B4-BE49-F238E27FC236}">
                <a16:creationId xmlns:a16="http://schemas.microsoft.com/office/drawing/2014/main" id="{20CAB329-C8BC-C128-CE6E-6D3E73C1C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914400"/>
            <a:ext cx="725424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88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F0DF7-6D25-4F9E-ABAB-0C73FC8B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9116-8E95-3192-67BE-C583A83A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How to verify or benchmark?</a:t>
            </a:r>
          </a:p>
        </p:txBody>
      </p:sp>
      <p:pic>
        <p:nvPicPr>
          <p:cNvPr id="3" name="Picture 2" descr="benchmark.png">
            <a:extLst>
              <a:ext uri="{FF2B5EF4-FFF2-40B4-BE49-F238E27FC236}">
                <a16:creationId xmlns:a16="http://schemas.microsoft.com/office/drawing/2014/main" id="{5AE73AEF-F9EA-3CBF-4F0A-FE2150822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" y="768096"/>
            <a:ext cx="6990080" cy="3931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0715F1-9134-5D1B-C652-071C8FFE7A71}"/>
              </a:ext>
            </a:extLst>
          </p:cNvPr>
          <p:cNvSpPr txBox="1"/>
          <p:nvPr/>
        </p:nvSpPr>
        <p:spPr>
          <a:xfrm>
            <a:off x="457200" y="690372"/>
            <a:ext cx="745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Benchmark: 9 / 9 checks pass on PJM 5-bus</a:t>
            </a:r>
          </a:p>
        </p:txBody>
      </p:sp>
    </p:spTree>
    <p:extLst>
      <p:ext uri="{BB962C8B-B14F-4D97-AF65-F5344CB8AC3E}">
        <p14:creationId xmlns:p14="http://schemas.microsoft.com/office/powerpoint/2010/main" val="366286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219A-E47E-84E8-E5A4-95DC4B42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22E7-2D13-03DF-4909-19321442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How to verify or benchmark?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5C0573-6CF9-6E46-11F4-3C7F7786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00100"/>
            <a:ext cx="8229600" cy="3829050"/>
          </a:xfrm>
        </p:spPr>
        <p:txBody>
          <a:bodyPr>
            <a:normAutofit/>
          </a:bodyPr>
          <a:lstStyle/>
          <a:p>
            <a:pPr lvl="0"/>
            <a:r>
              <a:rPr lang="en-US" sz="2000" b="1" dirty="0"/>
              <a:t>Layered verification:</a:t>
            </a:r>
            <a:r>
              <a:rPr lang="en-US" sz="2000" dirty="0"/>
              <a:t> Check user intent, formulation, implementation, and solution feasibility/optimality—not just solver success.</a:t>
            </a:r>
          </a:p>
          <a:p>
            <a:pPr lvl="0"/>
            <a:r>
              <a:rPr lang="en-US" sz="2000" b="1" dirty="0"/>
              <a:t>New benchmarks:</a:t>
            </a:r>
            <a:r>
              <a:rPr lang="en-US" sz="2000" dirty="0"/>
              <a:t> Combine expert-reviewed components, hand-solvable cases, and mathematical property tests (e.g., relaxing constraints cannot worsen the optimum).</a:t>
            </a:r>
          </a:p>
          <a:p>
            <a:pPr lvl="0"/>
            <a:r>
              <a:rPr lang="en-US" sz="2000" b="1" dirty="0"/>
              <a:t>Verifier evaluation:</a:t>
            </a:r>
            <a:r>
              <a:rPr lang="en-US" sz="2000" dirty="0"/>
              <a:t> Inject missing constraints, sign errors, and incorrect device mappings; supplement with cross-tool comparisons and expert review.</a:t>
            </a:r>
          </a:p>
        </p:txBody>
      </p:sp>
    </p:spTree>
    <p:extLst>
      <p:ext uri="{BB962C8B-B14F-4D97-AF65-F5344CB8AC3E}">
        <p14:creationId xmlns:p14="http://schemas.microsoft.com/office/powerpoint/2010/main" val="48201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D378-0D0D-EA54-3898-16841ABC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Comparison with peer works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2232CB-2654-D3B3-8699-A7060161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78" y="2726462"/>
            <a:ext cx="7772400" cy="20369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AC5ADE-80C5-238C-00DF-209D74ED4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78" y="1033575"/>
            <a:ext cx="6361981" cy="16928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1B5516-5B1C-205A-1629-05731C6DC2C6}"/>
              </a:ext>
            </a:extLst>
          </p:cNvPr>
          <p:cNvSpPr txBox="1"/>
          <p:nvPr/>
        </p:nvSpPr>
        <p:spPr>
          <a:xfrm>
            <a:off x="457200" y="677224"/>
            <a:ext cx="3105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b="1" i="0" dirty="0" err="1">
                <a:solidFill>
                  <a:srgbClr val="000000"/>
                </a:solidFill>
                <a:effectLst/>
                <a:latin typeface="Arial"/>
              </a:rPr>
              <a:t>PowerAgent</a:t>
            </a:r>
            <a:r>
              <a:rPr lang="en-US" b="1" i="0" dirty="0">
                <a:solidFill>
                  <a:srgbClr val="000000"/>
                </a:solidFill>
                <a:effectLst/>
                <a:latin typeface="Arial"/>
              </a:rPr>
              <a:t> – Harvard Dr. </a:t>
            </a:r>
            <a:r>
              <a:rPr lang="en-US" b="1" dirty="0"/>
              <a:t>Le Xie</a:t>
            </a:r>
            <a:endParaRPr lang="en-US" b="1" i="0" dirty="0">
              <a:solidFill>
                <a:srgbClr val="F8FAFC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29910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20F05-EA20-7820-AE7A-3B9A8395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4115-5EA6-DE00-FDE0-CE1AA526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Comparison with peer 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B1167-D29C-0C58-5FAA-392142C95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78576"/>
            <a:ext cx="7772400" cy="3786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4C46E3-02CE-4AE1-3759-6AB22C388EEF}"/>
              </a:ext>
            </a:extLst>
          </p:cNvPr>
          <p:cNvSpPr txBox="1"/>
          <p:nvPr/>
        </p:nvSpPr>
        <p:spPr>
          <a:xfrm>
            <a:off x="1518248" y="4464924"/>
            <a:ext cx="6668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7900"/>
                </a:solidFill>
              </a:rPr>
              <a:t>PowerAgent</a:t>
            </a:r>
            <a:r>
              <a:rPr lang="en-US" b="1" dirty="0">
                <a:solidFill>
                  <a:srgbClr val="007900"/>
                </a:solidFill>
              </a:rPr>
              <a:t> emphasizes broad software-level integration, while LLM_AMS targets deeper interaction with optimization formulations.</a:t>
            </a:r>
            <a:endParaRPr lang="en-US" dirty="0">
              <a:solidFill>
                <a:srgbClr val="007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298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Acknowledgements</a:t>
            </a:r>
            <a:endParaRPr dirty="0"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505" y="4281320"/>
            <a:ext cx="624178" cy="62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0091" y="4288942"/>
            <a:ext cx="621179" cy="62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0283" y="2962015"/>
            <a:ext cx="2431375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9506" y="2408676"/>
            <a:ext cx="2522494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89196" y="2358685"/>
            <a:ext cx="598856" cy="48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8997" y="3614946"/>
            <a:ext cx="2834755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17790" y="2395058"/>
            <a:ext cx="1923300" cy="55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17991" y="3013385"/>
            <a:ext cx="2627679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17499" y="3552521"/>
            <a:ext cx="1155152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98330" y="2923721"/>
            <a:ext cx="2102351" cy="6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86880" y="2405526"/>
            <a:ext cx="1923294" cy="4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14">
            <a:alphaModFix/>
          </a:blip>
          <a:srcRect r="53862"/>
          <a:stretch>
            <a:fillRect/>
          </a:stretch>
        </p:blipFill>
        <p:spPr>
          <a:xfrm>
            <a:off x="3836375" y="1406955"/>
            <a:ext cx="1843065" cy="6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81266" y="784756"/>
            <a:ext cx="2130764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62494" y="733057"/>
            <a:ext cx="2419206" cy="59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778959" y="1500561"/>
            <a:ext cx="1941824" cy="482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80C24843-2C7B-DF07-37E0-96C3427D4E0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0814" y="1500561"/>
            <a:ext cx="2130764" cy="423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4FFC40-DBBC-2202-0402-473FCD72DAE4}"/>
              </a:ext>
            </a:extLst>
          </p:cNvPr>
          <p:cNvSpPr txBox="1"/>
          <p:nvPr/>
        </p:nvSpPr>
        <p:spPr>
          <a:xfrm>
            <a:off x="457200" y="640146"/>
            <a:ext cx="1208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Contributors: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57C4D-581A-B145-94DD-2D155324A995}"/>
              </a:ext>
            </a:extLst>
          </p:cNvPr>
          <p:cNvSpPr txBox="1"/>
          <p:nvPr/>
        </p:nvSpPr>
        <p:spPr>
          <a:xfrm>
            <a:off x="355600" y="4170047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Acknowledgements: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C6C33-9838-6CBA-DF4A-782530EA6DC3}"/>
              </a:ext>
            </a:extLst>
          </p:cNvPr>
          <p:cNvSpPr txBox="1"/>
          <p:nvPr/>
        </p:nvSpPr>
        <p:spPr>
          <a:xfrm>
            <a:off x="457200" y="2021973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Users: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ENT PPT Template_v2">
  <a:themeElements>
    <a:clrScheme name="CURENT">
      <a:dk1>
        <a:srgbClr val="4C4C4C"/>
      </a:dk1>
      <a:lt1>
        <a:srgbClr val="FFFFFF"/>
      </a:lt1>
      <a:dk2>
        <a:srgbClr val="4C4C4C"/>
      </a:dk2>
      <a:lt2>
        <a:srgbClr val="FFFFFF"/>
      </a:lt2>
      <a:accent1>
        <a:srgbClr val="007900"/>
      </a:accent1>
      <a:accent2>
        <a:srgbClr val="F77F00"/>
      </a:accent2>
      <a:accent3>
        <a:srgbClr val="7992B1"/>
      </a:accent3>
      <a:accent4>
        <a:srgbClr val="999999"/>
      </a:accent4>
      <a:accent5>
        <a:srgbClr val="9FFF9F"/>
      </a:accent5>
      <a:accent6>
        <a:srgbClr val="FFC789"/>
      </a:accent6>
      <a:hlink>
        <a:srgbClr val="F77F00"/>
      </a:hlink>
      <a:folHlink>
        <a:srgbClr val="FFC7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23893</TotalTime>
  <Words>867</Words>
  <Application>Microsoft Macintosh PowerPoint</Application>
  <PresentationFormat>On-screen Show (16:9)</PresentationFormat>
  <Paragraphs>172</Paragraphs>
  <Slides>14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Inter</vt:lpstr>
      <vt:lpstr>Century Gothic</vt:lpstr>
      <vt:lpstr>Arial</vt:lpstr>
      <vt:lpstr>Courier New</vt:lpstr>
      <vt:lpstr>CURENT PPT Template_v2</vt:lpstr>
      <vt:lpstr>CURENT Large-scale Testbed (LTB)  Monthly Meeting</vt:lpstr>
      <vt:lpstr>1. Summary</vt:lpstr>
      <vt:lpstr>PowerPoint Presentation</vt:lpstr>
      <vt:lpstr>PowerPoint Presentation</vt:lpstr>
      <vt:lpstr>PowerPoint Presentation</vt:lpstr>
      <vt:lpstr>Revise the optimization problem formulation</vt:lpstr>
      <vt:lpstr>Hank’s PV curve interface</vt:lpstr>
      <vt:lpstr>Revise the optimization problem formulation</vt:lpstr>
      <vt:lpstr>Revise the optimization problem formulation</vt:lpstr>
      <vt:lpstr>How to verify or benchmark?</vt:lpstr>
      <vt:lpstr>How to verify or benchmark?</vt:lpstr>
      <vt:lpstr>Comparison with peer works</vt:lpstr>
      <vt:lpstr>Comparison with peer works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Yin, Junjie</cp:lastModifiedBy>
  <cp:revision>18</cp:revision>
  <dcterms:modified xsi:type="dcterms:W3CDTF">2026-10-26T13:55:52Z</dcterms:modified>
</cp:coreProperties>
</file>