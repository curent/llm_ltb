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d52f3036e46fb" /><Relationship Type="http://schemas.openxmlformats.org/officeDocument/2006/relationships/extended-properties" Target="/docProps/app.xml" Id="Rf1e5ee0491e6499d" /><Relationship Type="http://schemas.openxmlformats.org/officeDocument/2006/relationships/officeDocument" Target="/ppt/presentation.xml" Id="R5092f2b8917c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7a666965e64644"/>
  </p:sldMasterIdLst>
  <p:notesMasterIdLst>
    <p:notesMasterId xmlns:r="http://schemas.openxmlformats.org/officeDocument/2006/relationships" r:id="R67f3417d2f3d4293"/>
  </p:notesMasterIdLst>
  <p:sldIdLst>
    <p:sldId xmlns:r="http://schemas.openxmlformats.org/officeDocument/2006/relationships" id="256" r:id="R1b36404d021c41b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353cbae50d4762" /><Relationship Type="http://schemas.openxmlformats.org/officeDocument/2006/relationships/slideMaster" Target="/ppt/slideMasters/slideMaster1.xml" Id="R357a666965e64644" /><Relationship Type="http://schemas.openxmlformats.org/officeDocument/2006/relationships/notesMaster" Target="/ppt/notesMasters/notesMaster1.xml" Id="R67f3417d2f3d4293" /><Relationship Type="http://schemas.openxmlformats.org/officeDocument/2006/relationships/presProps" Target="/ppt/presProps.xml" Id="Rc6f05f9971cd4666" /><Relationship Type="http://schemas.openxmlformats.org/officeDocument/2006/relationships/tableStyles" Target="/ppt/tableStyles.xml" Id="R32a4fd4985004c26" /><Relationship Type="http://schemas.openxmlformats.org/officeDocument/2006/relationships/slide" Target="/ppt/slides/slide1.xml" Id="R1b36404d021c41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3778612c3d4c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73cf653eee445f" /><Relationship Type="http://schemas.openxmlformats.org/officeDocument/2006/relationships/notesMaster" Target="/ppt/notesMasters/notesMaster1.xml" Id="R26a91434c9f74f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e4d8c0f614a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f9dd12e9a43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e0c7a41a444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31a6676d24a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0b63731954c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1a8a59c7546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830DCC-B17C-4FBA-B41B-D5B053745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09F97D-028E-4973-9DA8-AA4A1016A6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F50147-A188-4A0F-B672-E710239926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49308F-1EF1-4148-BB33-08B2FA179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9AC87B-4E17-452E-B518-1B5701660D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29BAB2-8BDF-450C-93F9-84864BDF6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F5EE70-B0F2-448E-9F4B-F69652FA4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50C4B8-FD49-48F5-A422-058D6A0362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F5F330-A7CE-484F-BF7E-6B24B25BB7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5D62A4-E2E2-43B6-A64A-DA176A4900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3b90221cb343b4" /><Relationship Type="http://schemas.openxmlformats.org/officeDocument/2006/relationships/slideLayout" Target="/ppt/slideLayouts/slideLayout1.xml" Id="R88a9c777b73c49a4" /><Relationship Type="http://schemas.openxmlformats.org/officeDocument/2006/relationships/slideLayout" Target="/ppt/slideLayouts/slideLayout2.xml" Id="R6f8b60ba90d7460e" /><Relationship Type="http://schemas.openxmlformats.org/officeDocument/2006/relationships/slideLayout" Target="/ppt/slideLayouts/slideLayout3.xml" Id="Rea251e87814a422d" /><Relationship Type="http://schemas.openxmlformats.org/officeDocument/2006/relationships/slideLayout" Target="/ppt/slideLayouts/slideLayout4.xml" Id="R0d41940004704509" /><Relationship Type="http://schemas.openxmlformats.org/officeDocument/2006/relationships/slideLayout" Target="/ppt/slideLayouts/slideLayout5.xml" Id="R558a99c9ea654d2c" /><Relationship Type="http://schemas.openxmlformats.org/officeDocument/2006/relationships/slideLayout" Target="/ppt/slideLayouts/slideLayout6.xml" Id="Rdce741bd527048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a9c777b73c49a4"/>
    <p:sldLayoutId xmlns:r="http://schemas.openxmlformats.org/officeDocument/2006/relationships" id="2147483650" r:id="R6f8b60ba90d7460e"/>
    <p:sldLayoutId xmlns:r="http://schemas.openxmlformats.org/officeDocument/2006/relationships" id="2147483651" r:id="Rea251e87814a422d"/>
    <p:sldLayoutId xmlns:r="http://schemas.openxmlformats.org/officeDocument/2006/relationships" id="2147483652" r:id="R0d41940004704509"/>
    <p:sldLayoutId xmlns:r="http://schemas.openxmlformats.org/officeDocument/2006/relationships" id="2147483653" r:id="R558a99c9ea654d2c"/>
    <p:sldLayoutId xmlns:r="http://schemas.openxmlformats.org/officeDocument/2006/relationships" id="2147483654" r:id="Rdce741bd527048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1ccb8fafd41c2" /><Relationship Type="http://schemas.openxmlformats.org/officeDocument/2006/relationships/notesSlide" Target="/ppt/notesSlides/notesSlide1.xml" Id="Re81c2f23ae5f47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49307D-1CA4-4AFA-A101-A8C7F634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8000"/>
                </a:solidFill>
              </a:defRPr>
            </a:defPPr>
            <a:lvl1pPr algn="l">
              <a:defRPr sz="2550" b="1">
                <a:solidFill>
                  <a:srgbClr val="008000"/>
                </a:solidFill>
              </a:defRPr>
            </a:lvl1pPr>
            <a:lvl2pPr algn="l">
              <a:defRPr sz="2550" b="1">
                <a:solidFill>
                  <a:srgbClr val="008000"/>
                </a:solidFill>
              </a:defRPr>
            </a:lvl2pPr>
            <a:lvl3pPr algn="l">
              <a:defRPr sz="2550" b="1">
                <a:solidFill>
                  <a:srgbClr val="008000"/>
                </a:solidFill>
              </a:defRPr>
            </a:lvl3pPr>
            <a:lvl4pPr algn="l">
              <a:defRPr sz="2550" b="1">
                <a:solidFill>
                  <a:srgbClr val="008000"/>
                </a:solidFill>
              </a:defRPr>
            </a:lvl4pPr>
            <a:lvl5pPr algn="l">
              <a:defRPr sz="2550" b="1">
                <a:solidFill>
                  <a:srgbClr val="008000"/>
                </a:solidFill>
              </a:defRPr>
            </a:lvl5pPr>
            <a:lvl6pPr algn="l">
              <a:defRPr sz="2550" b="1">
                <a:solidFill>
                  <a:srgbClr val="008000"/>
                </a:solidFill>
              </a:defRPr>
            </a:lvl6pPr>
            <a:lvl7pPr algn="l">
              <a:defRPr sz="2550" b="1">
                <a:solidFill>
                  <a:srgbClr val="008000"/>
                </a:solidFill>
              </a:defRPr>
            </a:lvl7pPr>
            <a:lvl8pPr algn="l">
              <a:defRPr sz="2550" b="1">
                <a:solidFill>
                  <a:srgbClr val="008000"/>
                </a:solidFill>
              </a:defRPr>
            </a:lvl8pPr>
            <a:lvl9pPr algn="l">
              <a:defRPr sz="25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8000"/>
                </a:solidFill>
              </a:defRPr>
            </a:pPr>
            <a:r>
              <a:rPr sz="2550" b="1">
                <a:solidFill>
                  <a:srgbClr val="008000"/>
                </a:solidFill>
              </a:rPr>
              <a:t>Revise parameter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5E206-70F0-45C8-B7F7-8761A20B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465CC-45B2-41AE-9B98-A8481A2C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76168"/>
                </a:solidFill>
              </a:defRPr>
            </a:defPPr>
            <a:lvl1pPr algn="l">
              <a:defRPr sz="1200" b="0">
                <a:solidFill>
                  <a:srgbClr val="576168"/>
                </a:solidFill>
              </a:defRPr>
            </a:lvl1pPr>
            <a:lvl2pPr algn="l">
              <a:defRPr sz="1200" b="0">
                <a:solidFill>
                  <a:srgbClr val="576168"/>
                </a:solidFill>
              </a:defRPr>
            </a:lvl2pPr>
            <a:lvl3pPr algn="l">
              <a:defRPr sz="1200" b="0">
                <a:solidFill>
                  <a:srgbClr val="576168"/>
                </a:solidFill>
              </a:defRPr>
            </a:lvl3pPr>
            <a:lvl4pPr algn="l">
              <a:defRPr sz="1200" b="0">
                <a:solidFill>
                  <a:srgbClr val="576168"/>
                </a:solidFill>
              </a:defRPr>
            </a:lvl4pPr>
            <a:lvl5pPr algn="l">
              <a:defRPr sz="1200" b="0">
                <a:solidFill>
                  <a:srgbClr val="576168"/>
                </a:solidFill>
              </a:defRPr>
            </a:lvl5pPr>
            <a:lvl6pPr algn="l">
              <a:defRPr sz="1200" b="0">
                <a:solidFill>
                  <a:srgbClr val="576168"/>
                </a:solidFill>
              </a:defRPr>
            </a:lvl6pPr>
            <a:lvl7pPr algn="l">
              <a:defRPr sz="1200" b="0">
                <a:solidFill>
                  <a:srgbClr val="576168"/>
                </a:solidFill>
              </a:defRPr>
            </a:lvl7pPr>
            <a:lvl8pPr algn="l">
              <a:defRPr sz="1200" b="0">
                <a:solidFill>
                  <a:srgbClr val="576168"/>
                </a:solidFill>
              </a:defRPr>
            </a:lvl8pPr>
            <a:lvl9pPr algn="l">
              <a:defRPr sz="1200" b="0">
                <a:solidFill>
                  <a:srgbClr val="57616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76168"/>
                </a:solidFill>
              </a:defRPr>
            </a:pPr>
            <a:r>
              <a:rPr sz="1200" b="0">
                <a:solidFill>
                  <a:srgbClr val="576168"/>
                </a:solidFill>
              </a:rPr>
              <a:t>Classify controls by their effect on data, constraints, and decision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C808-0DB3-4FEA-982B-BF16D639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8305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1"/>
          </a:solidFill>
          <a:ln xmlns:a="http://schemas.openxmlformats.org/drawingml/2006/main" w="9525">
            <a:solidFill>
              <a:srgbClr val="D2DB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8941D-BB52-4034-A800-8E7E15CD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57275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08000"/>
                </a:solidFill>
              </a:defRPr>
            </a:defPPr>
            <a:lvl1pPr algn="l">
              <a:defRPr sz="900" b="1">
                <a:solidFill>
                  <a:srgbClr val="008000"/>
                </a:solidFill>
              </a:defRPr>
            </a:lvl1pPr>
            <a:lvl2pPr algn="l">
              <a:defRPr sz="900" b="1">
                <a:solidFill>
                  <a:srgbClr val="008000"/>
                </a:solidFill>
              </a:defRPr>
            </a:lvl2pPr>
            <a:lvl3pPr algn="l">
              <a:defRPr sz="900" b="1">
                <a:solidFill>
                  <a:srgbClr val="008000"/>
                </a:solidFill>
              </a:defRPr>
            </a:lvl3pPr>
            <a:lvl4pPr algn="l">
              <a:defRPr sz="900" b="1">
                <a:solidFill>
                  <a:srgbClr val="008000"/>
                </a:solidFill>
              </a:defRPr>
            </a:lvl4pPr>
            <a:lvl5pPr algn="l">
              <a:defRPr sz="900" b="1">
                <a:solidFill>
                  <a:srgbClr val="008000"/>
                </a:solidFill>
              </a:defRPr>
            </a:lvl5pPr>
            <a:lvl6pPr algn="l">
              <a:defRPr sz="900" b="1">
                <a:solidFill>
                  <a:srgbClr val="008000"/>
                </a:solidFill>
              </a:defRPr>
            </a:lvl6pPr>
            <a:lvl7pPr algn="l">
              <a:defRPr sz="900" b="1">
                <a:solidFill>
                  <a:srgbClr val="008000"/>
                </a:solidFill>
              </a:defRPr>
            </a:lvl7pPr>
            <a:lvl8pPr algn="l">
              <a:defRPr sz="900" b="1">
                <a:solidFill>
                  <a:srgbClr val="008000"/>
                </a:solidFill>
              </a:defRPr>
            </a:lvl8pPr>
            <a:lvl9pPr algn="l">
              <a:defRPr sz="90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08000"/>
                </a:solidFill>
              </a:defRPr>
            </a:pPr>
            <a:r>
              <a:rPr sz="900" b="1">
                <a:solidFill>
                  <a:srgbClr val="008000"/>
                </a:solidFill>
              </a:rPr>
              <a:t>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C5E05-3E7E-41E9-964F-5168EA3C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057275"/>
            <a:ext cx="2447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08000"/>
                </a:solidFill>
              </a:defRPr>
            </a:defPPr>
            <a:lvl1pPr algn="l">
              <a:defRPr sz="900" b="1">
                <a:solidFill>
                  <a:srgbClr val="008000"/>
                </a:solidFill>
              </a:defRPr>
            </a:lvl1pPr>
            <a:lvl2pPr algn="l">
              <a:defRPr sz="900" b="1">
                <a:solidFill>
                  <a:srgbClr val="008000"/>
                </a:solidFill>
              </a:defRPr>
            </a:lvl2pPr>
            <a:lvl3pPr algn="l">
              <a:defRPr sz="900" b="1">
                <a:solidFill>
                  <a:srgbClr val="008000"/>
                </a:solidFill>
              </a:defRPr>
            </a:lvl3pPr>
            <a:lvl4pPr algn="l">
              <a:defRPr sz="900" b="1">
                <a:solidFill>
                  <a:srgbClr val="008000"/>
                </a:solidFill>
              </a:defRPr>
            </a:lvl4pPr>
            <a:lvl5pPr algn="l">
              <a:defRPr sz="900" b="1">
                <a:solidFill>
                  <a:srgbClr val="008000"/>
                </a:solidFill>
              </a:defRPr>
            </a:lvl5pPr>
            <a:lvl6pPr algn="l">
              <a:defRPr sz="900" b="1">
                <a:solidFill>
                  <a:srgbClr val="008000"/>
                </a:solidFill>
              </a:defRPr>
            </a:lvl6pPr>
            <a:lvl7pPr algn="l">
              <a:defRPr sz="900" b="1">
                <a:solidFill>
                  <a:srgbClr val="008000"/>
                </a:solidFill>
              </a:defRPr>
            </a:lvl7pPr>
            <a:lvl8pPr algn="l">
              <a:defRPr sz="900" b="1">
                <a:solidFill>
                  <a:srgbClr val="008000"/>
                </a:solidFill>
              </a:defRPr>
            </a:lvl8pPr>
            <a:lvl9pPr algn="l">
              <a:defRPr sz="90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08000"/>
                </a:solidFill>
              </a:defRPr>
            </a:pPr>
            <a:r>
              <a:rPr sz="900" b="1">
                <a:solidFill>
                  <a:srgbClr val="008000"/>
                </a:solidFill>
              </a:rPr>
              <a:t>CURRENT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A6AA6-C224-4515-B750-50B957E5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57275"/>
            <a:ext cx="393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08000"/>
                </a:solidFill>
              </a:defRPr>
            </a:defPPr>
            <a:lvl1pPr algn="l">
              <a:defRPr sz="900" b="1">
                <a:solidFill>
                  <a:srgbClr val="008000"/>
                </a:solidFill>
              </a:defRPr>
            </a:lvl1pPr>
            <a:lvl2pPr algn="l">
              <a:defRPr sz="900" b="1">
                <a:solidFill>
                  <a:srgbClr val="008000"/>
                </a:solidFill>
              </a:defRPr>
            </a:lvl2pPr>
            <a:lvl3pPr algn="l">
              <a:defRPr sz="900" b="1">
                <a:solidFill>
                  <a:srgbClr val="008000"/>
                </a:solidFill>
              </a:defRPr>
            </a:lvl3pPr>
            <a:lvl4pPr algn="l">
              <a:defRPr sz="900" b="1">
                <a:solidFill>
                  <a:srgbClr val="008000"/>
                </a:solidFill>
              </a:defRPr>
            </a:lvl4pPr>
            <a:lvl5pPr algn="l">
              <a:defRPr sz="900" b="1">
                <a:solidFill>
                  <a:srgbClr val="008000"/>
                </a:solidFill>
              </a:defRPr>
            </a:lvl5pPr>
            <a:lvl6pPr algn="l">
              <a:defRPr sz="900" b="1">
                <a:solidFill>
                  <a:srgbClr val="008000"/>
                </a:solidFill>
              </a:defRPr>
            </a:lvl6pPr>
            <a:lvl7pPr algn="l">
              <a:defRPr sz="900" b="1">
                <a:solidFill>
                  <a:srgbClr val="008000"/>
                </a:solidFill>
              </a:defRPr>
            </a:lvl7pPr>
            <a:lvl8pPr algn="l">
              <a:defRPr sz="900" b="1">
                <a:solidFill>
                  <a:srgbClr val="008000"/>
                </a:solidFill>
              </a:defRPr>
            </a:lvl8pPr>
            <a:lvl9pPr algn="l">
              <a:defRPr sz="90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08000"/>
                </a:solidFill>
              </a:defRPr>
            </a:pPr>
            <a:r>
              <a:rPr sz="900" b="1">
                <a:solidFill>
                  <a:srgbClr val="008000"/>
                </a:solidFill>
              </a:rPr>
              <a:t>EFFECT ON THE OPTIMIZATION MODEL</a:t>
            </a:r>
          </a:p>
        </p:txBody>
      </p:sp>
      <p:sp>
        <p:nvSpPr>
          <p:cNvPr id="8" name="Row 1">
            <a:extLst xmlns:a="http://schemas.openxmlformats.org/drawingml/2006/main">
              <a:ext uri="{FF2B5EF4-FFF2-40B4-BE49-F238E27FC236}">
                <a16:creationId xmlns:a16="http://schemas.microsoft.com/office/drawing/2014/main" id="{FD5059EF-36A1-467B-929F-613D149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04925"/>
            <a:ext cx="8305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2E01B-5BF9-482E-9037-B6235077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04925"/>
            <a:ext cx="1581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C4730-9290-4ACE-AEC3-765BE03D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049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2CE65-94D7-4686-B99B-907EEF4C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049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3D995-5986-4B13-A214-177A17D5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43025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Input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DE99E-404E-470C-9FEF-B67AFA66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567986"/>
                </a:solidFill>
              </a:defRPr>
            </a:defPPr>
            <a:lvl1pPr algn="l">
              <a:defRPr sz="788" b="1">
                <a:solidFill>
                  <a:srgbClr val="567986"/>
                </a:solidFill>
              </a:defRPr>
            </a:lvl1pPr>
            <a:lvl2pPr algn="l">
              <a:defRPr sz="788" b="1">
                <a:solidFill>
                  <a:srgbClr val="567986"/>
                </a:solidFill>
              </a:defRPr>
            </a:lvl2pPr>
            <a:lvl3pPr algn="l">
              <a:defRPr sz="788" b="1">
                <a:solidFill>
                  <a:srgbClr val="567986"/>
                </a:solidFill>
              </a:defRPr>
            </a:lvl3pPr>
            <a:lvl4pPr algn="l">
              <a:defRPr sz="788" b="1">
                <a:solidFill>
                  <a:srgbClr val="567986"/>
                </a:solidFill>
              </a:defRPr>
            </a:lvl4pPr>
            <a:lvl5pPr algn="l">
              <a:defRPr sz="788" b="1">
                <a:solidFill>
                  <a:srgbClr val="567986"/>
                </a:solidFill>
              </a:defRPr>
            </a:lvl5pPr>
            <a:lvl6pPr algn="l">
              <a:defRPr sz="788" b="1">
                <a:solidFill>
                  <a:srgbClr val="567986"/>
                </a:solidFill>
              </a:defRPr>
            </a:lvl6pPr>
            <a:lvl7pPr algn="l">
              <a:defRPr sz="788" b="1">
                <a:solidFill>
                  <a:srgbClr val="567986"/>
                </a:solidFill>
              </a:defRPr>
            </a:lvl7pPr>
            <a:lvl8pPr algn="l">
              <a:defRPr sz="788" b="1">
                <a:solidFill>
                  <a:srgbClr val="567986"/>
                </a:solidFill>
              </a:defRPr>
            </a:lvl8pPr>
            <a:lvl9pPr algn="l">
              <a:defRPr sz="788" b="1">
                <a:solidFill>
                  <a:srgbClr val="567986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567986"/>
                </a:solidFill>
              </a:defRPr>
            </a:pPr>
            <a:r>
              <a:rPr sz="788" b="1">
                <a:solidFill>
                  <a:srgbClr val="567986"/>
                </a:solidFill>
              </a:rPr>
              <a:t>scenario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CEF6C-E829-4780-9035-15101337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333500"/>
            <a:ext cx="2447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scale_pq_load — PQ_1 +10%</a:t>
            </a:r>
          </a:p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set_line_rate — Line_1 rate_a = 0.9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EE719-0BBB-4DC4-8A4E-DF3F5503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333500"/>
            <a:ext cx="3933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Updates demand or line limits. Existing variables, objective terms, and constraint definitions remain; changed limits may still alter the feasible region.</a:t>
            </a:r>
          </a:p>
        </p:txBody>
      </p:sp>
      <p:sp>
        <p:nvSpPr>
          <p:cNvPr id="16" name="Row 2">
            <a:extLst xmlns:a="http://schemas.openxmlformats.org/drawingml/2006/main">
              <a:ext uri="{FF2B5EF4-FFF2-40B4-BE49-F238E27FC236}">
                <a16:creationId xmlns:a16="http://schemas.microsoft.com/office/drawing/2014/main" id="{E7E7636C-D1C1-4AA6-A4CF-6F7B09CA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8305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A3467-4219-4BE8-9385-3AE1B9B0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81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9A8FF-C92E-4D77-9BE1-8F645475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FD090-4F7B-4DA7-BC97-4B1F5B9B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478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24DAD-5094-4183-B913-363300F5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85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Device / topology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A045B-A8AA-40FB-A2E2-422DEEC8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717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567986"/>
                </a:solidFill>
              </a:defRPr>
            </a:defPPr>
            <a:lvl1pPr algn="l">
              <a:defRPr sz="788" b="1">
                <a:solidFill>
                  <a:srgbClr val="567986"/>
                </a:solidFill>
              </a:defRPr>
            </a:lvl1pPr>
            <a:lvl2pPr algn="l">
              <a:defRPr sz="788" b="1">
                <a:solidFill>
                  <a:srgbClr val="567986"/>
                </a:solidFill>
              </a:defRPr>
            </a:lvl2pPr>
            <a:lvl3pPr algn="l">
              <a:defRPr sz="788" b="1">
                <a:solidFill>
                  <a:srgbClr val="567986"/>
                </a:solidFill>
              </a:defRPr>
            </a:lvl3pPr>
            <a:lvl4pPr algn="l">
              <a:defRPr sz="788" b="1">
                <a:solidFill>
                  <a:srgbClr val="567986"/>
                </a:solidFill>
              </a:defRPr>
            </a:lvl4pPr>
            <a:lvl5pPr algn="l">
              <a:defRPr sz="788" b="1">
                <a:solidFill>
                  <a:srgbClr val="567986"/>
                </a:solidFill>
              </a:defRPr>
            </a:lvl5pPr>
            <a:lvl6pPr algn="l">
              <a:defRPr sz="788" b="1">
                <a:solidFill>
                  <a:srgbClr val="567986"/>
                </a:solidFill>
              </a:defRPr>
            </a:lvl6pPr>
            <a:lvl7pPr algn="l">
              <a:defRPr sz="788" b="1">
                <a:solidFill>
                  <a:srgbClr val="567986"/>
                </a:solidFill>
              </a:defRPr>
            </a:lvl7pPr>
            <a:lvl8pPr algn="l">
              <a:defRPr sz="788" b="1">
                <a:solidFill>
                  <a:srgbClr val="567986"/>
                </a:solidFill>
              </a:defRPr>
            </a:lvl8pPr>
            <a:lvl9pPr algn="l">
              <a:defRPr sz="788" b="1">
                <a:solidFill>
                  <a:srgbClr val="567986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567986"/>
                </a:solidFill>
              </a:defRPr>
            </a:pPr>
            <a:r>
              <a:rPr sz="788" b="1">
                <a:solidFill>
                  <a:srgbClr val="567986"/>
                </a:solidFill>
              </a:rPr>
              <a:t>scenario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A2893-1778-4451-AB65-F61CB581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876425"/>
            <a:ext cx="2447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set_line_status — open Line_1</a:t>
            </a:r>
          </a:p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set_generator_status — disable unit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1A63B-624E-4AEF-A5B6-22E33009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76425"/>
            <a:ext cx="3933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Changes device availability, network state, and solve inputs. Results can shift without adding a decision-variable class.</a:t>
            </a:r>
          </a:p>
        </p:txBody>
      </p:sp>
      <p:sp>
        <p:nvSpPr>
          <p:cNvPr id="24" name="Row 3">
            <a:extLst xmlns:a="http://schemas.openxmlformats.org/drawingml/2006/main">
              <a:ext uri="{FF2B5EF4-FFF2-40B4-BE49-F238E27FC236}">
                <a16:creationId xmlns:a16="http://schemas.microsoft.com/office/drawing/2014/main" id="{3FD03965-E47C-4339-BCAB-5BABA010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52675"/>
            <a:ext cx="830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85819-23C1-4D9D-8262-F8D9D6DF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52675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41484-1050-4ED9-9F46-56C7886C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9183AC-B005-4161-961A-2518B7A6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526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80C1B-B494-4636-9C30-AD33229C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90775"/>
            <a:ext cx="1409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Routine settings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A43F4-FF2D-496D-842C-0E72A25F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4795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567986"/>
                </a:solidFill>
              </a:defRPr>
            </a:defPPr>
            <a:lvl1pPr algn="l">
              <a:defRPr sz="788" b="1">
                <a:solidFill>
                  <a:srgbClr val="567986"/>
                </a:solidFill>
              </a:defRPr>
            </a:lvl1pPr>
            <a:lvl2pPr algn="l">
              <a:defRPr sz="788" b="1">
                <a:solidFill>
                  <a:srgbClr val="567986"/>
                </a:solidFill>
              </a:defRPr>
            </a:lvl2pPr>
            <a:lvl3pPr algn="l">
              <a:defRPr sz="788" b="1">
                <a:solidFill>
                  <a:srgbClr val="567986"/>
                </a:solidFill>
              </a:defRPr>
            </a:lvl3pPr>
            <a:lvl4pPr algn="l">
              <a:defRPr sz="788" b="1">
                <a:solidFill>
                  <a:srgbClr val="567986"/>
                </a:solidFill>
              </a:defRPr>
            </a:lvl4pPr>
            <a:lvl5pPr algn="l">
              <a:defRPr sz="788" b="1">
                <a:solidFill>
                  <a:srgbClr val="567986"/>
                </a:solidFill>
              </a:defRPr>
            </a:lvl5pPr>
            <a:lvl6pPr algn="l">
              <a:defRPr sz="788" b="1">
                <a:solidFill>
                  <a:srgbClr val="567986"/>
                </a:solidFill>
              </a:defRPr>
            </a:lvl6pPr>
            <a:lvl7pPr algn="l">
              <a:defRPr sz="788" b="1">
                <a:solidFill>
                  <a:srgbClr val="567986"/>
                </a:solidFill>
              </a:defRPr>
            </a:lvl7pPr>
            <a:lvl8pPr algn="l">
              <a:defRPr sz="788" b="1">
                <a:solidFill>
                  <a:srgbClr val="567986"/>
                </a:solidFill>
              </a:defRPr>
            </a:lvl8pPr>
            <a:lvl9pPr algn="l">
              <a:defRPr sz="788" b="1">
                <a:solidFill>
                  <a:srgbClr val="567986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567986"/>
                </a:solidFill>
              </a:defRPr>
            </a:pPr>
            <a:r>
              <a:rPr sz="788" b="1">
                <a:solidFill>
                  <a:srgbClr val="567986"/>
                </a:solidFill>
              </a:rPr>
              <a:t>scenario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E73AF1-D5FA-44A8-8526-3AC5488E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3812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set_config_t — ED interval = 0.5 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41576-19B7-4EFD-9606-82B35997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3933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Changes the active routine’s time setting and rebuilds its model; adds no custom objective term or constraint.</a:t>
            </a:r>
          </a:p>
        </p:txBody>
      </p:sp>
      <p:sp>
        <p:nvSpPr>
          <p:cNvPr id="32" name="Row 4">
            <a:extLst xmlns:a="http://schemas.openxmlformats.org/drawingml/2006/main">
              <a:ext uri="{FF2B5EF4-FFF2-40B4-BE49-F238E27FC236}">
                <a16:creationId xmlns:a16="http://schemas.microsoft.com/office/drawing/2014/main" id="{4AD5E4C1-59BF-4DF3-841A-111075D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28925"/>
            <a:ext cx="8305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6E8CC-DCF4-42AE-9B6D-05AA3BF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28925"/>
            <a:ext cx="1581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CEAF14-5E6F-4CE0-B7F4-283EDE9F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B3E55E-09E8-4CA2-84DD-A98612BF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2892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F440F8-F0BF-4FA0-B15F-D3546D09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8670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Existing constraint toggles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C78760-E928-4A69-9D52-306AF733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71825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B85B1C"/>
                </a:solidFill>
              </a:defRPr>
            </a:defPPr>
            <a:lvl1pPr algn="l">
              <a:defRPr sz="788" b="1">
                <a:solidFill>
                  <a:srgbClr val="B85B1C"/>
                </a:solidFill>
              </a:defRPr>
            </a:lvl1pPr>
            <a:lvl2pPr algn="l">
              <a:defRPr sz="788" b="1">
                <a:solidFill>
                  <a:srgbClr val="B85B1C"/>
                </a:solidFill>
              </a:defRPr>
            </a:lvl2pPr>
            <a:lvl3pPr algn="l">
              <a:defRPr sz="788" b="1">
                <a:solidFill>
                  <a:srgbClr val="B85B1C"/>
                </a:solidFill>
              </a:defRPr>
            </a:lvl3pPr>
            <a:lvl4pPr algn="l">
              <a:defRPr sz="788" b="1">
                <a:solidFill>
                  <a:srgbClr val="B85B1C"/>
                </a:solidFill>
              </a:defRPr>
            </a:lvl4pPr>
            <a:lvl5pPr algn="l">
              <a:defRPr sz="788" b="1">
                <a:solidFill>
                  <a:srgbClr val="B85B1C"/>
                </a:solidFill>
              </a:defRPr>
            </a:lvl5pPr>
            <a:lvl6pPr algn="l">
              <a:defRPr sz="788" b="1">
                <a:solidFill>
                  <a:srgbClr val="B85B1C"/>
                </a:solidFill>
              </a:defRPr>
            </a:lvl6pPr>
            <a:lvl7pPr algn="l">
              <a:defRPr sz="788" b="1">
                <a:solidFill>
                  <a:srgbClr val="B85B1C"/>
                </a:solidFill>
              </a:defRPr>
            </a:lvl7pPr>
            <a:lvl8pPr algn="l">
              <a:defRPr sz="788" b="1">
                <a:solidFill>
                  <a:srgbClr val="B85B1C"/>
                </a:solidFill>
              </a:defRPr>
            </a:lvl8pPr>
            <a:lvl9pPr algn="l">
              <a:defRPr sz="788" b="1">
                <a:solidFill>
                  <a:srgbClr val="B85B1C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B85B1C"/>
                </a:solidFill>
              </a:defRPr>
            </a:pPr>
            <a:r>
              <a:rPr sz="788" b="1">
                <a:solidFill>
                  <a:srgbClr val="B85B1C"/>
                </a:solidFill>
              </a:rPr>
              <a:t>formulation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7E25DC-33B7-4F1C-ADCE-82E210B7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57500"/>
            <a:ext cx="2447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set_constraint_status — disable plfub</a:t>
            </a:r>
          </a:p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set_ramping_status — disable ED ramping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EB77E4-9E57-4A80-BFF5-597E2634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3933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Changes which existing constraints participate in the solve. This is a formulation change; no new constraint is defined.</a:t>
            </a:r>
          </a:p>
        </p:txBody>
      </p:sp>
      <p:sp>
        <p:nvSpPr>
          <p:cNvPr id="40" name="Row 5">
            <a:extLst xmlns:a="http://schemas.openxmlformats.org/drawingml/2006/main">
              <a:ext uri="{FF2B5EF4-FFF2-40B4-BE49-F238E27FC236}">
                <a16:creationId xmlns:a16="http://schemas.microsoft.com/office/drawing/2014/main" id="{AF8E80B5-C280-41E9-A44C-F77BCFB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830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A45AB2-0BD0-4CE1-BE1A-46265916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F24E29-757F-4990-993E-EF761C00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F1D7CD-A7A7-4391-B2EC-55CFDBD4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9D1C04-FB15-4F03-A108-E2E3EFA5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9090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Add objective / constraint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151CC3-538E-401C-8441-FAB27D19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86175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B85B1C"/>
                </a:solidFill>
              </a:defRPr>
            </a:defPPr>
            <a:lvl1pPr algn="l">
              <a:defRPr sz="788" b="1">
                <a:solidFill>
                  <a:srgbClr val="B85B1C"/>
                </a:solidFill>
              </a:defRPr>
            </a:lvl1pPr>
            <a:lvl2pPr algn="l">
              <a:defRPr sz="788" b="1">
                <a:solidFill>
                  <a:srgbClr val="B85B1C"/>
                </a:solidFill>
              </a:defRPr>
            </a:lvl2pPr>
            <a:lvl3pPr algn="l">
              <a:defRPr sz="788" b="1">
                <a:solidFill>
                  <a:srgbClr val="B85B1C"/>
                </a:solidFill>
              </a:defRPr>
            </a:lvl3pPr>
            <a:lvl4pPr algn="l">
              <a:defRPr sz="788" b="1">
                <a:solidFill>
                  <a:srgbClr val="B85B1C"/>
                </a:solidFill>
              </a:defRPr>
            </a:lvl4pPr>
            <a:lvl5pPr algn="l">
              <a:defRPr sz="788" b="1">
                <a:solidFill>
                  <a:srgbClr val="B85B1C"/>
                </a:solidFill>
              </a:defRPr>
            </a:lvl5pPr>
            <a:lvl6pPr algn="l">
              <a:defRPr sz="788" b="1">
                <a:solidFill>
                  <a:srgbClr val="B85B1C"/>
                </a:solidFill>
              </a:defRPr>
            </a:lvl6pPr>
            <a:lvl7pPr algn="l">
              <a:defRPr sz="788" b="1">
                <a:solidFill>
                  <a:srgbClr val="B85B1C"/>
                </a:solidFill>
              </a:defRPr>
            </a:lvl7pPr>
            <a:lvl8pPr algn="l">
              <a:defRPr sz="788" b="1">
                <a:solidFill>
                  <a:srgbClr val="B85B1C"/>
                </a:solidFill>
              </a:defRPr>
            </a:lvl8pPr>
            <a:lvl9pPr algn="l">
              <a:defRPr sz="788" b="1">
                <a:solidFill>
                  <a:srgbClr val="B85B1C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B85B1C"/>
                </a:solidFill>
              </a:defRPr>
            </a:pPr>
            <a:r>
              <a:rPr sz="788" b="1">
                <a:solidFill>
                  <a:srgbClr val="B85B1C"/>
                </a:solidFill>
              </a:rPr>
              <a:t>formulation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833304-7A9C-4DBF-B60F-B4214876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381375"/>
            <a:ext cx="2447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add_dispatch_cost</a:t>
            </a:r>
          </a:p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set_total_generation_cap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44DBD7-5D59-4C37-A51D-EDA1E1CD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81375"/>
            <a:ext cx="3933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First use adds an objective term or generation-cap constraint. Repeated use updates its coefficient or upper limit.</a:t>
            </a:r>
          </a:p>
        </p:txBody>
      </p:sp>
      <p:sp>
        <p:nvSpPr>
          <p:cNvPr id="48" name="Row 6">
            <a:extLst xmlns:a="http://schemas.openxmlformats.org/drawingml/2006/main">
              <a:ext uri="{FF2B5EF4-FFF2-40B4-BE49-F238E27FC236}">
                <a16:creationId xmlns:a16="http://schemas.microsoft.com/office/drawing/2014/main" id="{BBB1AAC5-1D2B-4987-AC93-C3CC5EDC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67150"/>
            <a:ext cx="83058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0DCEEC-2AB9-46CC-8681-69E25A70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67150"/>
            <a:ext cx="15811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9664E9-557F-4D97-B13A-DEBEEA22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95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88568A-1574-4205-9CE5-C29DB3C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67150"/>
            <a:ext cx="95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38EFF3-8225-46CC-8CEA-99F14C09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052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New variables + model rewrite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DD8020-150D-4D20-BC40-40F27614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B85B1C"/>
                </a:solidFill>
              </a:defRPr>
            </a:defPPr>
            <a:lvl1pPr algn="l">
              <a:defRPr sz="788" b="1">
                <a:solidFill>
                  <a:srgbClr val="B85B1C"/>
                </a:solidFill>
              </a:defRPr>
            </a:lvl1pPr>
            <a:lvl2pPr algn="l">
              <a:defRPr sz="788" b="1">
                <a:solidFill>
                  <a:srgbClr val="B85B1C"/>
                </a:solidFill>
              </a:defRPr>
            </a:lvl2pPr>
            <a:lvl3pPr algn="l">
              <a:defRPr sz="788" b="1">
                <a:solidFill>
                  <a:srgbClr val="B85B1C"/>
                </a:solidFill>
              </a:defRPr>
            </a:lvl3pPr>
            <a:lvl4pPr algn="l">
              <a:defRPr sz="788" b="1">
                <a:solidFill>
                  <a:srgbClr val="B85B1C"/>
                </a:solidFill>
              </a:defRPr>
            </a:lvl4pPr>
            <a:lvl5pPr algn="l">
              <a:defRPr sz="788" b="1">
                <a:solidFill>
                  <a:srgbClr val="B85B1C"/>
                </a:solidFill>
              </a:defRPr>
            </a:lvl5pPr>
            <a:lvl6pPr algn="l">
              <a:defRPr sz="788" b="1">
                <a:solidFill>
                  <a:srgbClr val="B85B1C"/>
                </a:solidFill>
              </a:defRPr>
            </a:lvl6pPr>
            <a:lvl7pPr algn="l">
              <a:defRPr sz="788" b="1">
                <a:solidFill>
                  <a:srgbClr val="B85B1C"/>
                </a:solidFill>
              </a:defRPr>
            </a:lvl7pPr>
            <a:lvl8pPr algn="l">
              <a:defRPr sz="788" b="1">
                <a:solidFill>
                  <a:srgbClr val="B85B1C"/>
                </a:solidFill>
              </a:defRPr>
            </a:lvl8pPr>
            <a:lvl9pPr algn="l">
              <a:defRPr sz="788" b="1">
                <a:solidFill>
                  <a:srgbClr val="B85B1C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B85B1C"/>
                </a:solidFill>
              </a:defRPr>
            </a:pPr>
            <a:r>
              <a:rPr sz="788" b="1">
                <a:solidFill>
                  <a:srgbClr val="B85B1C"/>
                </a:solidFill>
              </a:rPr>
              <a:t>formulation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199E08-79BF-49B4-9216-A0338217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895725"/>
            <a:ext cx="2447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replace_generator_with_ibr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83C5D2-AA83-4CD0-8C25-D2FB51C1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95725"/>
            <a:ext cx="39338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DCOPF adds pibr / pcurt, availability limits, and cost terms, then rewrites nodal power balance (active-power scope).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2FF1FD-13BB-4598-9E9B-9695955B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5148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13" b="0">
                <a:solidFill>
                  <a:srgbClr val="576168"/>
                </a:solidFill>
              </a:defRPr>
            </a:defPPr>
            <a:lvl1pPr algn="l">
              <a:defRPr sz="713" b="0">
                <a:solidFill>
                  <a:srgbClr val="576168"/>
                </a:solidFill>
              </a:defRPr>
            </a:lvl1pPr>
            <a:lvl2pPr algn="l">
              <a:defRPr sz="713" b="0">
                <a:solidFill>
                  <a:srgbClr val="576168"/>
                </a:solidFill>
              </a:defRPr>
            </a:lvl2pPr>
            <a:lvl3pPr algn="l">
              <a:defRPr sz="713" b="0">
                <a:solidFill>
                  <a:srgbClr val="576168"/>
                </a:solidFill>
              </a:defRPr>
            </a:lvl3pPr>
            <a:lvl4pPr algn="l">
              <a:defRPr sz="713" b="0">
                <a:solidFill>
                  <a:srgbClr val="576168"/>
                </a:solidFill>
              </a:defRPr>
            </a:lvl4pPr>
            <a:lvl5pPr algn="l">
              <a:defRPr sz="713" b="0">
                <a:solidFill>
                  <a:srgbClr val="576168"/>
                </a:solidFill>
              </a:defRPr>
            </a:lvl5pPr>
            <a:lvl6pPr algn="l">
              <a:defRPr sz="713" b="0">
                <a:solidFill>
                  <a:srgbClr val="576168"/>
                </a:solidFill>
              </a:defRPr>
            </a:lvl6pPr>
            <a:lvl7pPr algn="l">
              <a:defRPr sz="713" b="0">
                <a:solidFill>
                  <a:srgbClr val="576168"/>
                </a:solidFill>
              </a:defRPr>
            </a:lvl7pPr>
            <a:lvl8pPr algn="l">
              <a:defRPr sz="713" b="0">
                <a:solidFill>
                  <a:srgbClr val="576168"/>
                </a:solidFill>
              </a:defRPr>
            </a:lvl8pPr>
            <a:lvl9pPr algn="l">
              <a:defRPr sz="713" b="0">
                <a:solidFill>
                  <a:srgbClr val="576168"/>
                </a:solidFill>
              </a:defRPr>
            </a:lvl9pPr>
          </a:lstStyle>
          <a:p xmlns:a="http://schemas.openxmlformats.org/drawingml/2006/main">
            <a:pPr algn="l">
              <a:defRPr sz="713" b="0">
                <a:solidFill>
                  <a:srgbClr val="576168"/>
                </a:solidFill>
              </a:defRPr>
            </a:pPr>
            <a:r>
              <a:rPr sz="713" b="0">
                <a:solidFill>
                  <a:srgbClr val="576168"/>
                </a:solidFill>
              </a:rPr>
              <a:t>Sources: formulation_controls.json:43–179 · parameter_controls.py:230–302 · formulation_edit.py:105–129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DA0B0C-79FE-48D1-B54E-0FB4B1ED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10E3E8-C48B-4F8C-A798-229B0BF6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CF791A-06D7-4F04-9460-146B3B6A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291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961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2026-10-26T13:59:20.5770000Z</dcterms:created>
  <dcterms:modified xsi:type="dcterms:W3CDTF">2026-10-26T13:59:20.5770000Z</dcterms:modified>
</coreProperties>
</file>